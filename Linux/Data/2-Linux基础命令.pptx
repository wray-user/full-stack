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46.xml" ContentType="application/vnd.openxmlformats-officedocument.theme+xml"/>
  <Override PartName="/ppt/theme/theme47.xml" ContentType="application/vnd.openxmlformats-officedocument.theme+xml"/>
  <Override PartName="/ppt/theme/theme48.xml" ContentType="application/vnd.openxmlformats-officedocument.theme+xml"/>
  <Override PartName="/ppt/theme/theme49.xml" ContentType="application/vnd.openxmlformats-officedocument.theme+xml"/>
  <Override PartName="/ppt/theme/theme5.xml" ContentType="application/vnd.openxmlformats-officedocument.theme+xml"/>
  <Override PartName="/ppt/theme/theme50.xml" ContentType="application/vnd.openxmlformats-officedocument.theme+xml"/>
  <Override PartName="/ppt/theme/theme51.xml" ContentType="application/vnd.openxmlformats-officedocument.theme+xml"/>
  <Override PartName="/ppt/theme/theme52.xml" ContentType="application/vnd.openxmlformats-officedocument.theme+xml"/>
  <Override PartName="/ppt/theme/theme53.xml" ContentType="application/vnd.openxmlformats-officedocument.theme+xml"/>
  <Override PartName="/ppt/theme/theme54.xml" ContentType="application/vnd.openxmlformats-officedocument.theme+xml"/>
  <Override PartName="/ppt/theme/theme55.xml" ContentType="application/vnd.openxmlformats-officedocument.theme+xml"/>
  <Override PartName="/ppt/theme/theme56.xml" ContentType="application/vnd.openxmlformats-officedocument.theme+xml"/>
  <Override PartName="/ppt/theme/theme57.xml" ContentType="application/vnd.openxmlformats-officedocument.theme+xml"/>
  <Override PartName="/ppt/theme/theme58.xml" ContentType="application/vnd.openxmlformats-officedocument.theme+xml"/>
  <Override PartName="/ppt/theme/theme59.xml" ContentType="application/vnd.openxmlformats-officedocument.theme+xml"/>
  <Override PartName="/ppt/theme/theme6.xml" ContentType="application/vnd.openxmlformats-officedocument.theme+xml"/>
  <Override PartName="/ppt/theme/theme60.xml" ContentType="application/vnd.openxmlformats-officedocument.theme+xml"/>
  <Override PartName="/ppt/theme/theme61.xml" ContentType="application/vnd.openxmlformats-officedocument.theme+xml"/>
  <Override PartName="/ppt/theme/theme62.xml" ContentType="application/vnd.openxmlformats-officedocument.theme+xml"/>
  <Override PartName="/ppt/theme/theme63.xml" ContentType="application/vnd.openxmlformats-officedocument.theme+xml"/>
  <Override PartName="/ppt/theme/theme64.xml" ContentType="application/vnd.openxmlformats-officedocument.theme+xml"/>
  <Override PartName="/ppt/theme/theme65.xml" ContentType="application/vnd.openxmlformats-officedocument.theme+xml"/>
  <Override PartName="/ppt/theme/theme66.xml" ContentType="application/vnd.openxmlformats-officedocument.theme+xml"/>
  <Override PartName="/ppt/theme/theme67.xml" ContentType="application/vnd.openxmlformats-officedocument.theme+xml"/>
  <Override PartName="/ppt/theme/theme68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60" r:id="rId4"/>
    <p:sldMasterId id="2147483664" r:id="rId5"/>
    <p:sldMasterId id="2147483666" r:id="rId6"/>
    <p:sldMasterId id="2147483669" r:id="rId7"/>
    <p:sldMasterId id="2147483688" r:id="rId8"/>
    <p:sldMasterId id="2147483690" r:id="rId9"/>
    <p:sldMasterId id="2147483693" r:id="rId10"/>
    <p:sldMasterId id="2147483696" r:id="rId11"/>
    <p:sldMasterId id="2147483699" r:id="rId12"/>
    <p:sldMasterId id="2147483702" r:id="rId13"/>
    <p:sldMasterId id="2147483705" r:id="rId14"/>
    <p:sldMasterId id="2147483708" r:id="rId15"/>
    <p:sldMasterId id="2147483711" r:id="rId16"/>
    <p:sldMasterId id="2147483730" r:id="rId17"/>
    <p:sldMasterId id="2147483733" r:id="rId18"/>
    <p:sldMasterId id="2147483736" r:id="rId19"/>
    <p:sldMasterId id="2147483739" r:id="rId20"/>
    <p:sldMasterId id="2147483758" r:id="rId21"/>
    <p:sldMasterId id="2147483761" r:id="rId22"/>
    <p:sldMasterId id="2147483764" r:id="rId23"/>
    <p:sldMasterId id="2147483767" r:id="rId24"/>
    <p:sldMasterId id="2147483770" r:id="rId25"/>
    <p:sldMasterId id="2147483773" r:id="rId26"/>
    <p:sldMasterId id="2147483792" r:id="rId27"/>
    <p:sldMasterId id="2147483795" r:id="rId28"/>
    <p:sldMasterId id="2147483798" r:id="rId29"/>
    <p:sldMasterId id="2147483801" r:id="rId30"/>
    <p:sldMasterId id="2147483804" r:id="rId31"/>
    <p:sldMasterId id="2147483807" r:id="rId32"/>
    <p:sldMasterId id="2147483810" r:id="rId33"/>
    <p:sldMasterId id="2147483813" r:id="rId34"/>
    <p:sldMasterId id="2147483816" r:id="rId35"/>
    <p:sldMasterId id="2147483819" r:id="rId36"/>
    <p:sldMasterId id="2147483822" r:id="rId37"/>
    <p:sldMasterId id="2147483825" r:id="rId38"/>
    <p:sldMasterId id="2147483828" r:id="rId39"/>
    <p:sldMasterId id="2147483831" r:id="rId40"/>
    <p:sldMasterId id="2147483834" r:id="rId41"/>
    <p:sldMasterId id="2147483837" r:id="rId42"/>
    <p:sldMasterId id="2147483841" r:id="rId43"/>
    <p:sldMasterId id="2147483845" r:id="rId44"/>
    <p:sldMasterId id="2147483849" r:id="rId45"/>
    <p:sldMasterId id="2147483853" r:id="rId46"/>
    <p:sldMasterId id="2147483857" r:id="rId47"/>
    <p:sldMasterId id="2147483861" r:id="rId48"/>
    <p:sldMasterId id="2147483865" r:id="rId49"/>
    <p:sldMasterId id="2147483869" r:id="rId50"/>
    <p:sldMasterId id="2147483873" r:id="rId51"/>
    <p:sldMasterId id="2147483877" r:id="rId52"/>
    <p:sldMasterId id="2147483881" r:id="rId53"/>
    <p:sldMasterId id="2147483885" r:id="rId54"/>
    <p:sldMasterId id="2147483889" r:id="rId55"/>
    <p:sldMasterId id="2147483893" r:id="rId56"/>
    <p:sldMasterId id="2147483897" r:id="rId57"/>
    <p:sldMasterId id="2147483901" r:id="rId58"/>
    <p:sldMasterId id="2147483905" r:id="rId59"/>
    <p:sldMasterId id="2147483909" r:id="rId60"/>
    <p:sldMasterId id="2147483913" r:id="rId61"/>
    <p:sldMasterId id="2147483917" r:id="rId62"/>
    <p:sldMasterId id="2147483921" r:id="rId63"/>
    <p:sldMasterId id="2147483925" r:id="rId64"/>
    <p:sldMasterId id="2147483929" r:id="rId65"/>
    <p:sldMasterId id="2147483933" r:id="rId66"/>
    <p:sldMasterId id="2147483952" r:id="rId67"/>
  </p:sldMasterIdLst>
  <p:notesMasterIdLst>
    <p:notesMasterId r:id="rId69"/>
  </p:notesMasterIdLst>
  <p:handoutMasterIdLst>
    <p:handoutMasterId r:id="rId173"/>
  </p:handoutMasterIdLst>
  <p:sldIdLst>
    <p:sldId id="462" r:id="rId68"/>
    <p:sldId id="2038" r:id="rId70"/>
    <p:sldId id="1855" r:id="rId71"/>
    <p:sldId id="1856" r:id="rId72"/>
    <p:sldId id="1857" r:id="rId73"/>
    <p:sldId id="1868" r:id="rId74"/>
    <p:sldId id="1939" r:id="rId75"/>
    <p:sldId id="2037" r:id="rId76"/>
    <p:sldId id="1871" r:id="rId77"/>
    <p:sldId id="1874" r:id="rId78"/>
    <p:sldId id="1875" r:id="rId79"/>
    <p:sldId id="1876" r:id="rId80"/>
    <p:sldId id="1882" r:id="rId81"/>
    <p:sldId id="1883" r:id="rId82"/>
    <p:sldId id="1877" r:id="rId83"/>
    <p:sldId id="1878" r:id="rId84"/>
    <p:sldId id="1879" r:id="rId85"/>
    <p:sldId id="1884" r:id="rId86"/>
    <p:sldId id="1880" r:id="rId87"/>
    <p:sldId id="1885" r:id="rId88"/>
    <p:sldId id="2036" r:id="rId89"/>
    <p:sldId id="1888" r:id="rId90"/>
    <p:sldId id="1894" r:id="rId91"/>
    <p:sldId id="1895" r:id="rId92"/>
    <p:sldId id="1896" r:id="rId93"/>
    <p:sldId id="1940" r:id="rId94"/>
    <p:sldId id="2035" r:id="rId95"/>
    <p:sldId id="1898" r:id="rId96"/>
    <p:sldId id="1900" r:id="rId97"/>
    <p:sldId id="1901" r:id="rId98"/>
    <p:sldId id="1902" r:id="rId99"/>
    <p:sldId id="1903" r:id="rId100"/>
    <p:sldId id="1941" r:id="rId101"/>
    <p:sldId id="2034" r:id="rId102"/>
    <p:sldId id="1905" r:id="rId103"/>
    <p:sldId id="1908" r:id="rId104"/>
    <p:sldId id="1909" r:id="rId105"/>
    <p:sldId id="1910" r:id="rId106"/>
    <p:sldId id="1942" r:id="rId107"/>
    <p:sldId id="2033" r:id="rId108"/>
    <p:sldId id="1912" r:id="rId109"/>
    <p:sldId id="1914" r:id="rId110"/>
    <p:sldId id="1915" r:id="rId111"/>
    <p:sldId id="1916" r:id="rId112"/>
    <p:sldId id="1917" r:id="rId113"/>
    <p:sldId id="1920" r:id="rId114"/>
    <p:sldId id="2032" r:id="rId115"/>
    <p:sldId id="1919" r:id="rId116"/>
    <p:sldId id="1922" r:id="rId117"/>
    <p:sldId id="1923" r:id="rId118"/>
    <p:sldId id="1924" r:id="rId119"/>
    <p:sldId id="1943" r:id="rId120"/>
    <p:sldId id="1944" r:id="rId121"/>
    <p:sldId id="1945" r:id="rId122"/>
    <p:sldId id="1946" r:id="rId123"/>
    <p:sldId id="1947" r:id="rId124"/>
    <p:sldId id="1925" r:id="rId125"/>
    <p:sldId id="1948" r:id="rId126"/>
    <p:sldId id="2031" r:id="rId127"/>
    <p:sldId id="1927" r:id="rId128"/>
    <p:sldId id="1929" r:id="rId129"/>
    <p:sldId id="1930" r:id="rId130"/>
    <p:sldId id="1931" r:id="rId131"/>
    <p:sldId id="1933" r:id="rId132"/>
    <p:sldId id="1934" r:id="rId133"/>
    <p:sldId id="1935" r:id="rId134"/>
    <p:sldId id="1936" r:id="rId135"/>
    <p:sldId id="1949" r:id="rId136"/>
    <p:sldId id="2030" r:id="rId137"/>
    <p:sldId id="1938" r:id="rId138"/>
    <p:sldId id="1951" r:id="rId139"/>
    <p:sldId id="1952" r:id="rId140"/>
    <p:sldId id="1957" r:id="rId141"/>
    <p:sldId id="1958" r:id="rId142"/>
    <p:sldId id="1953" r:id="rId143"/>
    <p:sldId id="1954" r:id="rId144"/>
    <p:sldId id="1955" r:id="rId145"/>
    <p:sldId id="1956" r:id="rId146"/>
    <p:sldId id="2029" r:id="rId147"/>
    <p:sldId id="1960" r:id="rId148"/>
    <p:sldId id="1962" r:id="rId149"/>
    <p:sldId id="1963" r:id="rId150"/>
    <p:sldId id="1964" r:id="rId151"/>
    <p:sldId id="2133" r:id="rId152"/>
    <p:sldId id="2147" r:id="rId153"/>
    <p:sldId id="2148" r:id="rId154"/>
    <p:sldId id="1965" r:id="rId155"/>
    <p:sldId id="1966" r:id="rId156"/>
    <p:sldId id="1967" r:id="rId157"/>
    <p:sldId id="1968" r:id="rId158"/>
    <p:sldId id="1970" r:id="rId159"/>
    <p:sldId id="1971" r:id="rId160"/>
    <p:sldId id="1972" r:id="rId161"/>
    <p:sldId id="1973" r:id="rId162"/>
    <p:sldId id="1974" r:id="rId163"/>
    <p:sldId id="1975" r:id="rId164"/>
    <p:sldId id="1976" r:id="rId165"/>
    <p:sldId id="1977" r:id="rId166"/>
    <p:sldId id="2162" r:id="rId167"/>
    <p:sldId id="2164" r:id="rId168"/>
    <p:sldId id="2165" r:id="rId169"/>
    <p:sldId id="2166" r:id="rId170"/>
    <p:sldId id="2167" r:id="rId171"/>
    <p:sldId id="264" r:id="rId172"/>
  </p:sldIdLst>
  <p:sldSz cx="12192000" cy="6858000"/>
  <p:notesSz cx="6858000" cy="9144000"/>
  <p:custDataLst>
    <p:tags r:id="rId17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NGJIAN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D2A26"/>
    <a:srgbClr val="AD2B26"/>
    <a:srgbClr val="49504F"/>
    <a:srgbClr val="B60206"/>
    <a:srgbClr val="B70006"/>
    <a:srgbClr val="FFFFE4"/>
    <a:srgbClr val="919191"/>
    <a:srgbClr val="333333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43" autoAdjust="0"/>
    <p:restoredTop sz="95344" autoAdjust="0"/>
  </p:normalViewPr>
  <p:slideViewPr>
    <p:cSldViewPr snapToGrid="0">
      <p:cViewPr varScale="1">
        <p:scale>
          <a:sx n="93" d="100"/>
          <a:sy n="93" d="100"/>
        </p:scale>
        <p:origin x="216" y="520"/>
      </p:cViewPr>
      <p:guideLst>
        <p:guide orient="horz" pos="592"/>
        <p:guide pos="371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31.xml"/><Relationship Id="rId98" Type="http://schemas.openxmlformats.org/officeDocument/2006/relationships/slide" Target="slides/slide30.xml"/><Relationship Id="rId97" Type="http://schemas.openxmlformats.org/officeDocument/2006/relationships/slide" Target="slides/slide29.xml"/><Relationship Id="rId96" Type="http://schemas.openxmlformats.org/officeDocument/2006/relationships/slide" Target="slides/slide28.xml"/><Relationship Id="rId95" Type="http://schemas.openxmlformats.org/officeDocument/2006/relationships/slide" Target="slides/slide27.xml"/><Relationship Id="rId94" Type="http://schemas.openxmlformats.org/officeDocument/2006/relationships/slide" Target="slides/slide26.xml"/><Relationship Id="rId93" Type="http://schemas.openxmlformats.org/officeDocument/2006/relationships/slide" Target="slides/slide25.xml"/><Relationship Id="rId92" Type="http://schemas.openxmlformats.org/officeDocument/2006/relationships/slide" Target="slides/slide24.xml"/><Relationship Id="rId91" Type="http://schemas.openxmlformats.org/officeDocument/2006/relationships/slide" Target="slides/slide23.xml"/><Relationship Id="rId90" Type="http://schemas.openxmlformats.org/officeDocument/2006/relationships/slide" Target="slides/slide22.xml"/><Relationship Id="rId9" Type="http://schemas.openxmlformats.org/officeDocument/2006/relationships/slideMaster" Target="slideMasters/slideMaster8.xml"/><Relationship Id="rId89" Type="http://schemas.openxmlformats.org/officeDocument/2006/relationships/slide" Target="slides/slide21.xml"/><Relationship Id="rId88" Type="http://schemas.openxmlformats.org/officeDocument/2006/relationships/slide" Target="slides/slide20.xml"/><Relationship Id="rId87" Type="http://schemas.openxmlformats.org/officeDocument/2006/relationships/slide" Target="slides/slide19.xml"/><Relationship Id="rId86" Type="http://schemas.openxmlformats.org/officeDocument/2006/relationships/slide" Target="slides/slide18.xml"/><Relationship Id="rId85" Type="http://schemas.openxmlformats.org/officeDocument/2006/relationships/slide" Target="slides/slide17.xml"/><Relationship Id="rId84" Type="http://schemas.openxmlformats.org/officeDocument/2006/relationships/slide" Target="slides/slide16.xml"/><Relationship Id="rId83" Type="http://schemas.openxmlformats.org/officeDocument/2006/relationships/slide" Target="slides/slide15.xml"/><Relationship Id="rId82" Type="http://schemas.openxmlformats.org/officeDocument/2006/relationships/slide" Target="slides/slide14.xml"/><Relationship Id="rId81" Type="http://schemas.openxmlformats.org/officeDocument/2006/relationships/slide" Target="slides/slide13.xml"/><Relationship Id="rId80" Type="http://schemas.openxmlformats.org/officeDocument/2006/relationships/slide" Target="slides/slide12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11.xml"/><Relationship Id="rId78" Type="http://schemas.openxmlformats.org/officeDocument/2006/relationships/slide" Target="slides/slide10.xml"/><Relationship Id="rId77" Type="http://schemas.openxmlformats.org/officeDocument/2006/relationships/slide" Target="slides/slide9.xml"/><Relationship Id="rId76" Type="http://schemas.openxmlformats.org/officeDocument/2006/relationships/slide" Target="slides/slide8.xml"/><Relationship Id="rId75" Type="http://schemas.openxmlformats.org/officeDocument/2006/relationships/slide" Target="slides/slide7.xml"/><Relationship Id="rId74" Type="http://schemas.openxmlformats.org/officeDocument/2006/relationships/slide" Target="slides/slide6.xml"/><Relationship Id="rId73" Type="http://schemas.openxmlformats.org/officeDocument/2006/relationships/slide" Target="slides/slide5.xml"/><Relationship Id="rId72" Type="http://schemas.openxmlformats.org/officeDocument/2006/relationships/slide" Target="slides/slide4.xml"/><Relationship Id="rId71" Type="http://schemas.openxmlformats.org/officeDocument/2006/relationships/slide" Target="slides/slide3.xml"/><Relationship Id="rId70" Type="http://schemas.openxmlformats.org/officeDocument/2006/relationships/slide" Target="slides/slide2.xml"/><Relationship Id="rId7" Type="http://schemas.openxmlformats.org/officeDocument/2006/relationships/slideMaster" Target="slideMasters/slideMaster6.xml"/><Relationship Id="rId69" Type="http://schemas.openxmlformats.org/officeDocument/2006/relationships/notesMaster" Target="notesMasters/notesMaster1.xml"/><Relationship Id="rId68" Type="http://schemas.openxmlformats.org/officeDocument/2006/relationships/slide" Target="slides/slide1.xml"/><Relationship Id="rId67" Type="http://schemas.openxmlformats.org/officeDocument/2006/relationships/slideMaster" Target="slideMasters/slideMaster66.xml"/><Relationship Id="rId66" Type="http://schemas.openxmlformats.org/officeDocument/2006/relationships/slideMaster" Target="slideMasters/slideMaster65.xml"/><Relationship Id="rId65" Type="http://schemas.openxmlformats.org/officeDocument/2006/relationships/slideMaster" Target="slideMasters/slideMaster64.xml"/><Relationship Id="rId64" Type="http://schemas.openxmlformats.org/officeDocument/2006/relationships/slideMaster" Target="slideMasters/slideMaster63.xml"/><Relationship Id="rId63" Type="http://schemas.openxmlformats.org/officeDocument/2006/relationships/slideMaster" Target="slideMasters/slideMaster62.xml"/><Relationship Id="rId62" Type="http://schemas.openxmlformats.org/officeDocument/2006/relationships/slideMaster" Target="slideMasters/slideMaster61.xml"/><Relationship Id="rId61" Type="http://schemas.openxmlformats.org/officeDocument/2006/relationships/slideMaster" Target="slideMasters/slideMaster60.xml"/><Relationship Id="rId60" Type="http://schemas.openxmlformats.org/officeDocument/2006/relationships/slideMaster" Target="slideMasters/slideMaster59.xml"/><Relationship Id="rId6" Type="http://schemas.openxmlformats.org/officeDocument/2006/relationships/slideMaster" Target="slideMasters/slideMaster5.xml"/><Relationship Id="rId59" Type="http://schemas.openxmlformats.org/officeDocument/2006/relationships/slideMaster" Target="slideMasters/slideMaster58.xml"/><Relationship Id="rId58" Type="http://schemas.openxmlformats.org/officeDocument/2006/relationships/slideMaster" Target="slideMasters/slideMaster57.xml"/><Relationship Id="rId57" Type="http://schemas.openxmlformats.org/officeDocument/2006/relationships/slideMaster" Target="slideMasters/slideMaster56.xml"/><Relationship Id="rId56" Type="http://schemas.openxmlformats.org/officeDocument/2006/relationships/slideMaster" Target="slideMasters/slideMaster55.xml"/><Relationship Id="rId55" Type="http://schemas.openxmlformats.org/officeDocument/2006/relationships/slideMaster" Target="slideMasters/slideMaster54.xml"/><Relationship Id="rId54" Type="http://schemas.openxmlformats.org/officeDocument/2006/relationships/slideMaster" Target="slideMasters/slideMaster53.xml"/><Relationship Id="rId53" Type="http://schemas.openxmlformats.org/officeDocument/2006/relationships/slideMaster" Target="slideMasters/slideMaster52.xml"/><Relationship Id="rId52" Type="http://schemas.openxmlformats.org/officeDocument/2006/relationships/slideMaster" Target="slideMasters/slideMaster51.xml"/><Relationship Id="rId51" Type="http://schemas.openxmlformats.org/officeDocument/2006/relationships/slideMaster" Target="slideMasters/slideMaster50.xml"/><Relationship Id="rId50" Type="http://schemas.openxmlformats.org/officeDocument/2006/relationships/slideMaster" Target="slideMasters/slideMaster49.xml"/><Relationship Id="rId5" Type="http://schemas.openxmlformats.org/officeDocument/2006/relationships/slideMaster" Target="slideMasters/slideMaster4.xml"/><Relationship Id="rId49" Type="http://schemas.openxmlformats.org/officeDocument/2006/relationships/slideMaster" Target="slideMasters/slideMaster48.xml"/><Relationship Id="rId48" Type="http://schemas.openxmlformats.org/officeDocument/2006/relationships/slideMaster" Target="slideMasters/slideMaster47.xml"/><Relationship Id="rId47" Type="http://schemas.openxmlformats.org/officeDocument/2006/relationships/slideMaster" Target="slideMasters/slideMaster46.xml"/><Relationship Id="rId46" Type="http://schemas.openxmlformats.org/officeDocument/2006/relationships/slideMaster" Target="slideMasters/slideMaster45.xml"/><Relationship Id="rId45" Type="http://schemas.openxmlformats.org/officeDocument/2006/relationships/slideMaster" Target="slideMasters/slideMaster44.xml"/><Relationship Id="rId44" Type="http://schemas.openxmlformats.org/officeDocument/2006/relationships/slideMaster" Target="slideMasters/slideMaster43.xml"/><Relationship Id="rId43" Type="http://schemas.openxmlformats.org/officeDocument/2006/relationships/slideMaster" Target="slideMasters/slideMaster42.xml"/><Relationship Id="rId42" Type="http://schemas.openxmlformats.org/officeDocument/2006/relationships/slideMaster" Target="slideMasters/slideMaster41.xml"/><Relationship Id="rId41" Type="http://schemas.openxmlformats.org/officeDocument/2006/relationships/slideMaster" Target="slideMasters/slideMaster40.xml"/><Relationship Id="rId40" Type="http://schemas.openxmlformats.org/officeDocument/2006/relationships/slideMaster" Target="slideMasters/slideMaster39.xml"/><Relationship Id="rId4" Type="http://schemas.openxmlformats.org/officeDocument/2006/relationships/slideMaster" Target="slideMasters/slideMaster3.xml"/><Relationship Id="rId39" Type="http://schemas.openxmlformats.org/officeDocument/2006/relationships/slideMaster" Target="slideMasters/slideMaster38.xml"/><Relationship Id="rId38" Type="http://schemas.openxmlformats.org/officeDocument/2006/relationships/slideMaster" Target="slideMasters/slideMaster37.xml"/><Relationship Id="rId37" Type="http://schemas.openxmlformats.org/officeDocument/2006/relationships/slideMaster" Target="slideMasters/slideMaster36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8" Type="http://schemas.openxmlformats.org/officeDocument/2006/relationships/tags" Target="tags/tag9.xml"/><Relationship Id="rId177" Type="http://schemas.openxmlformats.org/officeDocument/2006/relationships/commentAuthors" Target="commentAuthors.xml"/><Relationship Id="rId176" Type="http://schemas.openxmlformats.org/officeDocument/2006/relationships/tableStyles" Target="tableStyles.xml"/><Relationship Id="rId175" Type="http://schemas.openxmlformats.org/officeDocument/2006/relationships/viewProps" Target="viewProps.xml"/><Relationship Id="rId174" Type="http://schemas.openxmlformats.org/officeDocument/2006/relationships/presProps" Target="presProps.xml"/><Relationship Id="rId173" Type="http://schemas.openxmlformats.org/officeDocument/2006/relationships/handoutMaster" Target="handoutMasters/handoutMaster1.xml"/><Relationship Id="rId172" Type="http://schemas.openxmlformats.org/officeDocument/2006/relationships/slide" Target="slides/slide104.xml"/><Relationship Id="rId171" Type="http://schemas.openxmlformats.org/officeDocument/2006/relationships/slide" Target="slides/slide103.xml"/><Relationship Id="rId170" Type="http://schemas.openxmlformats.org/officeDocument/2006/relationships/slide" Target="slides/slide102.xml"/><Relationship Id="rId17" Type="http://schemas.openxmlformats.org/officeDocument/2006/relationships/slideMaster" Target="slideMasters/slideMaster16.xml"/><Relationship Id="rId169" Type="http://schemas.openxmlformats.org/officeDocument/2006/relationships/slide" Target="slides/slide101.xml"/><Relationship Id="rId168" Type="http://schemas.openxmlformats.org/officeDocument/2006/relationships/slide" Target="slides/slide100.xml"/><Relationship Id="rId167" Type="http://schemas.openxmlformats.org/officeDocument/2006/relationships/slide" Target="slides/slide99.xml"/><Relationship Id="rId166" Type="http://schemas.openxmlformats.org/officeDocument/2006/relationships/slide" Target="slides/slide98.xml"/><Relationship Id="rId165" Type="http://schemas.openxmlformats.org/officeDocument/2006/relationships/slide" Target="slides/slide97.xml"/><Relationship Id="rId164" Type="http://schemas.openxmlformats.org/officeDocument/2006/relationships/slide" Target="slides/slide96.xml"/><Relationship Id="rId163" Type="http://schemas.openxmlformats.org/officeDocument/2006/relationships/slide" Target="slides/slide95.xml"/><Relationship Id="rId162" Type="http://schemas.openxmlformats.org/officeDocument/2006/relationships/slide" Target="slides/slide94.xml"/><Relationship Id="rId161" Type="http://schemas.openxmlformats.org/officeDocument/2006/relationships/slide" Target="slides/slide93.xml"/><Relationship Id="rId160" Type="http://schemas.openxmlformats.org/officeDocument/2006/relationships/slide" Target="slides/slide92.xml"/><Relationship Id="rId16" Type="http://schemas.openxmlformats.org/officeDocument/2006/relationships/slideMaster" Target="slideMasters/slideMaster15.xml"/><Relationship Id="rId159" Type="http://schemas.openxmlformats.org/officeDocument/2006/relationships/slide" Target="slides/slide91.xml"/><Relationship Id="rId158" Type="http://schemas.openxmlformats.org/officeDocument/2006/relationships/slide" Target="slides/slide90.xml"/><Relationship Id="rId157" Type="http://schemas.openxmlformats.org/officeDocument/2006/relationships/slide" Target="slides/slide89.xml"/><Relationship Id="rId156" Type="http://schemas.openxmlformats.org/officeDocument/2006/relationships/slide" Target="slides/slide88.xml"/><Relationship Id="rId155" Type="http://schemas.openxmlformats.org/officeDocument/2006/relationships/slide" Target="slides/slide87.xml"/><Relationship Id="rId154" Type="http://schemas.openxmlformats.org/officeDocument/2006/relationships/slide" Target="slides/slide86.xml"/><Relationship Id="rId153" Type="http://schemas.openxmlformats.org/officeDocument/2006/relationships/slide" Target="slides/slide85.xml"/><Relationship Id="rId152" Type="http://schemas.openxmlformats.org/officeDocument/2006/relationships/slide" Target="slides/slide84.xml"/><Relationship Id="rId151" Type="http://schemas.openxmlformats.org/officeDocument/2006/relationships/slide" Target="slides/slide83.xml"/><Relationship Id="rId150" Type="http://schemas.openxmlformats.org/officeDocument/2006/relationships/slide" Target="slides/slide82.xml"/><Relationship Id="rId15" Type="http://schemas.openxmlformats.org/officeDocument/2006/relationships/slideMaster" Target="slideMasters/slideMaster14.xml"/><Relationship Id="rId149" Type="http://schemas.openxmlformats.org/officeDocument/2006/relationships/slide" Target="slides/slide81.xml"/><Relationship Id="rId148" Type="http://schemas.openxmlformats.org/officeDocument/2006/relationships/slide" Target="slides/slide80.xml"/><Relationship Id="rId147" Type="http://schemas.openxmlformats.org/officeDocument/2006/relationships/slide" Target="slides/slide79.xml"/><Relationship Id="rId146" Type="http://schemas.openxmlformats.org/officeDocument/2006/relationships/slide" Target="slides/slide78.xml"/><Relationship Id="rId145" Type="http://schemas.openxmlformats.org/officeDocument/2006/relationships/slide" Target="slides/slide77.xml"/><Relationship Id="rId144" Type="http://schemas.openxmlformats.org/officeDocument/2006/relationships/slide" Target="slides/slide76.xml"/><Relationship Id="rId143" Type="http://schemas.openxmlformats.org/officeDocument/2006/relationships/slide" Target="slides/slide75.xml"/><Relationship Id="rId142" Type="http://schemas.openxmlformats.org/officeDocument/2006/relationships/slide" Target="slides/slide74.xml"/><Relationship Id="rId141" Type="http://schemas.openxmlformats.org/officeDocument/2006/relationships/slide" Target="slides/slide73.xml"/><Relationship Id="rId140" Type="http://schemas.openxmlformats.org/officeDocument/2006/relationships/slide" Target="slides/slide72.xml"/><Relationship Id="rId14" Type="http://schemas.openxmlformats.org/officeDocument/2006/relationships/slideMaster" Target="slideMasters/slideMaster13.xml"/><Relationship Id="rId139" Type="http://schemas.openxmlformats.org/officeDocument/2006/relationships/slide" Target="slides/slide71.xml"/><Relationship Id="rId138" Type="http://schemas.openxmlformats.org/officeDocument/2006/relationships/slide" Target="slides/slide70.xml"/><Relationship Id="rId137" Type="http://schemas.openxmlformats.org/officeDocument/2006/relationships/slide" Target="slides/slide69.xml"/><Relationship Id="rId136" Type="http://schemas.openxmlformats.org/officeDocument/2006/relationships/slide" Target="slides/slide68.xml"/><Relationship Id="rId135" Type="http://schemas.openxmlformats.org/officeDocument/2006/relationships/slide" Target="slides/slide67.xml"/><Relationship Id="rId134" Type="http://schemas.openxmlformats.org/officeDocument/2006/relationships/slide" Target="slides/slide66.xml"/><Relationship Id="rId133" Type="http://schemas.openxmlformats.org/officeDocument/2006/relationships/slide" Target="slides/slide65.xml"/><Relationship Id="rId132" Type="http://schemas.openxmlformats.org/officeDocument/2006/relationships/slide" Target="slides/slide64.xml"/><Relationship Id="rId131" Type="http://schemas.openxmlformats.org/officeDocument/2006/relationships/slide" Target="slides/slide63.xml"/><Relationship Id="rId130" Type="http://schemas.openxmlformats.org/officeDocument/2006/relationships/slide" Target="slides/slide62.xml"/><Relationship Id="rId13" Type="http://schemas.openxmlformats.org/officeDocument/2006/relationships/slideMaster" Target="slideMasters/slideMaster12.xml"/><Relationship Id="rId129" Type="http://schemas.openxmlformats.org/officeDocument/2006/relationships/slide" Target="slides/slide61.xml"/><Relationship Id="rId128" Type="http://schemas.openxmlformats.org/officeDocument/2006/relationships/slide" Target="slides/slide60.xml"/><Relationship Id="rId127" Type="http://schemas.openxmlformats.org/officeDocument/2006/relationships/slide" Target="slides/slide59.xml"/><Relationship Id="rId126" Type="http://schemas.openxmlformats.org/officeDocument/2006/relationships/slide" Target="slides/slide58.xml"/><Relationship Id="rId125" Type="http://schemas.openxmlformats.org/officeDocument/2006/relationships/slide" Target="slides/slide57.xml"/><Relationship Id="rId124" Type="http://schemas.openxmlformats.org/officeDocument/2006/relationships/slide" Target="slides/slide56.xml"/><Relationship Id="rId123" Type="http://schemas.openxmlformats.org/officeDocument/2006/relationships/slide" Target="slides/slide55.xml"/><Relationship Id="rId122" Type="http://schemas.openxmlformats.org/officeDocument/2006/relationships/slide" Target="slides/slide54.xml"/><Relationship Id="rId121" Type="http://schemas.openxmlformats.org/officeDocument/2006/relationships/slide" Target="slides/slide53.xml"/><Relationship Id="rId120" Type="http://schemas.openxmlformats.org/officeDocument/2006/relationships/slide" Target="slides/slide52.xml"/><Relationship Id="rId12" Type="http://schemas.openxmlformats.org/officeDocument/2006/relationships/slideMaster" Target="slideMasters/slideMaster11.xml"/><Relationship Id="rId119" Type="http://schemas.openxmlformats.org/officeDocument/2006/relationships/slide" Target="slides/slide51.xml"/><Relationship Id="rId118" Type="http://schemas.openxmlformats.org/officeDocument/2006/relationships/slide" Target="slides/slide50.xml"/><Relationship Id="rId117" Type="http://schemas.openxmlformats.org/officeDocument/2006/relationships/slide" Target="slides/slide49.xml"/><Relationship Id="rId116" Type="http://schemas.openxmlformats.org/officeDocument/2006/relationships/slide" Target="slides/slide48.xml"/><Relationship Id="rId115" Type="http://schemas.openxmlformats.org/officeDocument/2006/relationships/slide" Target="slides/slide47.xml"/><Relationship Id="rId114" Type="http://schemas.openxmlformats.org/officeDocument/2006/relationships/slide" Target="slides/slide46.xml"/><Relationship Id="rId113" Type="http://schemas.openxmlformats.org/officeDocument/2006/relationships/slide" Target="slides/slide45.xml"/><Relationship Id="rId112" Type="http://schemas.openxmlformats.org/officeDocument/2006/relationships/slide" Target="slides/slide44.xml"/><Relationship Id="rId111" Type="http://schemas.openxmlformats.org/officeDocument/2006/relationships/slide" Target="slides/slide43.xml"/><Relationship Id="rId110" Type="http://schemas.openxmlformats.org/officeDocument/2006/relationships/slide" Target="slides/slide42.xml"/><Relationship Id="rId11" Type="http://schemas.openxmlformats.org/officeDocument/2006/relationships/slideMaster" Target="slideMasters/slideMaster10.xml"/><Relationship Id="rId109" Type="http://schemas.openxmlformats.org/officeDocument/2006/relationships/slide" Target="slides/slide41.xml"/><Relationship Id="rId108" Type="http://schemas.openxmlformats.org/officeDocument/2006/relationships/slide" Target="slides/slide40.xml"/><Relationship Id="rId107" Type="http://schemas.openxmlformats.org/officeDocument/2006/relationships/slide" Target="slides/slide39.xml"/><Relationship Id="rId106" Type="http://schemas.openxmlformats.org/officeDocument/2006/relationships/slide" Target="slides/slide38.xml"/><Relationship Id="rId105" Type="http://schemas.openxmlformats.org/officeDocument/2006/relationships/slide" Target="slides/slide37.xml"/><Relationship Id="rId104" Type="http://schemas.openxmlformats.org/officeDocument/2006/relationships/slide" Target="slides/slide36.xml"/><Relationship Id="rId103" Type="http://schemas.openxmlformats.org/officeDocument/2006/relationships/slide" Target="slides/slide35.xml"/><Relationship Id="rId102" Type="http://schemas.openxmlformats.org/officeDocument/2006/relationships/slide" Target="slides/slide34.xml"/><Relationship Id="rId101" Type="http://schemas.openxmlformats.org/officeDocument/2006/relationships/slide" Target="slides/slide33.xml"/><Relationship Id="rId100" Type="http://schemas.openxmlformats.org/officeDocument/2006/relationships/slide" Target="slides/slide32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2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5.xml"/></Relationships>
</file>

<file path=ppt/slideLayouts/_rels/slideLayout2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5.xml"/></Relationships>
</file>

<file path=ppt/slideLayouts/_rels/slideLayout2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5.xml"/></Relationships>
</file>

<file path=ppt/slideLayouts/_rels/slideLayout2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5.xml"/></Relationships>
</file>

<file path=ppt/slideLayouts/_rels/slideLayout2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5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6" Type="http://schemas.openxmlformats.org/officeDocument/2006/relationships/theme" Target="../theme/theme3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9.xml"/><Relationship Id="rId20" Type="http://schemas.openxmlformats.org/officeDocument/2006/relationships/theme" Target="../theme/theme6.xml"/><Relationship Id="rId2" Type="http://schemas.openxmlformats.org/officeDocument/2006/relationships/slideLayout" Target="../slideLayouts/slideLayout1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5.xml"/></Relationships>
</file>

<file path=ppt/slideMasters/_rels/slideMaster8.xml.rels><?xml version="1.0" encoding="UTF-8" standalone="yes"?>
<Relationships xmlns="http://schemas.openxmlformats.org/package/2006/relationships"><Relationship Id="rId5" Type="http://schemas.openxmlformats.org/officeDocument/2006/relationships/theme" Target="../theme/theme8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/Relationships>
</file>

<file path=ppt/slideMasters/_rels/slideMaster9.xml.rels><?xml version="1.0" encoding="UTF-8" standalone="yes"?>
<Relationships xmlns="http://schemas.openxmlformats.org/package/2006/relationships"><Relationship Id="rId5" Type="http://schemas.openxmlformats.org/officeDocument/2006/relationships/theme" Target="../theme/theme9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/Relationships>
</file>

<file path=ppt/slideMasters/_rels/slideMaster10.xml.rels><?xml version="1.0" encoding="UTF-8" standalone="yes"?>
<Relationships xmlns="http://schemas.openxmlformats.org/package/2006/relationships"><Relationship Id="rId5" Type="http://schemas.openxmlformats.org/officeDocument/2006/relationships/theme" Target="../theme/theme10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/Relationships>
</file>

<file path=ppt/slideMasters/_rels/slideMaster1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1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/Relationships>
</file>

<file path=ppt/slideMasters/_rels/slideMaster12.xml.rels><?xml version="1.0" encoding="UTF-8" standalone="yes"?>
<Relationships xmlns="http://schemas.openxmlformats.org/package/2006/relationships"><Relationship Id="rId5" Type="http://schemas.openxmlformats.org/officeDocument/2006/relationships/theme" Target="../theme/theme12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/Relationships>
</file>

<file path=ppt/slideMasters/_rels/slideMaster13.xml.rels><?xml version="1.0" encoding="UTF-8" standalone="yes"?>
<Relationships xmlns="http://schemas.openxmlformats.org/package/2006/relationships"><Relationship Id="rId5" Type="http://schemas.openxmlformats.org/officeDocument/2006/relationships/theme" Target="../theme/theme13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/Relationships>
</file>

<file path=ppt/slideMasters/_rels/slideMaster14.xml.rels><?xml version="1.0" encoding="UTF-8" standalone="yes"?>
<Relationships xmlns="http://schemas.openxmlformats.org/package/2006/relationships"><Relationship Id="rId5" Type="http://schemas.openxmlformats.org/officeDocument/2006/relationships/theme" Target="../theme/theme14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8.xml"/><Relationship Id="rId8" Type="http://schemas.openxmlformats.org/officeDocument/2006/relationships/slideLayout" Target="../slideLayouts/slideLayout57.xml"/><Relationship Id="rId7" Type="http://schemas.openxmlformats.org/officeDocument/2006/relationships/slideLayout" Target="../slideLayouts/slideLayout56.xml"/><Relationship Id="rId6" Type="http://schemas.openxmlformats.org/officeDocument/2006/relationships/slideLayout" Target="../slideLayouts/slideLayout55.xml"/><Relationship Id="rId5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3.xml"/><Relationship Id="rId3" Type="http://schemas.openxmlformats.org/officeDocument/2006/relationships/slideLayout" Target="../slideLayouts/slideLayout52.xml"/><Relationship Id="rId20" Type="http://schemas.openxmlformats.org/officeDocument/2006/relationships/theme" Target="../theme/theme15.xml"/><Relationship Id="rId2" Type="http://schemas.openxmlformats.org/officeDocument/2006/relationships/slideLayout" Target="../slideLayouts/slideLayout51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0.xml"/></Relationships>
</file>

<file path=ppt/slideMasters/_rels/slideMaster16.xml.rels><?xml version="1.0" encoding="UTF-8" standalone="yes"?>
<Relationships xmlns="http://schemas.openxmlformats.org/package/2006/relationships"><Relationship Id="rId5" Type="http://schemas.openxmlformats.org/officeDocument/2006/relationships/theme" Target="../theme/theme16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69.xml"/><Relationship Id="rId1" Type="http://schemas.openxmlformats.org/officeDocument/2006/relationships/slideLayout" Target="../slideLayouts/slideLayout68.xml"/></Relationships>
</file>

<file path=ppt/slideMasters/_rels/slideMaster17.xml.rels><?xml version="1.0" encoding="UTF-8" standalone="yes"?>
<Relationships xmlns="http://schemas.openxmlformats.org/package/2006/relationships"><Relationship Id="rId5" Type="http://schemas.openxmlformats.org/officeDocument/2006/relationships/theme" Target="../theme/theme17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1.xml"/><Relationship Id="rId1" Type="http://schemas.openxmlformats.org/officeDocument/2006/relationships/slideLayout" Target="../slideLayouts/slideLayout70.xml"/></Relationships>
</file>

<file path=ppt/slideMasters/_rels/slideMaster18.xml.rels><?xml version="1.0" encoding="UTF-8" standalone="yes"?>
<Relationships xmlns="http://schemas.openxmlformats.org/package/2006/relationships"><Relationship Id="rId5" Type="http://schemas.openxmlformats.org/officeDocument/2006/relationships/theme" Target="../theme/theme18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3.xml"/><Relationship Id="rId1" Type="http://schemas.openxmlformats.org/officeDocument/2006/relationships/slideLayout" Target="../slideLayouts/slideLayout72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2.xml"/><Relationship Id="rId8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0.xml"/><Relationship Id="rId6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7.xml"/><Relationship Id="rId3" Type="http://schemas.openxmlformats.org/officeDocument/2006/relationships/slideLayout" Target="../slideLayouts/slideLayout76.xml"/><Relationship Id="rId20" Type="http://schemas.openxmlformats.org/officeDocument/2006/relationships/theme" Target="../theme/theme19.xml"/><Relationship Id="rId2" Type="http://schemas.openxmlformats.org/officeDocument/2006/relationships/slideLayout" Target="../slideLayouts/slideLayout75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91.xml"/><Relationship Id="rId17" Type="http://schemas.openxmlformats.org/officeDocument/2006/relationships/slideLayout" Target="../slideLayouts/slideLayout90.xml"/><Relationship Id="rId16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88.xml"/><Relationship Id="rId14" Type="http://schemas.openxmlformats.org/officeDocument/2006/relationships/slideLayout" Target="../slideLayouts/slideLayout87.xml"/><Relationship Id="rId13" Type="http://schemas.openxmlformats.org/officeDocument/2006/relationships/slideLayout" Target="../slideLayouts/slideLayout86.xml"/><Relationship Id="rId12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3.xml"/><Relationship Id="rId1" Type="http://schemas.openxmlformats.org/officeDocument/2006/relationships/slideLayout" Target="../slideLayouts/slideLayout74.xml"/></Relationships>
</file>

<file path=ppt/slideMasters/_rels/slideMaster20.xml.rels><?xml version="1.0" encoding="UTF-8" standalone="yes"?>
<Relationships xmlns="http://schemas.openxmlformats.org/package/2006/relationships"><Relationship Id="rId5" Type="http://schemas.openxmlformats.org/officeDocument/2006/relationships/theme" Target="../theme/theme20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93.xml"/><Relationship Id="rId1" Type="http://schemas.openxmlformats.org/officeDocument/2006/relationships/slideLayout" Target="../slideLayouts/slideLayout92.xml"/></Relationships>
</file>

<file path=ppt/slideMasters/_rels/slideMaster21.xml.rels><?xml version="1.0" encoding="UTF-8" standalone="yes"?>
<Relationships xmlns="http://schemas.openxmlformats.org/package/2006/relationships"><Relationship Id="rId5" Type="http://schemas.openxmlformats.org/officeDocument/2006/relationships/theme" Target="../theme/theme21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95.xml"/><Relationship Id="rId1" Type="http://schemas.openxmlformats.org/officeDocument/2006/relationships/slideLayout" Target="../slideLayouts/slideLayout94.xml"/></Relationships>
</file>

<file path=ppt/slideMasters/_rels/slideMaster2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2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97.xml"/><Relationship Id="rId1" Type="http://schemas.openxmlformats.org/officeDocument/2006/relationships/slideLayout" Target="../slideLayouts/slideLayout96.xml"/></Relationships>
</file>

<file path=ppt/slideMasters/_rels/slideMaster23.xml.rels><?xml version="1.0" encoding="UTF-8" standalone="yes"?>
<Relationships xmlns="http://schemas.openxmlformats.org/package/2006/relationships"><Relationship Id="rId5" Type="http://schemas.openxmlformats.org/officeDocument/2006/relationships/theme" Target="../theme/theme23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99.xml"/><Relationship Id="rId1" Type="http://schemas.openxmlformats.org/officeDocument/2006/relationships/slideLayout" Target="../slideLayouts/slideLayout98.xml"/></Relationships>
</file>

<file path=ppt/slideMasters/_rels/slideMaster24.xml.rels><?xml version="1.0" encoding="UTF-8" standalone="yes"?>
<Relationships xmlns="http://schemas.openxmlformats.org/package/2006/relationships"><Relationship Id="rId5" Type="http://schemas.openxmlformats.org/officeDocument/2006/relationships/theme" Target="../theme/theme24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0.xml"/><Relationship Id="rId8" Type="http://schemas.openxmlformats.org/officeDocument/2006/relationships/slideLayout" Target="../slideLayouts/slideLayout109.xml"/><Relationship Id="rId7" Type="http://schemas.openxmlformats.org/officeDocument/2006/relationships/slideLayout" Target="../slideLayouts/slideLayout108.xml"/><Relationship Id="rId6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105.xml"/><Relationship Id="rId3" Type="http://schemas.openxmlformats.org/officeDocument/2006/relationships/slideLayout" Target="../slideLayouts/slideLayout104.xml"/><Relationship Id="rId20" Type="http://schemas.openxmlformats.org/officeDocument/2006/relationships/theme" Target="../theme/theme25.xml"/><Relationship Id="rId2" Type="http://schemas.openxmlformats.org/officeDocument/2006/relationships/slideLayout" Target="../slideLayouts/slideLayout103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19.xml"/><Relationship Id="rId17" Type="http://schemas.openxmlformats.org/officeDocument/2006/relationships/slideLayout" Target="../slideLayouts/slideLayout118.xml"/><Relationship Id="rId16" Type="http://schemas.openxmlformats.org/officeDocument/2006/relationships/slideLayout" Target="../slideLayouts/slideLayout117.xml"/><Relationship Id="rId15" Type="http://schemas.openxmlformats.org/officeDocument/2006/relationships/slideLayout" Target="../slideLayouts/slideLayout116.xml"/><Relationship Id="rId14" Type="http://schemas.openxmlformats.org/officeDocument/2006/relationships/slideLayout" Target="../slideLayouts/slideLayout115.xml"/><Relationship Id="rId13" Type="http://schemas.openxmlformats.org/officeDocument/2006/relationships/slideLayout" Target="../slideLayouts/slideLayout114.xml"/><Relationship Id="rId12" Type="http://schemas.openxmlformats.org/officeDocument/2006/relationships/slideLayout" Target="../slideLayouts/slideLayout113.xml"/><Relationship Id="rId11" Type="http://schemas.openxmlformats.org/officeDocument/2006/relationships/slideLayout" Target="../slideLayouts/slideLayout112.xml"/><Relationship Id="rId10" Type="http://schemas.openxmlformats.org/officeDocument/2006/relationships/slideLayout" Target="../slideLayouts/slideLayout111.xml"/><Relationship Id="rId1" Type="http://schemas.openxmlformats.org/officeDocument/2006/relationships/slideLayout" Target="../slideLayouts/slideLayout102.xml"/></Relationships>
</file>

<file path=ppt/slideMasters/_rels/slideMaster26.xml.rels><?xml version="1.0" encoding="UTF-8" standalone="yes"?>
<Relationships xmlns="http://schemas.openxmlformats.org/package/2006/relationships"><Relationship Id="rId5" Type="http://schemas.openxmlformats.org/officeDocument/2006/relationships/theme" Target="../theme/theme26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1.xml"/><Relationship Id="rId1" Type="http://schemas.openxmlformats.org/officeDocument/2006/relationships/slideLayout" Target="../slideLayouts/slideLayout120.xml"/></Relationships>
</file>

<file path=ppt/slideMasters/_rels/slideMaster27.xml.rels><?xml version="1.0" encoding="UTF-8" standalone="yes"?>
<Relationships xmlns="http://schemas.openxmlformats.org/package/2006/relationships"><Relationship Id="rId5" Type="http://schemas.openxmlformats.org/officeDocument/2006/relationships/theme" Target="../theme/theme27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122.xml"/></Relationships>
</file>

<file path=ppt/slideMasters/_rels/slideMaster28.xml.rels><?xml version="1.0" encoding="UTF-8" standalone="yes"?>
<Relationships xmlns="http://schemas.openxmlformats.org/package/2006/relationships"><Relationship Id="rId5" Type="http://schemas.openxmlformats.org/officeDocument/2006/relationships/theme" Target="../theme/theme28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5.xml"/><Relationship Id="rId1" Type="http://schemas.openxmlformats.org/officeDocument/2006/relationships/slideLayout" Target="../slideLayouts/slideLayout124.xml"/></Relationships>
</file>

<file path=ppt/slideMasters/_rels/slideMaster29.xml.rels><?xml version="1.0" encoding="UTF-8" standalone="yes"?>
<Relationships xmlns="http://schemas.openxmlformats.org/package/2006/relationships"><Relationship Id="rId5" Type="http://schemas.openxmlformats.org/officeDocument/2006/relationships/theme" Target="../theme/theme29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7.xml"/><Relationship Id="rId1" Type="http://schemas.openxmlformats.org/officeDocument/2006/relationships/slideLayout" Target="../slideLayouts/slideLayout126.xml"/></Relationships>
</file>

<file path=ppt/slideMasters/_rels/slideMaster30.xml.rels><?xml version="1.0" encoding="UTF-8" standalone="yes"?>
<Relationships xmlns="http://schemas.openxmlformats.org/package/2006/relationships"><Relationship Id="rId5" Type="http://schemas.openxmlformats.org/officeDocument/2006/relationships/theme" Target="../theme/theme30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9.xml"/><Relationship Id="rId1" Type="http://schemas.openxmlformats.org/officeDocument/2006/relationships/slideLayout" Target="../slideLayouts/slideLayout128.xml"/></Relationships>
</file>

<file path=ppt/slideMasters/_rels/slideMaster31.xml.rels><?xml version="1.0" encoding="UTF-8" standalone="yes"?>
<Relationships xmlns="http://schemas.openxmlformats.org/package/2006/relationships"><Relationship Id="rId5" Type="http://schemas.openxmlformats.org/officeDocument/2006/relationships/theme" Target="../theme/theme31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30.xml"/></Relationships>
</file>

<file path=ppt/slideMasters/_rels/slideMaster32.xml.rels><?xml version="1.0" encoding="UTF-8" standalone="yes"?>
<Relationships xmlns="http://schemas.openxmlformats.org/package/2006/relationships"><Relationship Id="rId5" Type="http://schemas.openxmlformats.org/officeDocument/2006/relationships/theme" Target="../theme/theme32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33.xml"/><Relationship Id="rId1" Type="http://schemas.openxmlformats.org/officeDocument/2006/relationships/slideLayout" Target="../slideLayouts/slideLayout132.xml"/></Relationships>
</file>

<file path=ppt/slideMasters/_rels/slideMaster33.xml.rels><?xml version="1.0" encoding="UTF-8" standalone="yes"?>
<Relationships xmlns="http://schemas.openxmlformats.org/package/2006/relationships"><Relationship Id="rId5" Type="http://schemas.openxmlformats.org/officeDocument/2006/relationships/theme" Target="../theme/theme33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35.xml"/><Relationship Id="rId1" Type="http://schemas.openxmlformats.org/officeDocument/2006/relationships/slideLayout" Target="../slideLayouts/slideLayout134.xml"/></Relationships>
</file>

<file path=ppt/slideMasters/_rels/slideMaster34.xml.rels><?xml version="1.0" encoding="UTF-8" standalone="yes"?>
<Relationships xmlns="http://schemas.openxmlformats.org/package/2006/relationships"><Relationship Id="rId5" Type="http://schemas.openxmlformats.org/officeDocument/2006/relationships/theme" Target="../theme/theme34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37.xml"/><Relationship Id="rId1" Type="http://schemas.openxmlformats.org/officeDocument/2006/relationships/slideLayout" Target="../slideLayouts/slideLayout136.xml"/></Relationships>
</file>

<file path=ppt/slideMasters/_rels/slideMaster35.xml.rels><?xml version="1.0" encoding="UTF-8" standalone="yes"?>
<Relationships xmlns="http://schemas.openxmlformats.org/package/2006/relationships"><Relationship Id="rId5" Type="http://schemas.openxmlformats.org/officeDocument/2006/relationships/theme" Target="../theme/theme35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39.xml"/><Relationship Id="rId1" Type="http://schemas.openxmlformats.org/officeDocument/2006/relationships/slideLayout" Target="../slideLayouts/slideLayout138.xml"/></Relationships>
</file>

<file path=ppt/slideMasters/_rels/slideMaster36.xml.rels><?xml version="1.0" encoding="UTF-8" standalone="yes"?>
<Relationships xmlns="http://schemas.openxmlformats.org/package/2006/relationships"><Relationship Id="rId5" Type="http://schemas.openxmlformats.org/officeDocument/2006/relationships/theme" Target="../theme/theme36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1.xml"/><Relationship Id="rId1" Type="http://schemas.openxmlformats.org/officeDocument/2006/relationships/slideLayout" Target="../slideLayouts/slideLayout140.xml"/></Relationships>
</file>

<file path=ppt/slideMasters/_rels/slideMaster37.xml.rels><?xml version="1.0" encoding="UTF-8" standalone="yes"?>
<Relationships xmlns="http://schemas.openxmlformats.org/package/2006/relationships"><Relationship Id="rId5" Type="http://schemas.openxmlformats.org/officeDocument/2006/relationships/theme" Target="../theme/theme37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3.xml"/><Relationship Id="rId1" Type="http://schemas.openxmlformats.org/officeDocument/2006/relationships/slideLayout" Target="../slideLayouts/slideLayout142.xml"/></Relationships>
</file>

<file path=ppt/slideMasters/_rels/slideMaster38.xml.rels><?xml version="1.0" encoding="UTF-8" standalone="yes"?>
<Relationships xmlns="http://schemas.openxmlformats.org/package/2006/relationships"><Relationship Id="rId5" Type="http://schemas.openxmlformats.org/officeDocument/2006/relationships/theme" Target="../theme/theme38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144.xml"/></Relationships>
</file>

<file path=ppt/slideMasters/_rels/slideMaster39.xml.rels><?xml version="1.0" encoding="UTF-8" standalone="yes"?>
<Relationships xmlns="http://schemas.openxmlformats.org/package/2006/relationships"><Relationship Id="rId5" Type="http://schemas.openxmlformats.org/officeDocument/2006/relationships/theme" Target="../theme/theme39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7.xml"/><Relationship Id="rId1" Type="http://schemas.openxmlformats.org/officeDocument/2006/relationships/slideLayout" Target="../slideLayouts/slideLayout146.xml"/></Relationships>
</file>

<file path=ppt/slideMasters/_rels/slideMaster40.xml.rels><?xml version="1.0" encoding="UTF-8" standalone="yes"?>
<Relationships xmlns="http://schemas.openxmlformats.org/package/2006/relationships"><Relationship Id="rId5" Type="http://schemas.openxmlformats.org/officeDocument/2006/relationships/theme" Target="../theme/theme40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9.xml"/><Relationship Id="rId1" Type="http://schemas.openxmlformats.org/officeDocument/2006/relationships/slideLayout" Target="../slideLayouts/slideLayout148.xml"/></Relationships>
</file>

<file path=ppt/slideMasters/_rels/slideMaster41.xml.rels><?xml version="1.0" encoding="UTF-8" standalone="yes"?>
<Relationships xmlns="http://schemas.openxmlformats.org/package/2006/relationships"><Relationship Id="rId6" Type="http://schemas.openxmlformats.org/officeDocument/2006/relationships/theme" Target="../theme/theme41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52.xml"/><Relationship Id="rId2" Type="http://schemas.openxmlformats.org/officeDocument/2006/relationships/slideLayout" Target="../slideLayouts/slideLayout151.xml"/><Relationship Id="rId1" Type="http://schemas.openxmlformats.org/officeDocument/2006/relationships/slideLayout" Target="../slideLayouts/slideLayout150.xml"/></Relationships>
</file>

<file path=ppt/slideMasters/_rels/slideMaster42.xml.rels><?xml version="1.0" encoding="UTF-8" standalone="yes"?>
<Relationships xmlns="http://schemas.openxmlformats.org/package/2006/relationships"><Relationship Id="rId6" Type="http://schemas.openxmlformats.org/officeDocument/2006/relationships/theme" Target="../theme/theme42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55.xml"/><Relationship Id="rId2" Type="http://schemas.openxmlformats.org/officeDocument/2006/relationships/slideLayout" Target="../slideLayouts/slideLayout154.xml"/><Relationship Id="rId1" Type="http://schemas.openxmlformats.org/officeDocument/2006/relationships/slideLayout" Target="../slideLayouts/slideLayout153.xml"/></Relationships>
</file>

<file path=ppt/slideMasters/_rels/slideMaster43.xml.rels><?xml version="1.0" encoding="UTF-8" standalone="yes"?>
<Relationships xmlns="http://schemas.openxmlformats.org/package/2006/relationships"><Relationship Id="rId6" Type="http://schemas.openxmlformats.org/officeDocument/2006/relationships/theme" Target="../theme/theme43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58.xml"/><Relationship Id="rId2" Type="http://schemas.openxmlformats.org/officeDocument/2006/relationships/slideLayout" Target="../slideLayouts/slideLayout157.xml"/><Relationship Id="rId1" Type="http://schemas.openxmlformats.org/officeDocument/2006/relationships/slideLayout" Target="../slideLayouts/slideLayout156.xml"/></Relationships>
</file>

<file path=ppt/slideMasters/_rels/slideMaster44.xml.rels><?xml version="1.0" encoding="UTF-8" standalone="yes"?>
<Relationships xmlns="http://schemas.openxmlformats.org/package/2006/relationships"><Relationship Id="rId6" Type="http://schemas.openxmlformats.org/officeDocument/2006/relationships/theme" Target="../theme/theme44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59.xml"/></Relationships>
</file>

<file path=ppt/slideMasters/_rels/slideMaster45.xml.rels><?xml version="1.0" encoding="UTF-8" standalone="yes"?>
<Relationships xmlns="http://schemas.openxmlformats.org/package/2006/relationships"><Relationship Id="rId6" Type="http://schemas.openxmlformats.org/officeDocument/2006/relationships/theme" Target="../theme/theme45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64.xml"/><Relationship Id="rId2" Type="http://schemas.openxmlformats.org/officeDocument/2006/relationships/slideLayout" Target="../slideLayouts/slideLayout163.xml"/><Relationship Id="rId1" Type="http://schemas.openxmlformats.org/officeDocument/2006/relationships/slideLayout" Target="../slideLayouts/slideLayout162.xml"/></Relationships>
</file>

<file path=ppt/slideMasters/_rels/slideMaster46.xml.rels><?xml version="1.0" encoding="UTF-8" standalone="yes"?>
<Relationships xmlns="http://schemas.openxmlformats.org/package/2006/relationships"><Relationship Id="rId6" Type="http://schemas.openxmlformats.org/officeDocument/2006/relationships/theme" Target="../theme/theme46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67.xml"/><Relationship Id="rId2" Type="http://schemas.openxmlformats.org/officeDocument/2006/relationships/slideLayout" Target="../slideLayouts/slideLayout166.xml"/><Relationship Id="rId1" Type="http://schemas.openxmlformats.org/officeDocument/2006/relationships/slideLayout" Target="../slideLayouts/slideLayout165.xml"/></Relationships>
</file>

<file path=ppt/slideMasters/_rels/slideMaster47.xml.rels><?xml version="1.0" encoding="UTF-8" standalone="yes"?>
<Relationships xmlns="http://schemas.openxmlformats.org/package/2006/relationships"><Relationship Id="rId6" Type="http://schemas.openxmlformats.org/officeDocument/2006/relationships/theme" Target="../theme/theme47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70.xml"/><Relationship Id="rId2" Type="http://schemas.openxmlformats.org/officeDocument/2006/relationships/slideLayout" Target="../slideLayouts/slideLayout169.xml"/><Relationship Id="rId1" Type="http://schemas.openxmlformats.org/officeDocument/2006/relationships/slideLayout" Target="../slideLayouts/slideLayout168.xml"/></Relationships>
</file>

<file path=ppt/slideMasters/_rels/slideMaster48.xml.rels><?xml version="1.0" encoding="UTF-8" standalone="yes"?>
<Relationships xmlns="http://schemas.openxmlformats.org/package/2006/relationships"><Relationship Id="rId6" Type="http://schemas.openxmlformats.org/officeDocument/2006/relationships/theme" Target="../theme/theme48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73.xml"/><Relationship Id="rId2" Type="http://schemas.openxmlformats.org/officeDocument/2006/relationships/slideLayout" Target="../slideLayouts/slideLayout172.xml"/><Relationship Id="rId1" Type="http://schemas.openxmlformats.org/officeDocument/2006/relationships/slideLayout" Target="../slideLayouts/slideLayout171.xml"/></Relationships>
</file>

<file path=ppt/slideMasters/_rels/slideMaster49.xml.rels><?xml version="1.0" encoding="UTF-8" standalone="yes"?>
<Relationships xmlns="http://schemas.openxmlformats.org/package/2006/relationships"><Relationship Id="rId6" Type="http://schemas.openxmlformats.org/officeDocument/2006/relationships/theme" Target="../theme/theme49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76.xml"/><Relationship Id="rId2" Type="http://schemas.openxmlformats.org/officeDocument/2006/relationships/slideLayout" Target="../slideLayouts/slideLayout175.xml"/><Relationship Id="rId1" Type="http://schemas.openxmlformats.org/officeDocument/2006/relationships/slideLayout" Target="../slideLayouts/slideLayout174.xml"/></Relationships>
</file>

<file path=ppt/slideMasters/_rels/slideMaster50.xml.rels><?xml version="1.0" encoding="UTF-8" standalone="yes"?>
<Relationships xmlns="http://schemas.openxmlformats.org/package/2006/relationships"><Relationship Id="rId6" Type="http://schemas.openxmlformats.org/officeDocument/2006/relationships/theme" Target="../theme/theme50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78.xml"/><Relationship Id="rId1" Type="http://schemas.openxmlformats.org/officeDocument/2006/relationships/slideLayout" Target="../slideLayouts/slideLayout177.xml"/></Relationships>
</file>

<file path=ppt/slideMasters/_rels/slideMaster51.xml.rels><?xml version="1.0" encoding="UTF-8" standalone="yes"?>
<Relationships xmlns="http://schemas.openxmlformats.org/package/2006/relationships"><Relationship Id="rId6" Type="http://schemas.openxmlformats.org/officeDocument/2006/relationships/theme" Target="../theme/theme51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82.xml"/><Relationship Id="rId2" Type="http://schemas.openxmlformats.org/officeDocument/2006/relationships/slideLayout" Target="../slideLayouts/slideLayout181.xml"/><Relationship Id="rId1" Type="http://schemas.openxmlformats.org/officeDocument/2006/relationships/slideLayout" Target="../slideLayouts/slideLayout180.xml"/></Relationships>
</file>

<file path=ppt/slideMasters/_rels/slideMaster52.xml.rels><?xml version="1.0" encoding="UTF-8" standalone="yes"?>
<Relationships xmlns="http://schemas.openxmlformats.org/package/2006/relationships"><Relationship Id="rId6" Type="http://schemas.openxmlformats.org/officeDocument/2006/relationships/theme" Target="../theme/theme52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85.xml"/><Relationship Id="rId2" Type="http://schemas.openxmlformats.org/officeDocument/2006/relationships/slideLayout" Target="../slideLayouts/slideLayout184.xml"/><Relationship Id="rId1" Type="http://schemas.openxmlformats.org/officeDocument/2006/relationships/slideLayout" Target="../slideLayouts/slideLayout183.xml"/></Relationships>
</file>

<file path=ppt/slideMasters/_rels/slideMaster53.xml.rels><?xml version="1.0" encoding="UTF-8" standalone="yes"?>
<Relationships xmlns="http://schemas.openxmlformats.org/package/2006/relationships"><Relationship Id="rId6" Type="http://schemas.openxmlformats.org/officeDocument/2006/relationships/theme" Target="../theme/theme53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88.xml"/><Relationship Id="rId2" Type="http://schemas.openxmlformats.org/officeDocument/2006/relationships/slideLayout" Target="../slideLayouts/slideLayout187.xml"/><Relationship Id="rId1" Type="http://schemas.openxmlformats.org/officeDocument/2006/relationships/slideLayout" Target="../slideLayouts/slideLayout186.xml"/></Relationships>
</file>

<file path=ppt/slideMasters/_rels/slideMaster54.xml.rels><?xml version="1.0" encoding="UTF-8" standalone="yes"?>
<Relationships xmlns="http://schemas.openxmlformats.org/package/2006/relationships"><Relationship Id="rId6" Type="http://schemas.openxmlformats.org/officeDocument/2006/relationships/theme" Target="../theme/theme54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91.xml"/><Relationship Id="rId2" Type="http://schemas.openxmlformats.org/officeDocument/2006/relationships/slideLayout" Target="../slideLayouts/slideLayout190.xml"/><Relationship Id="rId1" Type="http://schemas.openxmlformats.org/officeDocument/2006/relationships/slideLayout" Target="../slideLayouts/slideLayout189.xml"/></Relationships>
</file>

<file path=ppt/slideMasters/_rels/slideMaster55.xml.rels><?xml version="1.0" encoding="UTF-8" standalone="yes"?>
<Relationships xmlns="http://schemas.openxmlformats.org/package/2006/relationships"><Relationship Id="rId6" Type="http://schemas.openxmlformats.org/officeDocument/2006/relationships/theme" Target="../theme/theme55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94.xml"/><Relationship Id="rId2" Type="http://schemas.openxmlformats.org/officeDocument/2006/relationships/slideLayout" Target="../slideLayouts/slideLayout193.xml"/><Relationship Id="rId1" Type="http://schemas.openxmlformats.org/officeDocument/2006/relationships/slideLayout" Target="../slideLayouts/slideLayout192.xml"/></Relationships>
</file>

<file path=ppt/slideMasters/_rels/slideMaster56.xml.rels><?xml version="1.0" encoding="UTF-8" standalone="yes"?>
<Relationships xmlns="http://schemas.openxmlformats.org/package/2006/relationships"><Relationship Id="rId6" Type="http://schemas.openxmlformats.org/officeDocument/2006/relationships/theme" Target="../theme/theme56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6.xml"/><Relationship Id="rId1" Type="http://schemas.openxmlformats.org/officeDocument/2006/relationships/slideLayout" Target="../slideLayouts/slideLayout195.xml"/></Relationships>
</file>

<file path=ppt/slideMasters/_rels/slideMaster57.xml.rels><?xml version="1.0" encoding="UTF-8" standalone="yes"?>
<Relationships xmlns="http://schemas.openxmlformats.org/package/2006/relationships"><Relationship Id="rId6" Type="http://schemas.openxmlformats.org/officeDocument/2006/relationships/theme" Target="../theme/theme57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200.xml"/><Relationship Id="rId2" Type="http://schemas.openxmlformats.org/officeDocument/2006/relationships/slideLayout" Target="../slideLayouts/slideLayout199.xml"/><Relationship Id="rId1" Type="http://schemas.openxmlformats.org/officeDocument/2006/relationships/slideLayout" Target="../slideLayouts/slideLayout198.xml"/></Relationships>
</file>

<file path=ppt/slideMasters/_rels/slideMaster58.xml.rels><?xml version="1.0" encoding="UTF-8" standalone="yes"?>
<Relationships xmlns="http://schemas.openxmlformats.org/package/2006/relationships"><Relationship Id="rId6" Type="http://schemas.openxmlformats.org/officeDocument/2006/relationships/theme" Target="../theme/theme58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203.xml"/><Relationship Id="rId2" Type="http://schemas.openxmlformats.org/officeDocument/2006/relationships/slideLayout" Target="../slideLayouts/slideLayout202.xml"/><Relationship Id="rId1" Type="http://schemas.openxmlformats.org/officeDocument/2006/relationships/slideLayout" Target="../slideLayouts/slideLayout201.xml"/></Relationships>
</file>

<file path=ppt/slideMasters/_rels/slideMaster59.xml.rels><?xml version="1.0" encoding="UTF-8" standalone="yes"?>
<Relationships xmlns="http://schemas.openxmlformats.org/package/2006/relationships"><Relationship Id="rId6" Type="http://schemas.openxmlformats.org/officeDocument/2006/relationships/theme" Target="../theme/theme59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206.xml"/><Relationship Id="rId2" Type="http://schemas.openxmlformats.org/officeDocument/2006/relationships/slideLayout" Target="../slideLayouts/slideLayout205.xml"/><Relationship Id="rId1" Type="http://schemas.openxmlformats.org/officeDocument/2006/relationships/slideLayout" Target="../slideLayouts/slideLayout204.xml"/></Relationships>
</file>

<file path=ppt/slideMasters/_rels/slideMaster60.xml.rels><?xml version="1.0" encoding="UTF-8" standalone="yes"?>
<Relationships xmlns="http://schemas.openxmlformats.org/package/2006/relationships"><Relationship Id="rId6" Type="http://schemas.openxmlformats.org/officeDocument/2006/relationships/theme" Target="../theme/theme60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209.xml"/><Relationship Id="rId2" Type="http://schemas.openxmlformats.org/officeDocument/2006/relationships/slideLayout" Target="../slideLayouts/slideLayout208.xml"/><Relationship Id="rId1" Type="http://schemas.openxmlformats.org/officeDocument/2006/relationships/slideLayout" Target="../slideLayouts/slideLayout207.xml"/></Relationships>
</file>

<file path=ppt/slideMasters/_rels/slideMaster61.xml.rels><?xml version="1.0" encoding="UTF-8" standalone="yes"?>
<Relationships xmlns="http://schemas.openxmlformats.org/package/2006/relationships"><Relationship Id="rId6" Type="http://schemas.openxmlformats.org/officeDocument/2006/relationships/theme" Target="../theme/theme61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212.xml"/><Relationship Id="rId2" Type="http://schemas.openxmlformats.org/officeDocument/2006/relationships/slideLayout" Target="../slideLayouts/slideLayout211.xml"/><Relationship Id="rId1" Type="http://schemas.openxmlformats.org/officeDocument/2006/relationships/slideLayout" Target="../slideLayouts/slideLayout210.xml"/></Relationships>
</file>

<file path=ppt/slideMasters/_rels/slideMaster62.xml.rels><?xml version="1.0" encoding="UTF-8" standalone="yes"?>
<Relationships xmlns="http://schemas.openxmlformats.org/package/2006/relationships"><Relationship Id="rId6" Type="http://schemas.openxmlformats.org/officeDocument/2006/relationships/theme" Target="../theme/theme62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4.xml"/><Relationship Id="rId1" Type="http://schemas.openxmlformats.org/officeDocument/2006/relationships/slideLayout" Target="../slideLayouts/slideLayout213.xml"/></Relationships>
</file>

<file path=ppt/slideMasters/_rels/slideMaster63.xml.rels><?xml version="1.0" encoding="UTF-8" standalone="yes"?>
<Relationships xmlns="http://schemas.openxmlformats.org/package/2006/relationships"><Relationship Id="rId6" Type="http://schemas.openxmlformats.org/officeDocument/2006/relationships/theme" Target="../theme/theme63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218.xml"/><Relationship Id="rId2" Type="http://schemas.openxmlformats.org/officeDocument/2006/relationships/slideLayout" Target="../slideLayouts/slideLayout217.xml"/><Relationship Id="rId1" Type="http://schemas.openxmlformats.org/officeDocument/2006/relationships/slideLayout" Target="../slideLayouts/slideLayout216.xml"/></Relationships>
</file>

<file path=ppt/slideMasters/_rels/slideMaster64.xml.rels><?xml version="1.0" encoding="UTF-8" standalone="yes"?>
<Relationships xmlns="http://schemas.openxmlformats.org/package/2006/relationships"><Relationship Id="rId6" Type="http://schemas.openxmlformats.org/officeDocument/2006/relationships/theme" Target="../theme/theme64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221.xml"/><Relationship Id="rId2" Type="http://schemas.openxmlformats.org/officeDocument/2006/relationships/slideLayout" Target="../slideLayouts/slideLayout220.xml"/><Relationship Id="rId1" Type="http://schemas.openxmlformats.org/officeDocument/2006/relationships/slideLayout" Target="../slideLayouts/slideLayout219.xml"/></Relationships>
</file>

<file path=ppt/slideMasters/_rels/slideMaster6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0.xml"/><Relationship Id="rId8" Type="http://schemas.openxmlformats.org/officeDocument/2006/relationships/slideLayout" Target="../slideLayouts/slideLayout229.xml"/><Relationship Id="rId7" Type="http://schemas.openxmlformats.org/officeDocument/2006/relationships/slideLayout" Target="../slideLayouts/slideLayout228.xml"/><Relationship Id="rId6" Type="http://schemas.openxmlformats.org/officeDocument/2006/relationships/slideLayout" Target="../slideLayouts/slideLayout227.xml"/><Relationship Id="rId5" Type="http://schemas.openxmlformats.org/officeDocument/2006/relationships/slideLayout" Target="../slideLayouts/slideLayout226.xml"/><Relationship Id="rId4" Type="http://schemas.openxmlformats.org/officeDocument/2006/relationships/slideLayout" Target="../slideLayouts/slideLayout225.xml"/><Relationship Id="rId3" Type="http://schemas.openxmlformats.org/officeDocument/2006/relationships/slideLayout" Target="../slideLayouts/slideLayout224.xml"/><Relationship Id="rId20" Type="http://schemas.openxmlformats.org/officeDocument/2006/relationships/theme" Target="../theme/theme65.xml"/><Relationship Id="rId2" Type="http://schemas.openxmlformats.org/officeDocument/2006/relationships/slideLayout" Target="../slideLayouts/slideLayout223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39.xml"/><Relationship Id="rId17" Type="http://schemas.openxmlformats.org/officeDocument/2006/relationships/slideLayout" Target="../slideLayouts/slideLayout238.xml"/><Relationship Id="rId16" Type="http://schemas.openxmlformats.org/officeDocument/2006/relationships/slideLayout" Target="../slideLayouts/slideLayout237.xml"/><Relationship Id="rId15" Type="http://schemas.openxmlformats.org/officeDocument/2006/relationships/slideLayout" Target="../slideLayouts/slideLayout236.xml"/><Relationship Id="rId14" Type="http://schemas.openxmlformats.org/officeDocument/2006/relationships/slideLayout" Target="../slideLayouts/slideLayout235.xml"/><Relationship Id="rId13" Type="http://schemas.openxmlformats.org/officeDocument/2006/relationships/slideLayout" Target="../slideLayouts/slideLayout234.xml"/><Relationship Id="rId12" Type="http://schemas.openxmlformats.org/officeDocument/2006/relationships/slideLayout" Target="../slideLayouts/slideLayout233.xml"/><Relationship Id="rId11" Type="http://schemas.openxmlformats.org/officeDocument/2006/relationships/slideLayout" Target="../slideLayouts/slideLayout232.xml"/><Relationship Id="rId10" Type="http://schemas.openxmlformats.org/officeDocument/2006/relationships/slideLayout" Target="../slideLayouts/slideLayout231.xml"/><Relationship Id="rId1" Type="http://schemas.openxmlformats.org/officeDocument/2006/relationships/slideLayout" Target="../slideLayouts/slideLayout222.xml"/></Relationships>
</file>

<file path=ppt/slideMasters/_rels/slideMaster66.xml.rels><?xml version="1.0" encoding="UTF-8" standalone="yes"?>
<Relationships xmlns="http://schemas.openxmlformats.org/package/2006/relationships"><Relationship Id="rId6" Type="http://schemas.openxmlformats.org/officeDocument/2006/relationships/theme" Target="../theme/theme66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242.xml"/><Relationship Id="rId2" Type="http://schemas.openxmlformats.org/officeDocument/2006/relationships/slideLayout" Target="../slideLayouts/slideLayout241.xml"/><Relationship Id="rId1" Type="http://schemas.openxmlformats.org/officeDocument/2006/relationships/slideLayout" Target="../slideLayouts/slideLayout2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多一句没有，少一句不行，用最短时间，教会更实用的技术！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多一句没有，少一句不行，用最短时间，教会最实用的技术！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多一句没有，少一句不行，用最短时间，教会最实用的技术！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  <p:sldLayoutId id="2147483753" r:id="rId14"/>
    <p:sldLayoutId id="2147483754" r:id="rId15"/>
    <p:sldLayoutId id="2147483755" r:id="rId16"/>
    <p:sldLayoutId id="2147483756" r:id="rId17"/>
    <p:sldLayoutId id="214748375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多一句没有，少一句不行，用最短时间，教会最实用的技术！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09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75" r:id="rId2"/>
    <p:sldLayoutId id="2147483876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9" r:id="rId2"/>
    <p:sldLayoutId id="2147483880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0" r:id="rId1"/>
    <p:sldLayoutId id="2147483891" r:id="rId2"/>
    <p:sldLayoutId id="2147483892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03" r:id="rId2"/>
    <p:sldLayoutId id="2147483904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911" r:id="rId2"/>
    <p:sldLayoutId id="2147483912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5" r:id="rId2"/>
    <p:sldLayoutId id="2147483916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8" r:id="rId1"/>
    <p:sldLayoutId id="2147483919" r:id="rId2"/>
    <p:sldLayoutId id="2147483920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2" r:id="rId1"/>
    <p:sldLayoutId id="2147483923" r:id="rId2"/>
    <p:sldLayoutId id="2147483924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  <p:sldLayoutId id="2147483927" r:id="rId2"/>
    <p:sldLayoutId id="2147483928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  <p:sldLayoutId id="2147483931" r:id="rId2"/>
    <p:sldLayoutId id="2147483932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多一句没有，少一句不行，用最短时间，教会更实用的技术！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935" r:id="rId2"/>
    <p:sldLayoutId id="2147483936" r:id="rId3"/>
    <p:sldLayoutId id="2147483937" r:id="rId4"/>
    <p:sldLayoutId id="2147483938" r:id="rId5"/>
    <p:sldLayoutId id="2147483939" r:id="rId6"/>
    <p:sldLayoutId id="2147483940" r:id="rId7"/>
    <p:sldLayoutId id="2147483941" r:id="rId8"/>
    <p:sldLayoutId id="2147483942" r:id="rId9"/>
    <p:sldLayoutId id="2147483943" r:id="rId10"/>
    <p:sldLayoutId id="2147483944" r:id="rId11"/>
    <p:sldLayoutId id="2147483945" r:id="rId12"/>
    <p:sldLayoutId id="2147483946" r:id="rId13"/>
    <p:sldLayoutId id="2147483947" r:id="rId14"/>
    <p:sldLayoutId id="2147483948" r:id="rId15"/>
    <p:sldLayoutId id="2147483949" r:id="rId16"/>
    <p:sldLayoutId id="2147483950" r:id="rId17"/>
    <p:sldLayoutId id="214748395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954" r:id="rId2"/>
    <p:sldLayoutId id="2147483955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28.png"/><Relationship Id="rId3" Type="http://schemas.openxmlformats.org/officeDocument/2006/relationships/image" Target="../media/image24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image" Target="../media/image15.png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.xml"/><Relationship Id="rId1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48.jpeg"/><Relationship Id="rId1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4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.xml"/><Relationship Id="rId1" Type="http://schemas.openxmlformats.org/officeDocument/2006/relationships/image" Target="../media/image49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7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65.png"/><Relationship Id="rId1" Type="http://schemas.openxmlformats.org/officeDocument/2006/relationships/image" Target="../media/image64.png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1.xml"/><Relationship Id="rId3" Type="http://schemas.openxmlformats.org/officeDocument/2006/relationships/image" Target="../media/image64.png"/><Relationship Id="rId2" Type="http://schemas.openxmlformats.org/officeDocument/2006/relationships/image" Target="../media/image61.png"/><Relationship Id="rId1" Type="http://schemas.openxmlformats.org/officeDocument/2006/relationships/image" Target="../media/image5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6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68.png"/><Relationship Id="rId1" Type="http://schemas.openxmlformats.org/officeDocument/2006/relationships/image" Target="../media/image67.png"/></Relationships>
</file>

<file path=ppt/slides/_rels/slide5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72.png"/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image" Target="../media/image69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7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75.png"/><Relationship Id="rId1" Type="http://schemas.openxmlformats.org/officeDocument/2006/relationships/image" Target="../media/image74.png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image" Target="../media/image76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7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80.png"/><Relationship Id="rId1" Type="http://schemas.openxmlformats.org/officeDocument/2006/relationships/tags" Target="../tags/tag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image" Target="../media/image69.png"/><Relationship Id="rId1" Type="http://schemas.openxmlformats.org/officeDocument/2006/relationships/image" Target="../media/image66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.xml"/><Relationship Id="rId1" Type="http://schemas.openxmlformats.org/officeDocument/2006/relationships/image" Target="../media/image7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13.xml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image" Target="../media/image81.png"/></Relationships>
</file>

<file path=ppt/slides/_rels/slide6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87.png"/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image" Target="../media/image84.png"/></Relationships>
</file>

<file path=ppt/slides/_rels/slide6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89.png"/><Relationship Id="rId3" Type="http://schemas.openxmlformats.org/officeDocument/2006/relationships/image" Target="../media/image88.png"/><Relationship Id="rId2" Type="http://schemas.openxmlformats.org/officeDocument/2006/relationships/image" Target="../media/image85.png"/><Relationship Id="rId1" Type="http://schemas.openxmlformats.org/officeDocument/2006/relationships/tags" Target="../tags/tag3.xml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23.png"/><Relationship Id="rId2" Type="http://schemas.openxmlformats.org/officeDocument/2006/relationships/image" Target="../media/image85.png"/><Relationship Id="rId1" Type="http://schemas.openxmlformats.org/officeDocument/2006/relationships/tags" Target="../tags/tag4.xml"/></Relationships>
</file>

<file path=ppt/slides/_rels/slide6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28.png"/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image" Target="../media/image9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25.png"/><Relationship Id="rId1" Type="http://schemas.openxmlformats.org/officeDocument/2006/relationships/image" Target="../media/image93.png"/></Relationships>
</file>

<file path=ppt/slides/_rels/slide6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1.xml"/><Relationship Id="rId4" Type="http://schemas.openxmlformats.org/officeDocument/2006/relationships/image" Target="../media/image93.png"/><Relationship Id="rId3" Type="http://schemas.openxmlformats.org/officeDocument/2006/relationships/image" Target="../media/image85.png"/><Relationship Id="rId2" Type="http://schemas.openxmlformats.org/officeDocument/2006/relationships/tags" Target="../tags/tag5.xml"/><Relationship Id="rId1" Type="http://schemas.openxmlformats.org/officeDocument/2006/relationships/image" Target="../media/image81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1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95.png"/><Relationship Id="rId1" Type="http://schemas.openxmlformats.org/officeDocument/2006/relationships/image" Target="../media/image94.png"/></Relationships>
</file>

<file path=ppt/slides/_rels/slide7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image" Target="../media/image96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99.png"/></Relationships>
</file>

<file path=ppt/slides/_rels/slide7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image" Target="../media/image104.png"/><Relationship Id="rId4" Type="http://schemas.openxmlformats.org/officeDocument/2006/relationships/image" Target="../media/image103.png"/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image" Target="../media/image10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06.png"/><Relationship Id="rId1" Type="http://schemas.openxmlformats.org/officeDocument/2006/relationships/image" Target="../media/image105.png"/></Relationships>
</file>

<file path=ppt/slides/_rels/slide7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image" Target="../media/image107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image" Target="../media/image99.png"/><Relationship Id="rId1" Type="http://schemas.openxmlformats.org/officeDocument/2006/relationships/image" Target="../media/image94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9.xml"/></Relationships>
</file>

<file path=ppt/slides/_rels/slide8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image" Target="../media/image110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14.png"/><Relationship Id="rId1" Type="http://schemas.openxmlformats.org/officeDocument/2006/relationships/image" Target="../media/image113.png"/></Relationships>
</file>

<file path=ppt/slides/_rels/slide8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image" Target="../media/image115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18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20.png"/><Relationship Id="rId1" Type="http://schemas.openxmlformats.org/officeDocument/2006/relationships/image" Target="../media/image119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21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6.xml"/><Relationship Id="rId2" Type="http://schemas.openxmlformats.org/officeDocument/2006/relationships/image" Target="../media/image118.png"/><Relationship Id="rId1" Type="http://schemas.openxmlformats.org/officeDocument/2006/relationships/image" Target="../media/image110.pn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0.xml"/></Relationships>
</file>

<file path=ppt/slides/_rels/slide9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tags" Target="../tags/tag6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24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25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24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26.png"/></Relationships>
</file>

<file path=ppt/slides/_rels/slide9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tags" Target="../tags/tag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29.pn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.xml"/><Relationship Id="rId1" Type="http://schemas.openxmlformats.org/officeDocument/2006/relationships/image" Target="../media/image125.png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30.png"/></Relationships>
</file>

<file path=ppt/slides/_rels/slide10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65.png"/><Relationship Id="rId2" Type="http://schemas.openxmlformats.org/officeDocument/2006/relationships/image" Target="../media/image131.png"/><Relationship Id="rId1" Type="http://schemas.openxmlformats.org/officeDocument/2006/relationships/tags" Target="../tags/tag8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33.png"/><Relationship Id="rId1" Type="http://schemas.openxmlformats.org/officeDocument/2006/relationships/image" Target="../media/image132.png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25500" y="2158365"/>
            <a:ext cx="10541000" cy="1158875"/>
          </a:xfrm>
        </p:spPr>
        <p:txBody>
          <a:bodyPr/>
          <a:p>
            <a:r>
              <a:rPr lang="en-US" sz="6600" dirty="0">
                <a:solidFill>
                  <a:schemeClr val="accent3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L</a:t>
            </a:r>
            <a:r>
              <a:rPr lang="en-US" sz="6600" dirty="0">
                <a:solidFill>
                  <a:schemeClr val="accent4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i</a:t>
            </a:r>
            <a:r>
              <a:rPr lang="en-US" sz="6600" dirty="0">
                <a:solidFill>
                  <a:schemeClr val="accent5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n</a:t>
            </a:r>
            <a:r>
              <a:rPr lang="en-US" sz="6600" dirty="0">
                <a:solidFill>
                  <a:schemeClr val="accent6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u</a:t>
            </a:r>
            <a:r>
              <a:rPr lang="en-US" sz="6600" dirty="0">
                <a:solidFill>
                  <a:schemeClr val="tx2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x</a:t>
            </a:r>
            <a:r>
              <a:rPr lang="zh-CN" altLang="en-US" sz="6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基础命令</a:t>
            </a:r>
            <a:endParaRPr lang="zh-CN" altLang="en-US" sz="6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</a:endParaRPr>
          </a:p>
        </p:txBody>
      </p:sp>
      <p:pic>
        <p:nvPicPr>
          <p:cNvPr id="6" name="图片 5" descr="01 (140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6720" y="4218305"/>
            <a:ext cx="1179195" cy="11791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27930" y="1029335"/>
            <a:ext cx="5973445" cy="4631055"/>
          </a:xfrm>
        </p:spPr>
        <p:txBody>
          <a:bodyPr/>
          <a:lstStyle/>
          <a:p>
            <a:pPr algn="l"/>
            <a:r>
              <a:rPr kumimoji="1" lang="en-US" altLang="zh-CN" sz="1600" dirty="0">
                <a:solidFill>
                  <a:srgbClr val="FF0000"/>
                </a:solidFill>
                <a:sym typeface="+mn-ea"/>
              </a:rPr>
              <a:t>Linux</a:t>
            </a:r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的目录结构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Linux命令入门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目录切换相关命令(cd/pwd)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相对路径、绝对路径和特殊路径符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创建目录命令(mkdir)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文件操作命令</a:t>
            </a:r>
            <a:r>
              <a:rPr kumimoji="1" lang="en-US" altLang="zh-CN" sz="1600" dirty="0">
                <a:sym typeface="+mn-ea"/>
              </a:rPr>
              <a:t>part1(touch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cat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more</a:t>
            </a:r>
            <a:r>
              <a:rPr kumimoji="1" lang="zh-CN" altLang="en-US" sz="1600" dirty="0">
                <a:sym typeface="+mn-ea"/>
              </a:rPr>
              <a:t>）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文件操作命令part2(cp、mv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rm）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查找命令(which、find）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grep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wc</a:t>
            </a:r>
            <a:r>
              <a:rPr kumimoji="1" lang="zh-CN" altLang="en-US" sz="1600" dirty="0">
                <a:sym typeface="+mn-ea"/>
              </a:rPr>
              <a:t>和管道符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echo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tail</a:t>
            </a:r>
            <a:r>
              <a:rPr kumimoji="1" lang="zh-CN" altLang="en-US" sz="1600" dirty="0">
                <a:sym typeface="+mn-ea"/>
              </a:rPr>
              <a:t>和重定向符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vi</a:t>
            </a:r>
            <a:r>
              <a:rPr kumimoji="1" lang="zh-CN" altLang="en-US" sz="1600" dirty="0">
                <a:sym typeface="+mn-ea"/>
              </a:rPr>
              <a:t>编辑器</a:t>
            </a:r>
            <a:endParaRPr kumimoji="1" lang="zh-CN" altLang="en-US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549275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</a:rPr>
              <a:t>掌握</a:t>
            </a:r>
            <a:r>
              <a:rPr lang="en-US" altLang="zh-CN">
                <a:solidFill>
                  <a:srgbClr val="FF0000"/>
                </a:solidFill>
              </a:rPr>
              <a:t>Linux</a:t>
            </a:r>
            <a:r>
              <a:rPr lang="zh-CN" altLang="en-US">
                <a:solidFill>
                  <a:srgbClr val="FF0000"/>
                </a:solidFill>
              </a:rPr>
              <a:t>系统的目录</a:t>
            </a:r>
            <a:r>
              <a:rPr lang="zh-CN" altLang="en-US">
                <a:solidFill>
                  <a:srgbClr val="FF0000"/>
                </a:solidFill>
              </a:rPr>
              <a:t>结构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掌握</a:t>
            </a:r>
            <a:r>
              <a:rPr lang="en-US" altLang="zh-CN">
                <a:solidFill>
                  <a:srgbClr val="FF0000"/>
                </a:solidFill>
              </a:rPr>
              <a:t>Linux</a:t>
            </a:r>
            <a:r>
              <a:rPr lang="zh-CN" altLang="en-US">
                <a:solidFill>
                  <a:srgbClr val="FF0000"/>
                </a:solidFill>
              </a:rPr>
              <a:t>系统的路径表达形式</a:t>
            </a:r>
            <a:endParaRPr lang="en-US" altLang="zh-CN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Linux</a:t>
            </a:r>
            <a:r>
              <a:t>的目录</a:t>
            </a:r>
            <a:r>
              <a:t>结构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Linux的目录结构是一个树型结构</a:t>
            </a:r>
            <a:endParaRPr lang="zh-CN" altLang="en-US"/>
          </a:p>
          <a:p>
            <a:r>
              <a:rPr lang="zh-CN" altLang="en-US"/>
              <a:t>Windows 系统可以拥有多个盘符, 如 C盘、D盘、E盘</a:t>
            </a:r>
            <a:endParaRPr lang="zh-CN" altLang="en-US"/>
          </a:p>
          <a:p>
            <a:r>
              <a:rPr lang="zh-CN" altLang="en-US"/>
              <a:t>Linux没有盘符这个概念, 只有一个根目录 /, 所有文件都在它下面</a:t>
            </a:r>
            <a:endParaRPr lang="zh-CN" altLang="en-US"/>
          </a:p>
        </p:txBody>
      </p:sp>
      <p:pic>
        <p:nvPicPr>
          <p:cNvPr id="10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4075" y="2946400"/>
            <a:ext cx="4382770" cy="1639570"/>
          </a:xfrm>
          <a:prstGeom prst="rect">
            <a:avLst/>
          </a:prstGeom>
          <a:noFill/>
          <a:ln>
            <a:solidFill>
              <a:srgbClr val="919191"/>
            </a:solidFill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345" y="3145790"/>
            <a:ext cx="2861945" cy="1422400"/>
          </a:xfrm>
          <a:prstGeom prst="rect">
            <a:avLst/>
          </a:prstGeom>
          <a:ln>
            <a:solidFill>
              <a:srgbClr val="919191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125" y="3145790"/>
            <a:ext cx="2765425" cy="1423035"/>
          </a:xfrm>
          <a:prstGeom prst="rect">
            <a:avLst/>
          </a:prstGeom>
          <a:ln>
            <a:solidFill>
              <a:srgbClr val="91919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Linux</a:t>
            </a:r>
            <a:r>
              <a:t>路径的描述</a:t>
            </a:r>
            <a:r>
              <a:t>方式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71875"/>
            <a:ext cx="10698800" cy="4219575"/>
          </a:xfrm>
        </p:spPr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在</a:t>
            </a:r>
            <a:r>
              <a:rPr lang="en-US" altLang="zh-CN"/>
              <a:t>Linux</a:t>
            </a:r>
            <a:r>
              <a:rPr lang="zh-CN" altLang="en-US"/>
              <a:t>系统中，路径之间的层级关系，使用：</a:t>
            </a:r>
            <a:r>
              <a:rPr lang="en-US" altLang="zh-CN"/>
              <a:t>/ </a:t>
            </a:r>
            <a:r>
              <a:rPr lang="zh-CN" altLang="en-US"/>
              <a:t>来</a:t>
            </a:r>
            <a:r>
              <a:rPr lang="zh-CN" altLang="en-US"/>
              <a:t>表示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在</a:t>
            </a:r>
            <a:r>
              <a:rPr lang="en-US" altLang="zh-CN"/>
              <a:t>Windows</a:t>
            </a:r>
            <a:r>
              <a:rPr lang="zh-CN" altLang="en-US"/>
              <a:t>系统中，路径之间的层级关系，使用：</a:t>
            </a:r>
            <a:r>
              <a:rPr lang="en-US" altLang="zh-CN"/>
              <a:t> \ </a:t>
            </a:r>
            <a:r>
              <a:rPr lang="zh-CN" altLang="en-US"/>
              <a:t>来</a:t>
            </a:r>
            <a:r>
              <a:rPr lang="zh-CN" altLang="en-US"/>
              <a:t>表示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135" y="2612390"/>
            <a:ext cx="3509010" cy="23393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340" y="2547620"/>
            <a:ext cx="4718050" cy="24688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586230" y="5131435"/>
            <a:ext cx="1988185" cy="30670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rgbClr val="FF0000"/>
                </a:solidFill>
                <a:latin typeface="纤黑体" panose="02000000000000000000" charset="-122"/>
                <a:ea typeface="+mn-ea"/>
                <a:cs typeface="纤黑体" panose="02000000000000000000" charset="-122"/>
              </a:rPr>
              <a:t>D:\data\work\hello.txt</a:t>
            </a:r>
            <a:endParaRPr lang="en-US" altLang="zh-CN" sz="1400" b="1" dirty="0">
              <a:solidFill>
                <a:srgbClr val="FF0000"/>
              </a:solidFill>
              <a:latin typeface="纤黑体" panose="02000000000000000000" charset="-122"/>
              <a:ea typeface="+mn-ea"/>
              <a:cs typeface="纤黑体" panose="020000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790815" y="5131435"/>
            <a:ext cx="1688465" cy="30670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rgbClr val="FF0000"/>
                </a:solidFill>
                <a:latin typeface="纤黑体" panose="02000000000000000000" charset="-122"/>
                <a:ea typeface="+mn-ea"/>
                <a:cs typeface="纤黑体" panose="02000000000000000000" charset="-122"/>
              </a:rPr>
              <a:t>/usr/local/hello.txt</a:t>
            </a:r>
            <a:endParaRPr lang="en-US" altLang="zh-CN" sz="1400" b="1" dirty="0">
              <a:solidFill>
                <a:srgbClr val="FF0000"/>
              </a:solidFill>
              <a:latin typeface="纤黑体" panose="02000000000000000000" charset="-122"/>
              <a:ea typeface="+mn-ea"/>
              <a:cs typeface="纤黑体" panose="02000000000000000000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835900" y="5553075"/>
            <a:ext cx="2043430" cy="73723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old" panose="00020600040101010101" charset="-122"/>
                <a:ea typeface="Alibaba PuHuiTi Bold" panose="00020600040101010101" charset="-122"/>
                <a:cs typeface="Alibaba PuHuiTi Bold" panose="00020600040101010101" charset="-122"/>
              </a:rPr>
              <a:t>注意：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Alibaba PuHuiTi Bold" panose="00020600040101010101" charset="-122"/>
              <a:ea typeface="Alibaba PuHuiTi Bold" panose="00020600040101010101" charset="-122"/>
              <a:cs typeface="Alibaba PuHuiTi Bold" panose="00020600040101010101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old" panose="00020600040101010101" charset="-122"/>
                <a:ea typeface="Alibaba PuHuiTi Bold" panose="00020600040101010101" charset="-122"/>
                <a:cs typeface="Alibaba PuHuiTi Bold" panose="00020600040101010101" charset="-122"/>
              </a:rPr>
              <a:t>开头的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old" panose="00020600040101010101" charset="-122"/>
                <a:ea typeface="Alibaba PuHuiTi Bold" panose="00020600040101010101" charset="-122"/>
                <a:cs typeface="Alibaba PuHuiTi Bold" panose="00020600040101010101" charset="-122"/>
              </a:rPr>
              <a:t>/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old" panose="00020600040101010101" charset="-122"/>
                <a:ea typeface="Alibaba PuHuiTi Bold" panose="00020600040101010101" charset="-122"/>
                <a:cs typeface="Alibaba PuHuiTi Bold" panose="00020600040101010101" charset="-122"/>
              </a:rPr>
              <a:t>表示根目录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Alibaba PuHuiTi Bold" panose="00020600040101010101" charset="-122"/>
              <a:ea typeface="Alibaba PuHuiTi Bold" panose="00020600040101010101" charset="-122"/>
              <a:cs typeface="Alibaba PuHuiTi Bold" panose="00020600040101010101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old" panose="00020600040101010101" charset="-122"/>
                <a:ea typeface="Alibaba PuHuiTi Bold" panose="00020600040101010101" charset="-122"/>
                <a:cs typeface="Alibaba PuHuiTi Bold" panose="00020600040101010101" charset="-122"/>
              </a:rPr>
              <a:t>后面的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old" panose="00020600040101010101" charset="-122"/>
                <a:ea typeface="Alibaba PuHuiTi Bold" panose="00020600040101010101" charset="-122"/>
                <a:cs typeface="Alibaba PuHuiTi Bold" panose="00020600040101010101" charset="-122"/>
              </a:rPr>
              <a:t>/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old" panose="00020600040101010101" charset="-122"/>
                <a:ea typeface="Alibaba PuHuiTi Bold" panose="00020600040101010101" charset="-122"/>
                <a:cs typeface="Alibaba PuHuiTi Bold" panose="00020600040101010101" charset="-122"/>
              </a:rPr>
              <a:t>表示层级关系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Alibaba PuHuiTi Bold" panose="00020600040101010101" charset="-122"/>
              <a:ea typeface="Alibaba PuHuiTi Bold" panose="00020600040101010101" charset="-122"/>
              <a:cs typeface="Alibaba PuHuiTi Bold" panose="0002060004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586230" y="5617845"/>
            <a:ext cx="1510665" cy="73723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old" panose="00020600040101010101" charset="-122"/>
                <a:ea typeface="Alibaba PuHuiTi Bold" panose="00020600040101010101" charset="-122"/>
                <a:cs typeface="Alibaba PuHuiTi Bold" panose="00020600040101010101" charset="-122"/>
              </a:rPr>
              <a:t>注意：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Alibaba PuHuiTi Bold" panose="00020600040101010101" charset="-122"/>
              <a:ea typeface="Alibaba PuHuiTi Bold" panose="00020600040101010101" charset="-122"/>
              <a:cs typeface="Alibaba PuHuiTi Bold" panose="00020600040101010101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old" panose="00020600040101010101" charset="-122"/>
                <a:ea typeface="Alibaba PuHuiTi Bold" panose="00020600040101010101" charset="-122"/>
                <a:cs typeface="Alibaba PuHuiTi Bold" panose="00020600040101010101" charset="-122"/>
              </a:rPr>
              <a:t>D: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old" panose="00020600040101010101" charset="-122"/>
                <a:ea typeface="Alibaba PuHuiTi Bold" panose="00020600040101010101" charset="-122"/>
                <a:cs typeface="Alibaba PuHuiTi Bold" panose="00020600040101010101" charset="-122"/>
              </a:rPr>
              <a:t>表示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old" panose="00020600040101010101" charset="-122"/>
                <a:ea typeface="Alibaba PuHuiTi Bold" panose="00020600040101010101" charset="-122"/>
                <a:cs typeface="Alibaba PuHuiTi Bold" panose="00020600040101010101" charset="-122"/>
              </a:rPr>
              <a:t>D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old" panose="00020600040101010101" charset="-122"/>
                <a:ea typeface="Alibaba PuHuiTi Bold" panose="00020600040101010101" charset="-122"/>
                <a:cs typeface="Alibaba PuHuiTi Bold" panose="00020600040101010101" charset="-122"/>
              </a:rPr>
              <a:t>盘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Alibaba PuHuiTi Bold" panose="00020600040101010101" charset="-122"/>
              <a:ea typeface="Alibaba PuHuiTi Bold" panose="00020600040101010101" charset="-122"/>
              <a:cs typeface="Alibaba PuHuiTi Bold" panose="00020600040101010101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old" panose="00020600040101010101" charset="-122"/>
                <a:ea typeface="Alibaba PuHuiTi Bold" panose="00020600040101010101" charset="-122"/>
                <a:cs typeface="Alibaba PuHuiTi Bold" panose="00020600040101010101" charset="-122"/>
              </a:rPr>
              <a:t>\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old" panose="00020600040101010101" charset="-122"/>
                <a:ea typeface="Alibaba PuHuiTi Bold" panose="00020600040101010101" charset="-122"/>
                <a:cs typeface="Alibaba PuHuiTi Bold" panose="00020600040101010101" charset="-122"/>
              </a:rPr>
              <a:t>表示层级关系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Alibaba PuHuiTi Bold" panose="00020600040101010101" charset="-122"/>
              <a:ea typeface="Alibaba PuHuiTi Bold" panose="00020600040101010101" charset="-122"/>
              <a:cs typeface="Alibaba PuHuiTi Bold" panose="0002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8" grpId="1"/>
      <p:bldP spid="11" grpId="1"/>
      <p:bldP spid="9" grpId="0"/>
      <p:bldP spid="10" grpId="0"/>
      <p:bldP spid="9" grpId="1"/>
      <p:bldP spid="10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1. Linux</a:t>
            </a:r>
            <a:r>
              <a:rPr lang="zh-CN" altLang="en-US"/>
              <a:t>操作系统的目录</a:t>
            </a:r>
            <a:r>
              <a:rPr lang="zh-CN" altLang="en-US"/>
              <a:t>结构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en-US" altLang="zh-CN" sz="1400"/>
              <a:t>Linux</a:t>
            </a:r>
            <a:r>
              <a:rPr lang="zh-CN" altLang="en-US" sz="1400"/>
              <a:t>只有一个顶级目录，称之为：根目录</a:t>
            </a:r>
            <a:endParaRPr lang="zh-CN" altLang="en-US" sz="1400"/>
          </a:p>
          <a:p>
            <a:pPr marL="0" indent="0">
              <a:buNone/>
            </a:pPr>
            <a:r>
              <a:rPr lang="en-US" altLang="zh-CN" sz="1400"/>
              <a:t>Windows</a:t>
            </a:r>
            <a:r>
              <a:rPr lang="zh-CN" altLang="en-US" sz="1400"/>
              <a:t>系统有多个顶级目录，即各个盘符</a:t>
            </a:r>
            <a:endParaRPr lang="zh-CN" altLang="en-US" sz="1400"/>
          </a:p>
          <a:p>
            <a:pPr marL="0" indent="0">
              <a:buNone/>
            </a:pPr>
            <a:r>
              <a:rPr lang="en-US" altLang="zh-CN"/>
              <a:t>2. /</a:t>
            </a:r>
            <a:r>
              <a:rPr lang="zh-CN" altLang="en-US"/>
              <a:t>在</a:t>
            </a:r>
            <a:r>
              <a:rPr lang="en-US" altLang="zh-CN"/>
              <a:t>Linux</a:t>
            </a:r>
            <a:r>
              <a:rPr lang="zh-CN" altLang="en-US"/>
              <a:t>系统中</a:t>
            </a:r>
            <a:r>
              <a:rPr lang="zh-CN" altLang="en-US"/>
              <a:t>表示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出现在开头的</a:t>
            </a:r>
            <a:r>
              <a:rPr lang="en-US" altLang="zh-CN" sz="1400"/>
              <a:t>/</a:t>
            </a:r>
            <a:r>
              <a:rPr lang="zh-CN" altLang="en-US" sz="1400"/>
              <a:t>表示：根目录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出现在后面的</a:t>
            </a:r>
            <a:r>
              <a:rPr lang="en-US" altLang="zh-CN" sz="1400"/>
              <a:t>/</a:t>
            </a:r>
            <a:r>
              <a:rPr lang="zh-CN" altLang="en-US" sz="1400"/>
              <a:t>表示：层次关系</a:t>
            </a:r>
            <a:endParaRPr lang="zh-CN" altLang="en-US" sz="1400"/>
          </a:p>
        </p:txBody>
      </p:sp>
      <p:pic>
        <p:nvPicPr>
          <p:cNvPr id="10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0020" y="1949450"/>
            <a:ext cx="4382770" cy="1639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课后练习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请根据语言描述，写出对应的</a:t>
            </a:r>
            <a:r>
              <a:rPr lang="en-US" altLang="zh-CN"/>
              <a:t>Linux</a:t>
            </a:r>
            <a:r>
              <a:rPr lang="zh-CN" altLang="en-US"/>
              <a:t>路径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在根目录下有一个文件夹</a:t>
            </a:r>
            <a:r>
              <a:rPr lang="en-US" altLang="zh-CN"/>
              <a:t>test</a:t>
            </a:r>
            <a:r>
              <a:rPr lang="zh-CN" altLang="en-US"/>
              <a:t>，文件夹内有一个文件</a:t>
            </a:r>
            <a:r>
              <a:rPr lang="en-US" altLang="zh-CN"/>
              <a:t>hello.txt</a:t>
            </a:r>
            <a:r>
              <a:rPr lang="zh-CN" altLang="en-US"/>
              <a:t>，请描述文件的路径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/>
              <a:t>/test/hello.txt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在根目录下有一个文件</a:t>
            </a:r>
            <a:r>
              <a:rPr lang="en-US" altLang="zh-CN">
                <a:sym typeface="+mn-ea"/>
              </a:rPr>
              <a:t>itheima.txt</a:t>
            </a:r>
            <a:r>
              <a:rPr lang="zh-CN" altLang="en-US">
                <a:sym typeface="+mn-ea"/>
              </a:rPr>
              <a:t>，请描述文件的路径</a:t>
            </a:r>
            <a:endParaRPr lang="zh-CN" altLang="en-US"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/itheima.txt</a:t>
            </a: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在根目录下有一个文件夹</a:t>
            </a:r>
            <a:r>
              <a:rPr lang="en-US" altLang="zh-CN">
                <a:sym typeface="+mn-ea"/>
              </a:rPr>
              <a:t>itcast</a:t>
            </a:r>
            <a:r>
              <a:rPr lang="zh-CN" altLang="en-US">
                <a:sym typeface="+mn-ea"/>
              </a:rPr>
              <a:t>，在</a:t>
            </a:r>
            <a:r>
              <a:rPr lang="en-US" altLang="zh-CN">
                <a:sym typeface="+mn-ea"/>
              </a:rPr>
              <a:t>itcast</a:t>
            </a:r>
            <a:r>
              <a:rPr lang="zh-CN" altLang="en-US">
                <a:sym typeface="+mn-ea"/>
              </a:rPr>
              <a:t>文件夹内有文件夹</a:t>
            </a:r>
            <a:r>
              <a:rPr lang="en-US" altLang="zh-CN">
                <a:sym typeface="+mn-ea"/>
              </a:rPr>
              <a:t>itheima</a:t>
            </a:r>
            <a:r>
              <a:rPr lang="zh-CN" altLang="en-US">
                <a:sym typeface="+mn-ea"/>
              </a:rPr>
              <a:t>，在</a:t>
            </a:r>
            <a:r>
              <a:rPr lang="en-US" altLang="zh-CN">
                <a:sym typeface="+mn-ea"/>
              </a:rPr>
              <a:t>itheima</a:t>
            </a:r>
            <a:r>
              <a:rPr lang="zh-CN" altLang="en-US">
                <a:sym typeface="+mn-ea"/>
              </a:rPr>
              <a:t>文件夹内有文件</a:t>
            </a:r>
            <a:r>
              <a:rPr lang="en-US" altLang="zh-CN">
                <a:sym typeface="+mn-ea"/>
              </a:rPr>
              <a:t>hello.txt</a:t>
            </a:r>
            <a:r>
              <a:rPr lang="zh-CN" altLang="en-US">
                <a:sym typeface="+mn-ea"/>
              </a:rPr>
              <a:t>，请描述文件的路径</a:t>
            </a:r>
            <a:endParaRPr lang="zh-CN" altLang="en-US"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/itcast/itheima/hello.txt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27930" y="1029335"/>
            <a:ext cx="5973445" cy="4631055"/>
          </a:xfrm>
        </p:spPr>
        <p:txBody>
          <a:bodyPr/>
          <a:lstStyle/>
          <a:p>
            <a:pPr algn="l"/>
            <a:r>
              <a:rPr kumimoji="1" lang="en-US" altLang="zh-CN" sz="1600" dirty="0">
                <a:sym typeface="+mn-ea"/>
              </a:rPr>
              <a:t>Linux的目录结构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Linux命令入门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目录切换相关命令(cd/pwd)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相对路径、绝对路径和特殊路径符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创建目录命令(mkdir)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文件操作命令</a:t>
            </a:r>
            <a:r>
              <a:rPr kumimoji="1" lang="en-US" altLang="zh-CN" sz="1600" dirty="0">
                <a:sym typeface="+mn-ea"/>
              </a:rPr>
              <a:t>part1(touch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cat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more</a:t>
            </a:r>
            <a:r>
              <a:rPr kumimoji="1" lang="zh-CN" altLang="en-US" sz="1600" dirty="0">
                <a:sym typeface="+mn-ea"/>
              </a:rPr>
              <a:t>）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文件操作命令part2(cp、mv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rm）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查找命令(which、find）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grep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wc</a:t>
            </a:r>
            <a:r>
              <a:rPr kumimoji="1" lang="zh-CN" altLang="en-US" sz="1600" dirty="0">
                <a:sym typeface="+mn-ea"/>
              </a:rPr>
              <a:t>和管道符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echo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tail</a:t>
            </a:r>
            <a:r>
              <a:rPr kumimoji="1" lang="zh-CN" altLang="en-US" sz="1600" dirty="0">
                <a:sym typeface="+mn-ea"/>
              </a:rPr>
              <a:t>和重定向符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vi</a:t>
            </a:r>
            <a:r>
              <a:rPr kumimoji="1" lang="zh-CN" altLang="en-US" sz="1600" dirty="0">
                <a:sym typeface="+mn-ea"/>
              </a:rPr>
              <a:t>编辑器</a:t>
            </a:r>
            <a:endParaRPr kumimoji="1" lang="zh-CN" altLang="en-US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06807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r>
              <a:rPr lang="zh-CN">
                <a:solidFill>
                  <a:srgbClr val="FF0000"/>
                </a:solidFill>
              </a:rPr>
              <a:t>掌握</a:t>
            </a:r>
            <a:r>
              <a:rPr lang="en-US" altLang="zh-CN">
                <a:solidFill>
                  <a:srgbClr val="FF0000"/>
                </a:solidFill>
              </a:rPr>
              <a:t>Linux</a:t>
            </a:r>
            <a:r>
              <a:rPr lang="zh-CN" altLang="en-US">
                <a:solidFill>
                  <a:srgbClr val="FF0000"/>
                </a:solidFill>
              </a:rPr>
              <a:t>命令的基础结构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理解工作目录的概念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理解</a:t>
            </a:r>
            <a:r>
              <a:rPr lang="en-US" altLang="zh-CN">
                <a:solidFill>
                  <a:srgbClr val="FF0000"/>
                </a:solidFill>
              </a:rPr>
              <a:t>HOME</a:t>
            </a:r>
            <a:r>
              <a:rPr lang="zh-CN" altLang="en-US">
                <a:solidFill>
                  <a:srgbClr val="FF0000"/>
                </a:solidFill>
              </a:rPr>
              <a:t>目录的概念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掌握</a:t>
            </a:r>
            <a:r>
              <a:rPr lang="en-US" altLang="zh-CN">
                <a:solidFill>
                  <a:srgbClr val="FF0000"/>
                </a:solidFill>
              </a:rPr>
              <a:t>ls</a:t>
            </a:r>
            <a:r>
              <a:rPr lang="zh-CN" altLang="en-US">
                <a:solidFill>
                  <a:srgbClr val="FF0000"/>
                </a:solidFill>
              </a:rPr>
              <a:t>命令的基础使用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Linux</a:t>
            </a:r>
            <a:r>
              <a:t>命令基础格式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/>
              <a:t>无论是什么命令，用于什么用途，在</a:t>
            </a:r>
            <a:r>
              <a:rPr lang="en-US" altLang="zh-CN"/>
              <a:t>Linux</a:t>
            </a:r>
            <a:r>
              <a:rPr lang="zh-CN" altLang="en-US"/>
              <a:t>中，命令有其通用的格式：</a:t>
            </a:r>
            <a:endParaRPr lang="zh-CN" altLang="en-US"/>
          </a:p>
          <a:p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command</a:t>
            </a:r>
            <a:r>
              <a:rPr lang="zh-CN" altLang="en-US"/>
              <a:t>：</a:t>
            </a:r>
            <a:r>
              <a:rPr lang="en-US" altLang="zh-CN"/>
              <a:t> </a:t>
            </a:r>
            <a:r>
              <a:rPr lang="zh-CN" altLang="en-US"/>
              <a:t>命令本身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-options</a:t>
            </a:r>
            <a:r>
              <a:rPr lang="zh-CN" altLang="en-US"/>
              <a:t>：</a:t>
            </a:r>
            <a:r>
              <a:rPr lang="en-US" altLang="zh-CN"/>
              <a:t>[</a:t>
            </a:r>
            <a:r>
              <a:rPr lang="zh-CN" altLang="en-US"/>
              <a:t>可选，非必填</a:t>
            </a:r>
            <a:r>
              <a:rPr lang="en-US" altLang="zh-CN"/>
              <a:t>]</a:t>
            </a:r>
            <a:r>
              <a:rPr lang="zh-CN" altLang="en-US"/>
              <a:t>命令的一些选项，可以通过选项控制命令的行为细节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parameter</a:t>
            </a:r>
            <a:r>
              <a:rPr lang="zh-CN" altLang="en-US"/>
              <a:t>：</a:t>
            </a:r>
            <a:r>
              <a:rPr lang="en-US" altLang="zh-CN">
                <a:sym typeface="+mn-ea"/>
              </a:rPr>
              <a:t>[</a:t>
            </a:r>
            <a:r>
              <a:rPr lang="zh-CN" altLang="en-US">
                <a:sym typeface="+mn-ea"/>
              </a:rPr>
              <a:t>可选，非必填</a:t>
            </a:r>
            <a:r>
              <a:rPr lang="en-US" altLang="zh-CN">
                <a:sym typeface="+mn-ea"/>
              </a:rPr>
              <a:t>]</a:t>
            </a:r>
            <a:r>
              <a:rPr lang="zh-CN" altLang="en-US"/>
              <a:t>命令的参数，多数用于命令的指向目标等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 sz="1200">
                <a:solidFill>
                  <a:srgbClr val="FF0000"/>
                </a:solidFill>
              </a:rPr>
              <a:t>语法中的</a:t>
            </a:r>
            <a:r>
              <a:rPr lang="en-US" altLang="zh-CN" sz="1200">
                <a:solidFill>
                  <a:srgbClr val="FF0000"/>
                </a:solidFill>
              </a:rPr>
              <a:t>[]</a:t>
            </a:r>
            <a:r>
              <a:rPr lang="zh-CN" altLang="en-US" sz="1200">
                <a:solidFill>
                  <a:srgbClr val="FF0000"/>
                </a:solidFill>
              </a:rPr>
              <a:t>，表示可选的意思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下面，让我们学习第一个</a:t>
            </a:r>
            <a:r>
              <a:rPr lang="en-US" altLang="zh-CN"/>
              <a:t>Linux</a:t>
            </a:r>
            <a:r>
              <a:rPr lang="zh-CN" altLang="en-US"/>
              <a:t>命令：</a:t>
            </a:r>
            <a:r>
              <a:rPr lang="en-US" altLang="zh-CN"/>
              <a:t>ls</a:t>
            </a:r>
            <a:r>
              <a:rPr lang="zh-CN" altLang="en-US"/>
              <a:t>命令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并通过它，去理解命令的基础格式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050" y="2166620"/>
            <a:ext cx="3028950" cy="352425"/>
          </a:xfrm>
          <a:prstGeom prst="rect">
            <a:avLst/>
          </a:prstGeom>
        </p:spPr>
      </p:pic>
      <p:pic>
        <p:nvPicPr>
          <p:cNvPr id="5" name="图片 4" descr="01 (40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4215" y="5052695"/>
            <a:ext cx="1651000" cy="1651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ls</a:t>
            </a:r>
            <a:r>
              <a:t>命令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ls</a:t>
            </a:r>
            <a:r>
              <a:rPr lang="zh-CN" altLang="en-US"/>
              <a:t>命令的作用是列出目录下的内容，语法细节如下：</a:t>
            </a:r>
            <a:endParaRPr lang="zh-CN" altLang="en-US"/>
          </a:p>
          <a:p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-a -l -h </a:t>
            </a:r>
            <a:r>
              <a:rPr lang="zh-CN" altLang="en-US"/>
              <a:t>是</a:t>
            </a:r>
            <a:r>
              <a:rPr lang="zh-CN" altLang="en-US">
                <a:solidFill>
                  <a:srgbClr val="FF0000"/>
                </a:solidFill>
              </a:rPr>
              <a:t>可选</a:t>
            </a:r>
            <a:r>
              <a:rPr lang="zh-CN" altLang="en-US"/>
              <a:t>的选项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Linux</a:t>
            </a:r>
            <a:r>
              <a:rPr lang="zh-CN" altLang="en-US"/>
              <a:t>路径是此命令</a:t>
            </a:r>
            <a:r>
              <a:rPr lang="zh-CN" altLang="en-US">
                <a:solidFill>
                  <a:srgbClr val="FF0000"/>
                </a:solidFill>
              </a:rPr>
              <a:t>可选</a:t>
            </a:r>
            <a:r>
              <a:rPr lang="zh-CN" altLang="en-US"/>
              <a:t>的参数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当不使用选项和参数，直接使用</a:t>
            </a:r>
            <a:r>
              <a:rPr lang="en-US" altLang="zh-CN"/>
              <a:t>ls</a:t>
            </a:r>
            <a:r>
              <a:rPr lang="zh-CN" altLang="en-US"/>
              <a:t>命令本体，表示：以平铺</a:t>
            </a:r>
            <a:r>
              <a:rPr lang="zh-CN" altLang="en-US"/>
              <a:t>形式，列出当前工作目录下的内容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10000"/>
          <a:stretch>
            <a:fillRect/>
          </a:stretch>
        </p:blipFill>
        <p:spPr>
          <a:xfrm>
            <a:off x="786765" y="2162175"/>
            <a:ext cx="3753485" cy="381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765" y="3843020"/>
            <a:ext cx="8413750" cy="628650"/>
          </a:xfrm>
          <a:prstGeom prst="rect">
            <a:avLst/>
          </a:prstGeom>
        </p:spPr>
      </p:pic>
      <p:pic>
        <p:nvPicPr>
          <p:cNvPr id="6" name="图片 5" descr="01 (4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5805" y="5003800"/>
            <a:ext cx="1685290" cy="16852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HOME</a:t>
            </a:r>
            <a:r>
              <a:t>目录和工作目录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2725420" y="2181225"/>
            <a:ext cx="8684260" cy="3694430"/>
          </a:xfrm>
        </p:spPr>
        <p:txBody>
          <a:bodyPr/>
          <a:p>
            <a:r>
              <a:rPr lang="zh-CN" altLang="en-US"/>
              <a:t>直接输入</a:t>
            </a:r>
            <a:r>
              <a:rPr lang="en-US" altLang="zh-CN"/>
              <a:t>ls</a:t>
            </a:r>
            <a:r>
              <a:rPr lang="zh-CN" altLang="en-US"/>
              <a:t>命令，表示列出当前工作目录下的内容，当前工作目录是？</a:t>
            </a:r>
            <a:endParaRPr lang="zh-CN" altLang="en-US"/>
          </a:p>
          <a:p>
            <a:r>
              <a:rPr lang="en-US" altLang="zh-CN"/>
              <a:t>Linux</a:t>
            </a:r>
            <a:r>
              <a:rPr lang="zh-CN" altLang="en-US"/>
              <a:t>系统的命令行终端，在启动的时候，默认会加载</a:t>
            </a:r>
            <a:r>
              <a:rPr lang="en-US" altLang="zh-CN"/>
              <a:t>: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当前登录用户的</a:t>
            </a:r>
            <a:r>
              <a:rPr lang="en-US" altLang="zh-CN"/>
              <a:t>HOME</a:t>
            </a:r>
            <a:r>
              <a:rPr lang="zh-CN" altLang="en-US"/>
              <a:t>目录作为当前工作目录，所以</a:t>
            </a:r>
            <a:r>
              <a:rPr lang="en-US" altLang="zh-CN"/>
              <a:t>ls</a:t>
            </a:r>
            <a:r>
              <a:rPr lang="zh-CN" altLang="en-US"/>
              <a:t>命令列出的是</a:t>
            </a:r>
            <a:r>
              <a:rPr lang="en-US" altLang="zh-CN"/>
              <a:t>HOME</a:t>
            </a:r>
            <a:r>
              <a:rPr lang="zh-CN" altLang="en-US"/>
              <a:t>目录的内容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HOME</a:t>
            </a:r>
            <a:r>
              <a:rPr lang="zh-CN" altLang="en-US"/>
              <a:t>目录：每个</a:t>
            </a:r>
            <a:r>
              <a:rPr lang="en-US" altLang="zh-CN"/>
              <a:t>Linux</a:t>
            </a:r>
            <a:r>
              <a:rPr lang="zh-CN" altLang="en-US"/>
              <a:t>操作用户在</a:t>
            </a:r>
            <a:r>
              <a:rPr lang="en-US" altLang="zh-CN"/>
              <a:t>Linux</a:t>
            </a:r>
            <a:r>
              <a:rPr lang="zh-CN" altLang="en-US"/>
              <a:t>系统的个人账户目录，路径在：</a:t>
            </a:r>
            <a:r>
              <a:rPr lang="en-US" altLang="zh-CN"/>
              <a:t>/home/</a:t>
            </a:r>
            <a:r>
              <a:rPr lang="zh-CN" altLang="en-US"/>
              <a:t>用户名</a:t>
            </a: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如，图中的</a:t>
            </a: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Linux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用户是</a:t>
            </a: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itheima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，其</a:t>
            </a: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HOME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目录是：</a:t>
            </a: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/home/itheima</a:t>
            </a:r>
            <a:endParaRPr lang="en-US" altLang="zh-CN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Windows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系统和</a:t>
            </a: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Linux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系统，均设有用户的</a:t>
            </a: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HOME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目录，如图：</a:t>
            </a:r>
            <a:endParaRPr lang="zh-CN" altLang="en-US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pic>
        <p:nvPicPr>
          <p:cNvPr id="4" name="图片 3" descr="01 (106)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57200" y="1714500"/>
            <a:ext cx="2267585" cy="22675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5420" y="1638300"/>
            <a:ext cx="6251575" cy="4673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190" y="4542155"/>
            <a:ext cx="4642485" cy="14859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400" y="4338955"/>
            <a:ext cx="3943985" cy="2366645"/>
          </a:xfrm>
          <a:prstGeom prst="rect">
            <a:avLst/>
          </a:prstGeom>
        </p:spPr>
      </p:pic>
      <p:pic>
        <p:nvPicPr>
          <p:cNvPr id="7" name="图片 6" descr="01 (42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9725" y="4606290"/>
            <a:ext cx="2099310" cy="20993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ls</a:t>
            </a:r>
            <a:r>
              <a:t>命令的参数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20405" y="1656000"/>
            <a:ext cx="10698800" cy="4219575"/>
          </a:xfrm>
        </p:spPr>
        <p:txBody>
          <a:bodyPr/>
          <a:p>
            <a:r>
              <a:rPr lang="zh-CN" altLang="en-US"/>
              <a:t>刚刚展示了，直接使用</a:t>
            </a:r>
            <a:r>
              <a:rPr lang="en-US" altLang="zh-CN"/>
              <a:t>ls</a:t>
            </a:r>
            <a:r>
              <a:rPr lang="zh-CN" altLang="en-US"/>
              <a:t>命令，并未使用选项和参数。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那么</a:t>
            </a:r>
            <a:r>
              <a:rPr lang="en-US" altLang="zh-CN"/>
              <a:t>ls</a:t>
            </a:r>
            <a:r>
              <a:rPr lang="zh-CN" altLang="en-US"/>
              <a:t>的选项和参数具体有什么作用呢？首先我们先来看参数。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当</a:t>
            </a:r>
            <a:r>
              <a:rPr lang="en-US" altLang="zh-CN"/>
              <a:t>ls</a:t>
            </a:r>
            <a:r>
              <a:rPr lang="zh-CN" altLang="en-US"/>
              <a:t>不使用参数，表示列出：当前工作目录的内容，即用户的</a:t>
            </a:r>
            <a:r>
              <a:rPr lang="en-US" altLang="zh-CN"/>
              <a:t>HOME</a:t>
            </a:r>
            <a:r>
              <a:rPr lang="zh-CN" altLang="en-US"/>
              <a:t>目录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当使用参数，</a:t>
            </a:r>
            <a:r>
              <a:rPr lang="en-US" altLang="zh-CN">
                <a:sym typeface="+mn-ea"/>
              </a:rPr>
              <a:t>ls</a:t>
            </a:r>
            <a:r>
              <a:rPr lang="zh-CN" altLang="en-US">
                <a:sym typeface="+mn-ea"/>
              </a:rPr>
              <a:t>命令的参数表示：指定一个</a:t>
            </a:r>
            <a:r>
              <a:rPr lang="en-US" altLang="zh-CN">
                <a:sym typeface="+mn-ea"/>
              </a:rPr>
              <a:t>Linux</a:t>
            </a:r>
            <a:r>
              <a:rPr lang="zh-CN" altLang="en-US">
                <a:sym typeface="+mn-ea"/>
              </a:rPr>
              <a:t>路径，列出指定路径的内容</a:t>
            </a:r>
            <a:endParaRPr lang="zh-CN" altLang="en-US"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zh-CN" altLang="en-US"/>
              <a:t>如：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通过</a:t>
            </a:r>
            <a:r>
              <a:rPr lang="en-US" altLang="zh-CN"/>
              <a:t>ls /  </a:t>
            </a:r>
            <a:r>
              <a:rPr lang="zh-CN" altLang="en-US"/>
              <a:t>列出了根目录的内容，我们可以打开</a:t>
            </a:r>
            <a:r>
              <a:rPr lang="en-US" altLang="zh-CN"/>
              <a:t>VMware</a:t>
            </a:r>
            <a:r>
              <a:rPr lang="zh-CN" altLang="en-US"/>
              <a:t>，在</a:t>
            </a:r>
            <a:r>
              <a:rPr lang="en-US" altLang="zh-CN"/>
              <a:t>Linux</a:t>
            </a:r>
            <a:r>
              <a:rPr lang="zh-CN" altLang="en-US"/>
              <a:t>的图形化中对照一下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10000"/>
          <a:stretch>
            <a:fillRect/>
          </a:stretch>
        </p:blipFill>
        <p:spPr>
          <a:xfrm>
            <a:off x="710565" y="2132965"/>
            <a:ext cx="3028950" cy="3073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4224020"/>
            <a:ext cx="6877050" cy="371475"/>
          </a:xfrm>
          <a:prstGeom prst="rect">
            <a:avLst/>
          </a:prstGeom>
        </p:spPr>
      </p:pic>
      <p:pic>
        <p:nvPicPr>
          <p:cNvPr id="5" name="图片 4" descr="01 (43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0245" y="5031740"/>
            <a:ext cx="1671955" cy="16719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ym typeface="+mn-ea"/>
              </a:rPr>
              <a:t>ls</a:t>
            </a:r>
            <a:r>
              <a:rPr>
                <a:sym typeface="+mn-ea"/>
              </a:rPr>
              <a:t>命令的参数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对照一下命令行的结果和图形化查看的结果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r="67776" b="41233"/>
          <a:stretch>
            <a:fillRect/>
          </a:stretch>
        </p:blipFill>
        <p:spPr>
          <a:xfrm>
            <a:off x="824865" y="3001645"/>
            <a:ext cx="2096770" cy="22942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100" y="3001645"/>
            <a:ext cx="5809615" cy="34861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65" y="2138045"/>
            <a:ext cx="6877050" cy="371475"/>
          </a:xfrm>
          <a:prstGeom prst="rect">
            <a:avLst/>
          </a:prstGeom>
        </p:spPr>
      </p:pic>
      <p:pic>
        <p:nvPicPr>
          <p:cNvPr id="7" name="图片 6" descr="01 (44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6775" y="5229225"/>
            <a:ext cx="1453515" cy="145351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ym typeface="+mn-ea"/>
              </a:rPr>
              <a:t>ls </a:t>
            </a:r>
            <a:r>
              <a:rPr>
                <a:sym typeface="+mn-ea"/>
              </a:rPr>
              <a:t>命令的</a:t>
            </a:r>
            <a:r>
              <a:rPr lang="en-US" altLang="zh-CN">
                <a:sym typeface="+mn-ea"/>
              </a:rPr>
              <a:t> -a</a:t>
            </a:r>
            <a:r>
              <a:rPr>
                <a:sym typeface="+mn-ea"/>
              </a:rPr>
              <a:t>选项</a:t>
            </a:r>
            <a:endParaRPr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如下语法，</a:t>
            </a:r>
            <a:r>
              <a:rPr lang="en-US" altLang="zh-CN"/>
              <a:t>ls</a:t>
            </a:r>
            <a:r>
              <a:rPr lang="zh-CN" altLang="en-US"/>
              <a:t>命令是可以使用选项的</a:t>
            </a:r>
            <a:endParaRPr lang="zh-CN" altLang="en-US"/>
          </a:p>
          <a:p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-a</a:t>
            </a:r>
            <a:r>
              <a:rPr lang="zh-CN" altLang="en-US"/>
              <a:t>选项，表示：</a:t>
            </a:r>
            <a:r>
              <a:rPr lang="en-US" altLang="zh-CN"/>
              <a:t>all</a:t>
            </a:r>
            <a:r>
              <a:rPr lang="zh-CN" altLang="en-US"/>
              <a:t>的意思，即列出全部文件（包含隐藏的文件</a:t>
            </a:r>
            <a:r>
              <a:rPr lang="en-US" altLang="zh-CN"/>
              <a:t>/</a:t>
            </a:r>
            <a:r>
              <a:rPr lang="zh-CN" altLang="en-US"/>
              <a:t>文件夹）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可以看到，</a:t>
            </a:r>
            <a:r>
              <a:rPr lang="en-US" altLang="zh-CN"/>
              <a:t>ls -a </a:t>
            </a:r>
            <a:r>
              <a:rPr lang="zh-CN" altLang="en-US"/>
              <a:t>对比</a:t>
            </a:r>
            <a:r>
              <a:rPr lang="en-US" altLang="zh-CN"/>
              <a:t> ls </a:t>
            </a:r>
            <a:r>
              <a:rPr lang="zh-CN" altLang="en-US"/>
              <a:t>列出的内容更多了。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图中以</a:t>
            </a:r>
            <a:r>
              <a:rPr lang="en-US" altLang="zh-CN"/>
              <a:t>.</a:t>
            </a:r>
            <a:r>
              <a:rPr lang="zh-CN" altLang="en-US"/>
              <a:t>开头的，表示是</a:t>
            </a:r>
            <a:r>
              <a:rPr lang="en-US" altLang="zh-CN"/>
              <a:t>Linux</a:t>
            </a:r>
            <a:r>
              <a:rPr lang="zh-CN" altLang="en-US"/>
              <a:t>系统的隐藏文件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文件夹（只要以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开头，就能自动隐藏）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只有通过</a:t>
            </a:r>
            <a:r>
              <a:rPr lang="en-US" altLang="zh-CN"/>
              <a:t>-a</a:t>
            </a:r>
            <a:r>
              <a:rPr lang="zh-CN" altLang="en-US"/>
              <a:t>选项，才能看到这些隐藏的文件</a:t>
            </a:r>
            <a:r>
              <a:rPr lang="en-US" altLang="zh-CN"/>
              <a:t>/</a:t>
            </a:r>
            <a:r>
              <a:rPr lang="zh-CN" altLang="en-US"/>
              <a:t>文件夹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10000"/>
          <a:stretch>
            <a:fillRect/>
          </a:stretch>
        </p:blipFill>
        <p:spPr>
          <a:xfrm>
            <a:off x="786765" y="2162175"/>
            <a:ext cx="3753485" cy="381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765" y="3013710"/>
            <a:ext cx="7829550" cy="1504950"/>
          </a:xfrm>
          <a:prstGeom prst="rect">
            <a:avLst/>
          </a:prstGeom>
        </p:spPr>
      </p:pic>
      <p:pic>
        <p:nvPicPr>
          <p:cNvPr id="6" name="图片 5" descr="01 (45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2940" y="4983480"/>
            <a:ext cx="1713230" cy="17132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ls</a:t>
            </a:r>
            <a:r>
              <a:t>命令的</a:t>
            </a:r>
            <a:r>
              <a:rPr lang="en-US" altLang="zh-CN"/>
              <a:t> -l</a:t>
            </a:r>
            <a:r>
              <a:t>选项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-l</a:t>
            </a:r>
            <a:r>
              <a:rPr lang="zh-CN" altLang="en-US"/>
              <a:t>选项，表示：以列表（竖向排列）的形式展示内容，并展示更多信息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en-US" altLang="zh-CN"/>
          </a:p>
          <a:p>
            <a:pPr>
              <a:buFont typeface="Arial" panose="020B0604020202020204" pitchFamily="34" charset="0"/>
            </a:pPr>
            <a:r>
              <a:rPr lang="en-US" altLang="zh-CN"/>
              <a:t>-l</a:t>
            </a:r>
            <a:r>
              <a:rPr lang="zh-CN" altLang="en-US"/>
              <a:t>选项其实和图形化中，文件夹以列表形式排列是一个意思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10000"/>
          <a:stretch>
            <a:fillRect/>
          </a:stretch>
        </p:blipFill>
        <p:spPr>
          <a:xfrm>
            <a:off x="786765" y="1724025"/>
            <a:ext cx="3753485" cy="381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2355" y="2466975"/>
            <a:ext cx="5699760" cy="34201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765" y="2466975"/>
            <a:ext cx="4972050" cy="3057525"/>
          </a:xfrm>
          <a:prstGeom prst="rect">
            <a:avLst/>
          </a:prstGeom>
        </p:spPr>
      </p:pic>
      <p:pic>
        <p:nvPicPr>
          <p:cNvPr id="5" name="图片 4" descr="01 (47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2490" y="5213985"/>
            <a:ext cx="1468120" cy="14681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ls</a:t>
            </a:r>
            <a:r>
              <a:t>命令选项的组合使用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语法中的选项是可以组合使用的，比如学习的</a:t>
            </a:r>
            <a:r>
              <a:rPr lang="en-US" altLang="zh-CN"/>
              <a:t>-a</a:t>
            </a:r>
            <a:r>
              <a:rPr lang="zh-CN" altLang="en-US"/>
              <a:t>和</a:t>
            </a:r>
            <a:r>
              <a:rPr lang="en-US" altLang="zh-CN"/>
              <a:t>-l</a:t>
            </a:r>
            <a:r>
              <a:rPr lang="zh-CN" altLang="en-US"/>
              <a:t>可以组合应用。</a:t>
            </a:r>
            <a:endParaRPr lang="zh-CN" altLang="en-US"/>
          </a:p>
          <a:p>
            <a:r>
              <a:rPr lang="zh-CN" altLang="en-US"/>
              <a:t>写法：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ls -l -a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ls -la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ls -al</a:t>
            </a:r>
            <a:endParaRPr lang="en-US" altLang="zh-CN"/>
          </a:p>
          <a:p>
            <a:pPr>
              <a:buFont typeface="Arial" panose="020B0604020202020204" pitchFamily="34" charset="0"/>
            </a:pPr>
            <a:r>
              <a:rPr lang="zh-CN" altLang="en-US"/>
              <a:t>上述三种写法，都是一样的，表示同时应用</a:t>
            </a:r>
            <a:r>
              <a:rPr lang="en-US" altLang="zh-CN"/>
              <a:t>-l</a:t>
            </a:r>
            <a:r>
              <a:rPr lang="zh-CN" altLang="en-US"/>
              <a:t>和</a:t>
            </a:r>
            <a:r>
              <a:rPr lang="en-US" altLang="zh-CN"/>
              <a:t>-a</a:t>
            </a:r>
            <a:r>
              <a:rPr lang="zh-CN" altLang="en-US"/>
              <a:t>的功能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2650" y="2174875"/>
            <a:ext cx="3228975" cy="3557905"/>
          </a:xfrm>
          <a:prstGeom prst="rect">
            <a:avLst/>
          </a:prstGeom>
        </p:spPr>
      </p:pic>
      <p:pic>
        <p:nvPicPr>
          <p:cNvPr id="4" name="图片 3" descr="01 (50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8185" y="5073015"/>
            <a:ext cx="1588135" cy="15881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ls</a:t>
            </a:r>
            <a:r>
              <a:t>选项和参数的组合使用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除了选项本身可以组合以外，选项和参数也可以一起使用。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0" y="2157095"/>
            <a:ext cx="4305300" cy="4124325"/>
          </a:xfrm>
          <a:prstGeom prst="rect">
            <a:avLst/>
          </a:prstGeom>
        </p:spPr>
      </p:pic>
      <p:pic>
        <p:nvPicPr>
          <p:cNvPr id="5" name="图片 4" descr="01 (5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6880" y="4751070"/>
            <a:ext cx="1896745" cy="189674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ls </a:t>
            </a:r>
            <a:r>
              <a:t>命令的</a:t>
            </a:r>
            <a:r>
              <a:rPr lang="en-US" altLang="zh-CN"/>
              <a:t> -h</a:t>
            </a:r>
            <a:r>
              <a:t>选项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-h </a:t>
            </a:r>
            <a:r>
              <a:rPr lang="zh-CN" altLang="en-US"/>
              <a:t>表示以易于阅读的形式，列出文件大小，如</a:t>
            </a:r>
            <a:r>
              <a:rPr lang="en-US" altLang="zh-CN"/>
              <a:t>K</a:t>
            </a:r>
            <a:r>
              <a:rPr lang="zh-CN" altLang="en-US"/>
              <a:t>、</a:t>
            </a:r>
            <a:r>
              <a:rPr lang="en-US" altLang="zh-CN"/>
              <a:t>M</a:t>
            </a:r>
            <a:r>
              <a:rPr lang="zh-CN" altLang="en-US"/>
              <a:t>、</a:t>
            </a:r>
            <a:r>
              <a:rPr lang="en-US" altLang="zh-CN"/>
              <a:t>G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-h</a:t>
            </a:r>
            <a:r>
              <a:rPr lang="zh-CN" altLang="en-US"/>
              <a:t>选项必须要搭配</a:t>
            </a:r>
            <a:r>
              <a:rPr lang="en-US" altLang="zh-CN"/>
              <a:t> -l </a:t>
            </a:r>
            <a:r>
              <a:rPr lang="zh-CN" altLang="en-US"/>
              <a:t>一起使用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10000"/>
          <a:stretch>
            <a:fillRect/>
          </a:stretch>
        </p:blipFill>
        <p:spPr>
          <a:xfrm>
            <a:off x="786765" y="1724025"/>
            <a:ext cx="3753485" cy="381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15" y="3033395"/>
            <a:ext cx="3468370" cy="33229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065" y="3033395"/>
            <a:ext cx="3714750" cy="3307080"/>
          </a:xfrm>
          <a:prstGeom prst="rect">
            <a:avLst/>
          </a:prstGeom>
        </p:spPr>
      </p:pic>
      <p:sp>
        <p:nvSpPr>
          <p:cNvPr id="7" name="右箭头 6"/>
          <p:cNvSpPr/>
          <p:nvPr/>
        </p:nvSpPr>
        <p:spPr>
          <a:xfrm>
            <a:off x="4606925" y="4494530"/>
            <a:ext cx="1714500" cy="400050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使用</a:t>
            </a:r>
            <a:r>
              <a:rPr lang="en-US" altLang="zh-CN" sz="1600"/>
              <a:t>-h</a:t>
            </a:r>
            <a:r>
              <a:rPr lang="zh-CN" altLang="en-US" sz="1600"/>
              <a:t>选项后</a:t>
            </a:r>
            <a:endParaRPr lang="zh-CN" altLang="en-US" sz="1600"/>
          </a:p>
        </p:txBody>
      </p:sp>
      <p:pic>
        <p:nvPicPr>
          <p:cNvPr id="8" name="图片 7" descr="01 (53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6560" y="4795520"/>
            <a:ext cx="1851660" cy="18516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355" y="1463040"/>
            <a:ext cx="6474460" cy="4511040"/>
          </a:xfrm>
        </p:spPr>
        <p:txBody>
          <a:bodyPr/>
          <a:p>
            <a:pPr marL="0" indent="0">
              <a:lnSpc>
                <a:spcPct val="140000"/>
              </a:lnSpc>
              <a:buNone/>
            </a:pPr>
            <a:r>
              <a:rPr lang="en-US" altLang="zh-CN"/>
              <a:t>1. Linux</a:t>
            </a:r>
            <a:r>
              <a:rPr lang="zh-CN" altLang="en-US"/>
              <a:t>命令的基础格式</a:t>
            </a:r>
            <a:endParaRPr lang="zh-CN" altLang="en-US"/>
          </a:p>
          <a:p>
            <a:pPr marL="0" indent="0">
              <a:lnSpc>
                <a:spcPct val="140000"/>
              </a:lnSpc>
              <a:buNone/>
            </a:pPr>
            <a:endParaRPr lang="zh-CN" altLang="en-US"/>
          </a:p>
          <a:p>
            <a:pPr marL="0" indent="0">
              <a:lnSpc>
                <a:spcPct val="140000"/>
              </a:lnSpc>
              <a:buNone/>
            </a:pPr>
            <a:r>
              <a:rPr lang="en-US" altLang="zh-CN"/>
              <a:t>2. ls</a:t>
            </a:r>
            <a:r>
              <a:rPr lang="zh-CN" altLang="en-US"/>
              <a:t>命令的语法和作用</a:t>
            </a:r>
            <a:endParaRPr lang="zh-CN" altLang="en-US"/>
          </a:p>
          <a:p>
            <a:pPr marL="0" indent="0">
              <a:lnSpc>
                <a:spcPct val="140000"/>
              </a:lnSpc>
              <a:buNone/>
            </a:pPr>
            <a:endParaRPr lang="zh-CN" altLang="en-US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400"/>
              <a:t>-a</a:t>
            </a:r>
            <a:r>
              <a:rPr lang="zh-CN" altLang="en-US" sz="1400"/>
              <a:t>列出全部内容、</a:t>
            </a:r>
            <a:r>
              <a:rPr lang="en-US" altLang="zh-CN" sz="1400"/>
              <a:t>-l</a:t>
            </a:r>
            <a:r>
              <a:rPr lang="zh-CN" altLang="en-US" sz="1400"/>
              <a:t>以列表展示、</a:t>
            </a:r>
            <a:r>
              <a:rPr lang="en-US" altLang="zh-CN" sz="1400"/>
              <a:t>-h</a:t>
            </a:r>
            <a:r>
              <a:rPr lang="zh-CN" altLang="en-US" sz="1400"/>
              <a:t>更易读的大小显示</a:t>
            </a:r>
            <a:endParaRPr lang="zh-CN" altLang="en-US" sz="14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参数表示要列出内容的路径，不提供即列出当前工作目录内容</a:t>
            </a:r>
            <a:endParaRPr lang="zh-CN" altLang="en-US" sz="1400"/>
          </a:p>
          <a:p>
            <a:pPr marL="0" algn="l">
              <a:lnSpc>
                <a:spcPct val="140000"/>
              </a:lnSpc>
              <a:buNone/>
            </a:pPr>
            <a:r>
              <a:rPr lang="zh-CN" altLang="en-US" sz="1800">
                <a:sym typeface="+mn-ea"/>
              </a:rPr>
              <a:t>3. 当前工作目录和HOME目录</a:t>
            </a:r>
            <a:endParaRPr lang="zh-CN" altLang="en-US" sz="18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sym typeface="+mn-ea"/>
              </a:rPr>
              <a:t>Linux终端（命令行）启动后默认价值HOME目录作为当前工作的目录</a:t>
            </a:r>
            <a:endParaRPr sz="14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sym typeface="+mn-ea"/>
              </a:rPr>
              <a:t>HOME目录指：用户在系统内的专属目录</a:t>
            </a:r>
            <a:endParaRPr sz="1400">
              <a:sym typeface="+mn-ea"/>
            </a:endParaRPr>
          </a:p>
          <a:p>
            <a:pPr marL="0" algn="l">
              <a:lnSpc>
                <a:spcPct val="140000"/>
              </a:lnSpc>
              <a:buNone/>
            </a:pPr>
            <a:r>
              <a:rPr lang="zh-CN" altLang="en-US" sz="1800">
                <a:sym typeface="+mn-ea"/>
              </a:rPr>
              <a:t>4. 隐藏文件\文件夹</a:t>
            </a:r>
            <a:endParaRPr lang="zh-CN" altLang="en-US" sz="18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>
                <a:sym typeface="+mn-ea"/>
              </a:rPr>
              <a:t>在</a:t>
            </a:r>
            <a:r>
              <a:rPr lang="en-US" altLang="zh-CN" sz="1400">
                <a:sym typeface="+mn-ea"/>
              </a:rPr>
              <a:t>Linux</a:t>
            </a:r>
            <a:r>
              <a:rPr lang="zh-CN" altLang="en-US" sz="1400">
                <a:sym typeface="+mn-ea"/>
              </a:rPr>
              <a:t>系统中，以</a:t>
            </a:r>
            <a:r>
              <a:rPr lang="en-US" altLang="zh-CN" sz="1400">
                <a:sym typeface="+mn-ea"/>
              </a:rPr>
              <a:t>”.”</a:t>
            </a:r>
            <a:r>
              <a:rPr lang="zh-CN" altLang="en-US" sz="1400">
                <a:sym typeface="+mn-ea"/>
              </a:rPr>
              <a:t>开头的文件</a:t>
            </a:r>
            <a:r>
              <a:rPr lang="en-US" altLang="zh-CN" sz="1400">
                <a:sym typeface="+mn-ea"/>
              </a:rPr>
              <a:t>\</a:t>
            </a:r>
            <a:r>
              <a:rPr lang="zh-CN" altLang="en-US" sz="1400">
                <a:sym typeface="+mn-ea"/>
              </a:rPr>
              <a:t>文件夹会自动隐藏</a:t>
            </a:r>
            <a:endParaRPr lang="zh-CN" altLang="en-US" sz="14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>
                <a:sym typeface="+mn-ea"/>
              </a:rPr>
              <a:t>只有通过</a:t>
            </a:r>
            <a:r>
              <a:rPr lang="en-US" altLang="zh-CN" sz="1400">
                <a:sym typeface="+mn-ea"/>
              </a:rPr>
              <a:t>-a</a:t>
            </a:r>
            <a:r>
              <a:rPr lang="zh-CN" altLang="en-US" sz="1400">
                <a:sym typeface="+mn-ea"/>
              </a:rPr>
              <a:t>选项才可以展示出来</a:t>
            </a:r>
            <a:endParaRPr sz="1400">
              <a:sym typeface="+mn-ea"/>
            </a:endParaRPr>
          </a:p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endParaRPr lang="zh-CN" altLang="en-US" sz="1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10000"/>
          <a:stretch>
            <a:fillRect/>
          </a:stretch>
        </p:blipFill>
        <p:spPr>
          <a:xfrm>
            <a:off x="5345430" y="2305050"/>
            <a:ext cx="3324860" cy="3371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5430" y="1463040"/>
            <a:ext cx="3028950" cy="35242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27930" y="1029335"/>
            <a:ext cx="5973445" cy="4631055"/>
          </a:xfrm>
        </p:spPr>
        <p:txBody>
          <a:bodyPr/>
          <a:lstStyle/>
          <a:p>
            <a:pPr algn="l"/>
            <a:r>
              <a:rPr kumimoji="1" lang="en-US" altLang="zh-CN" sz="1600" dirty="0">
                <a:sym typeface="+mn-ea"/>
              </a:rPr>
              <a:t>Linux的目录结构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Linux命令入门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rgbClr val="FF0000"/>
                </a:solidFill>
                <a:sym typeface="+mn-ea"/>
              </a:rPr>
              <a:t>目录切换相关命令(cd/pwd)</a:t>
            </a:r>
            <a:endParaRPr kumimoji="1" lang="en-US" altLang="zh-CN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相对路径、绝对路径和特殊路径符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创建目录命令(mkdir)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文件操作命令</a:t>
            </a:r>
            <a:r>
              <a:rPr kumimoji="1" lang="en-US" altLang="zh-CN" sz="1600" dirty="0">
                <a:sym typeface="+mn-ea"/>
              </a:rPr>
              <a:t>part1(touch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cat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more</a:t>
            </a:r>
            <a:r>
              <a:rPr kumimoji="1" lang="zh-CN" altLang="en-US" sz="1600" dirty="0">
                <a:sym typeface="+mn-ea"/>
              </a:rPr>
              <a:t>）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文件操作命令part2(cp、mv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rm）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查找命令(which、find）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grep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wc</a:t>
            </a:r>
            <a:r>
              <a:rPr kumimoji="1" lang="zh-CN" altLang="en-US" sz="1600" dirty="0">
                <a:sym typeface="+mn-ea"/>
              </a:rPr>
              <a:t>和管道符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echo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tail</a:t>
            </a:r>
            <a:r>
              <a:rPr kumimoji="1" lang="zh-CN" altLang="en-US" sz="1600" dirty="0">
                <a:sym typeface="+mn-ea"/>
              </a:rPr>
              <a:t>和重定向符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vi</a:t>
            </a:r>
            <a:r>
              <a:rPr kumimoji="1" lang="zh-CN" altLang="en-US" sz="1600" dirty="0">
                <a:sym typeface="+mn-ea"/>
              </a:rPr>
              <a:t>编辑器</a:t>
            </a:r>
            <a:endParaRPr kumimoji="1" lang="zh-CN" altLang="en-US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62941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r>
              <a:rPr lang="zh-CN">
                <a:solidFill>
                  <a:srgbClr val="FF0000"/>
                </a:solidFill>
              </a:rPr>
              <a:t>掌握</a:t>
            </a:r>
            <a:r>
              <a:rPr lang="en-US" altLang="zh-CN">
                <a:solidFill>
                  <a:srgbClr val="FF0000"/>
                </a:solidFill>
              </a:rPr>
              <a:t>cd</a:t>
            </a:r>
            <a:r>
              <a:rPr lang="zh-CN" altLang="en-US">
                <a:solidFill>
                  <a:srgbClr val="FF0000"/>
                </a:solidFill>
              </a:rPr>
              <a:t>切换工作目录命令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掌握</a:t>
            </a:r>
            <a:r>
              <a:rPr lang="en-US" altLang="zh-CN">
                <a:solidFill>
                  <a:srgbClr val="FF0000"/>
                </a:solidFill>
              </a:rPr>
              <a:t>pwd</a:t>
            </a:r>
            <a:r>
              <a:rPr lang="zh-CN" altLang="en-US">
                <a:solidFill>
                  <a:srgbClr val="FF0000"/>
                </a:solidFill>
              </a:rPr>
              <a:t>展示当前工作目录命令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cd </a:t>
            </a:r>
            <a:r>
              <a:t>切换工作目录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当</a:t>
            </a:r>
            <a:r>
              <a:rPr lang="en-US" altLang="zh-CN"/>
              <a:t>Linux</a:t>
            </a:r>
            <a:r>
              <a:rPr lang="zh-CN" altLang="en-US"/>
              <a:t>终端（命令行）打开的时候，会默认以用户的</a:t>
            </a:r>
            <a:r>
              <a:rPr lang="en-US" altLang="zh-CN"/>
              <a:t>HOME</a:t>
            </a:r>
            <a:r>
              <a:rPr lang="zh-CN" altLang="en-US"/>
              <a:t>目录作为当前的工作目录</a:t>
            </a:r>
            <a:endParaRPr lang="zh-CN" altLang="en-US"/>
          </a:p>
          <a:p>
            <a:r>
              <a:rPr lang="zh-CN" altLang="en-US"/>
              <a:t>我们可以通过</a:t>
            </a:r>
            <a:r>
              <a:rPr lang="en-US" altLang="zh-CN"/>
              <a:t>cd</a:t>
            </a:r>
            <a:r>
              <a:rPr lang="zh-CN" altLang="en-US"/>
              <a:t>命令，更改当前所在的工作目录。</a:t>
            </a:r>
            <a:endParaRPr lang="zh-CN" altLang="en-US"/>
          </a:p>
          <a:p>
            <a:r>
              <a:rPr lang="en-US" altLang="zh-CN"/>
              <a:t>cd</a:t>
            </a:r>
            <a:r>
              <a:rPr lang="zh-CN" altLang="en-US"/>
              <a:t>命令来自英文：</a:t>
            </a:r>
            <a:r>
              <a:rPr lang="en-US" altLang="zh-CN">
                <a:solidFill>
                  <a:srgbClr val="FF0000"/>
                </a:solidFill>
              </a:rPr>
              <a:t>C</a:t>
            </a:r>
            <a:r>
              <a:rPr lang="en-US" altLang="zh-CN"/>
              <a:t>hange </a:t>
            </a:r>
            <a:r>
              <a:rPr lang="en-US" altLang="zh-CN">
                <a:solidFill>
                  <a:srgbClr val="FF0000"/>
                </a:solidFill>
              </a:rPr>
              <a:t>D</a:t>
            </a:r>
            <a:r>
              <a:rPr lang="en-US" altLang="zh-CN"/>
              <a:t>irectory</a:t>
            </a:r>
            <a:endParaRPr lang="en-US" altLang="zh-CN"/>
          </a:p>
          <a:p>
            <a:r>
              <a:rPr lang="zh-CN" altLang="en-US"/>
              <a:t>语法：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cd</a:t>
            </a:r>
            <a:r>
              <a:rPr lang="zh-CN" altLang="en-US"/>
              <a:t>命令无需选项，只有参数，表示要切换到哪个目录下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cd</a:t>
            </a:r>
            <a:r>
              <a:rPr lang="zh-CN" altLang="en-US"/>
              <a:t>命令直接执行，不写参数，表示回到用户的</a:t>
            </a:r>
            <a:r>
              <a:rPr lang="en-US" altLang="zh-CN"/>
              <a:t>HOME</a:t>
            </a:r>
            <a:r>
              <a:rPr lang="zh-CN" altLang="en-US"/>
              <a:t>目录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265" y="2980690"/>
            <a:ext cx="1640840" cy="3460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10" y="4250055"/>
            <a:ext cx="7000875" cy="14859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pwd </a:t>
            </a:r>
            <a:r>
              <a:t>查看当前工作目录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通过</a:t>
            </a:r>
            <a:r>
              <a:rPr lang="en-US" altLang="zh-CN"/>
              <a:t>ls</a:t>
            </a:r>
            <a:r>
              <a:rPr lang="zh-CN" altLang="en-US"/>
              <a:t>来验证当前的工作目录，其实是不恰当的。</a:t>
            </a:r>
            <a:endParaRPr lang="zh-CN" altLang="en-US"/>
          </a:p>
          <a:p>
            <a:r>
              <a:rPr lang="zh-CN" altLang="en-US"/>
              <a:t>我们可以通过</a:t>
            </a:r>
            <a:r>
              <a:rPr lang="en-US" altLang="zh-CN"/>
              <a:t>pwd</a:t>
            </a:r>
            <a:r>
              <a:rPr lang="zh-CN" altLang="en-US"/>
              <a:t>命令，来查看当前所在的工作目录。</a:t>
            </a:r>
            <a:endParaRPr lang="zh-CN" altLang="en-US"/>
          </a:p>
          <a:p>
            <a:r>
              <a:rPr lang="en-US" altLang="zh-CN"/>
              <a:t>pwd</a:t>
            </a:r>
            <a:r>
              <a:rPr lang="zh-CN" altLang="en-US"/>
              <a:t>命令来自：</a:t>
            </a:r>
            <a:r>
              <a:rPr lang="en-US" altLang="zh-CN">
                <a:solidFill>
                  <a:srgbClr val="FF0000"/>
                </a:solidFill>
              </a:rPr>
              <a:t>P</a:t>
            </a:r>
            <a:r>
              <a:rPr lang="en-US" altLang="zh-CN"/>
              <a:t>rint </a:t>
            </a:r>
            <a:r>
              <a:rPr lang="en-US" altLang="zh-CN">
                <a:solidFill>
                  <a:srgbClr val="FF0000"/>
                </a:solidFill>
              </a:rPr>
              <a:t>W</a:t>
            </a:r>
            <a:r>
              <a:rPr lang="en-US" altLang="zh-CN"/>
              <a:t>ork </a:t>
            </a:r>
            <a:r>
              <a:rPr lang="en-US" altLang="zh-CN">
                <a:solidFill>
                  <a:srgbClr val="FF0000"/>
                </a:solidFill>
              </a:rPr>
              <a:t>D</a:t>
            </a:r>
            <a:r>
              <a:rPr lang="en-US" altLang="zh-CN"/>
              <a:t>irectory</a:t>
            </a:r>
            <a:endParaRPr lang="en-US" altLang="zh-CN"/>
          </a:p>
          <a:p>
            <a:r>
              <a:rPr lang="zh-CN" altLang="en-US"/>
              <a:t>语法：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pwd</a:t>
            </a:r>
            <a:r>
              <a:rPr lang="zh-CN" altLang="en-US"/>
              <a:t>命令，无选项，无参数，直接输入</a:t>
            </a:r>
            <a:r>
              <a:rPr lang="en-US" altLang="zh-CN"/>
              <a:t>pwd</a:t>
            </a:r>
            <a:r>
              <a:rPr lang="zh-CN" altLang="en-US"/>
              <a:t>即可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8745" y="2961005"/>
            <a:ext cx="492760" cy="3365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" y="3869690"/>
            <a:ext cx="2085975" cy="143827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355" y="1463040"/>
            <a:ext cx="6474460" cy="4511040"/>
          </a:xfrm>
        </p:spPr>
        <p:txBody>
          <a:bodyPr/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/>
              <a:t>1. cd</a:t>
            </a:r>
            <a:r>
              <a:rPr lang="zh-CN" altLang="en-US"/>
              <a:t>命令的作用</a:t>
            </a:r>
            <a:endParaRPr lang="zh-CN" altLang="en-US" sz="14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400"/>
              <a:t>cd</a:t>
            </a:r>
            <a:r>
              <a:rPr lang="zh-CN" altLang="en-US" sz="1400"/>
              <a:t>命令来自英文：</a:t>
            </a:r>
            <a:r>
              <a:rPr lang="en-US" altLang="zh-CN" sz="1400">
                <a:solidFill>
                  <a:srgbClr val="FF0000"/>
                </a:solidFill>
              </a:rPr>
              <a:t>C</a:t>
            </a:r>
            <a:r>
              <a:rPr lang="en-US" altLang="zh-CN" sz="1400"/>
              <a:t>hange </a:t>
            </a:r>
            <a:r>
              <a:rPr lang="en-US" altLang="zh-CN" sz="1400">
                <a:solidFill>
                  <a:srgbClr val="FF0000"/>
                </a:solidFill>
              </a:rPr>
              <a:t>D</a:t>
            </a:r>
            <a:r>
              <a:rPr lang="en-US" altLang="zh-CN" sz="1400"/>
              <a:t>irectory</a:t>
            </a:r>
            <a:endParaRPr lang="en-US" altLang="zh-CN" sz="14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400"/>
              <a:t>cd</a:t>
            </a:r>
            <a:r>
              <a:rPr lang="zh-CN" altLang="en-US" sz="1400"/>
              <a:t>命令可以切换当前工作目录，语法是：</a:t>
            </a:r>
            <a:endParaRPr lang="zh-CN" altLang="en-US" sz="14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zh-CN" altLang="en-US" sz="1400"/>
          </a:p>
          <a:p>
            <a:pPr marL="742950" lvl="1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0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没有选项，只有参数，表示目标路径</a:t>
            </a:r>
            <a:endParaRPr lang="zh-CN" altLang="en-US" sz="10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742950" lvl="1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0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使用参数，切换到指定路径</a:t>
            </a:r>
            <a:endParaRPr lang="zh-CN" altLang="en-US" sz="10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742950" lvl="1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0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不使用参数，切换工作目录到当前用户的</a:t>
            </a:r>
            <a:r>
              <a:rPr lang="en-US" altLang="zh-CN" sz="10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HOME</a:t>
            </a:r>
            <a:endParaRPr lang="en-US" altLang="zh-CN" sz="10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0" lv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2. pwd</a:t>
            </a:r>
            <a:r>
              <a:rPr lang="zh-CN" altLang="en-US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命令的作用</a:t>
            </a:r>
            <a:endParaRPr lang="zh-CN" altLang="en-US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lvl="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pwd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命令来自英文：</a:t>
            </a:r>
            <a:r>
              <a:rPr lang="en-US" altLang="zh-CN" sz="1400" b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P</a:t>
            </a: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rint </a:t>
            </a:r>
            <a:r>
              <a:rPr lang="en-US" altLang="zh-CN" sz="1400" b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W</a:t>
            </a: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ork </a:t>
            </a:r>
            <a:r>
              <a:rPr lang="en-US" altLang="zh-CN" sz="1400" b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D</a:t>
            </a: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irectory</a:t>
            </a:r>
            <a:endParaRPr lang="en-US" altLang="zh-CN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lvl="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pwd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命令，没有选项，没有参数，直接使用即可</a:t>
            </a:r>
            <a:endParaRPr lang="zh-CN" altLang="en-US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lvl="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作用是：输出当前所在的工作目录</a:t>
            </a:r>
            <a:endParaRPr lang="en-US" altLang="zh-CN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3080" y="2998470"/>
            <a:ext cx="1640840" cy="34607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课后练习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请使用</a:t>
            </a:r>
            <a:r>
              <a:rPr lang="en-US" altLang="zh-CN"/>
              <a:t>cd</a:t>
            </a:r>
            <a:r>
              <a:rPr lang="zh-CN" altLang="en-US"/>
              <a:t>命令并结合</a:t>
            </a:r>
            <a:r>
              <a:rPr lang="en-US" altLang="zh-CN"/>
              <a:t>ls</a:t>
            </a:r>
            <a:r>
              <a:rPr lang="zh-CN" altLang="en-US"/>
              <a:t>命令，任意在</a:t>
            </a:r>
            <a:r>
              <a:rPr lang="en-US" altLang="zh-CN"/>
              <a:t>Linux</a:t>
            </a:r>
            <a:r>
              <a:rPr lang="zh-CN" altLang="en-US"/>
              <a:t>文件系统内探索。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并尝试找出名字叫做</a:t>
            </a:r>
            <a:r>
              <a:rPr lang="en-US" altLang="zh-CN"/>
              <a:t>games</a:t>
            </a:r>
            <a:r>
              <a:rPr lang="zh-CN" altLang="en-US"/>
              <a:t>的文件夹在哪里。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参考答案：</a:t>
            </a:r>
            <a:endParaRPr lang="zh-CN" altLang="en-US"/>
          </a:p>
          <a:p>
            <a:r>
              <a:rPr lang="zh-CN" altLang="en-US" sz="1200"/>
              <a:t>/var/lib/games</a:t>
            </a:r>
            <a:endParaRPr lang="zh-CN" altLang="en-US" sz="1200"/>
          </a:p>
          <a:p>
            <a:r>
              <a:rPr lang="zh-CN" altLang="en-US" sz="1200"/>
              <a:t>/var/games</a:t>
            </a:r>
            <a:endParaRPr lang="zh-CN" altLang="en-US" sz="1200"/>
          </a:p>
          <a:p>
            <a:r>
              <a:rPr lang="zh-CN" altLang="en-US" sz="1200"/>
              <a:t>/usr/lib/games</a:t>
            </a:r>
            <a:endParaRPr lang="zh-CN" altLang="en-US" sz="1200"/>
          </a:p>
          <a:p>
            <a:r>
              <a:rPr lang="zh-CN" altLang="en-US" sz="1200"/>
              <a:t>/usr/lib64/games</a:t>
            </a:r>
            <a:endParaRPr lang="zh-CN" altLang="en-US" sz="1200"/>
          </a:p>
          <a:p>
            <a:r>
              <a:rPr lang="zh-CN" altLang="en-US" sz="1200"/>
              <a:t>/usr/share/games</a:t>
            </a:r>
            <a:endParaRPr lang="zh-CN" altLang="en-US" sz="1200"/>
          </a:p>
          <a:p>
            <a:r>
              <a:rPr lang="zh-CN" altLang="en-US" sz="1200"/>
              <a:t>/usr/games</a:t>
            </a:r>
            <a:endParaRPr lang="zh-CN" altLang="en-US" sz="1200"/>
          </a:p>
          <a:p>
            <a:r>
              <a:rPr lang="zh-CN" altLang="en-US" sz="1200"/>
              <a:t>/usr/local/games</a:t>
            </a:r>
            <a:endParaRPr lang="zh-CN" altLang="en-US" sz="1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27930" y="1029335"/>
            <a:ext cx="5973445" cy="4631055"/>
          </a:xfrm>
        </p:spPr>
        <p:txBody>
          <a:bodyPr/>
          <a:lstStyle/>
          <a:p>
            <a:pPr algn="l"/>
            <a:r>
              <a:rPr kumimoji="1" lang="en-US" altLang="zh-CN" sz="1600" dirty="0">
                <a:sym typeface="+mn-ea"/>
              </a:rPr>
              <a:t>Linux的目录结构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Linux命令入门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目录切换相关命令(cd/pwd)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rgbClr val="FF0000"/>
                </a:solidFill>
                <a:sym typeface="+mn-ea"/>
              </a:rPr>
              <a:t>相对路径、绝对路径和特殊路径符</a:t>
            </a:r>
            <a:endParaRPr kumimoji="1" lang="en-US" altLang="zh-CN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创建目录命令(mkdir)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文件操作命令</a:t>
            </a:r>
            <a:r>
              <a:rPr kumimoji="1" lang="en-US" altLang="zh-CN" sz="1600" dirty="0">
                <a:sym typeface="+mn-ea"/>
              </a:rPr>
              <a:t>part1(touch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cat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more</a:t>
            </a:r>
            <a:r>
              <a:rPr kumimoji="1" lang="zh-CN" altLang="en-US" sz="1600" dirty="0">
                <a:sym typeface="+mn-ea"/>
              </a:rPr>
              <a:t>）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文件操作命令part2(cp、mv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rm）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查找命令(which、find）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grep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wc</a:t>
            </a:r>
            <a:r>
              <a:rPr kumimoji="1" lang="zh-CN" altLang="en-US" sz="1600" dirty="0">
                <a:sym typeface="+mn-ea"/>
              </a:rPr>
              <a:t>和管道符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echo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tail</a:t>
            </a:r>
            <a:r>
              <a:rPr kumimoji="1" lang="zh-CN" altLang="en-US" sz="1600" dirty="0">
                <a:sym typeface="+mn-ea"/>
              </a:rPr>
              <a:t>和重定向符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vi</a:t>
            </a:r>
            <a:r>
              <a:rPr kumimoji="1" lang="zh-CN" altLang="en-US" sz="1600" dirty="0">
                <a:sym typeface="+mn-ea"/>
              </a:rPr>
              <a:t>编辑器</a:t>
            </a:r>
            <a:endParaRPr kumimoji="1" lang="zh-CN" altLang="en-US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2148205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r>
              <a:rPr lang="zh-CN">
                <a:solidFill>
                  <a:srgbClr val="FF0000"/>
                </a:solidFill>
              </a:rPr>
              <a:t>掌握相对路径和绝对路径的概念和写法</a:t>
            </a:r>
            <a:endParaRPr lang="zh-CN">
              <a:solidFill>
                <a:srgbClr val="FF0000"/>
              </a:solidFill>
            </a:endParaRPr>
          </a:p>
          <a:p>
            <a:r>
              <a:rPr lang="zh-CN">
                <a:solidFill>
                  <a:srgbClr val="FF0000"/>
                </a:solidFill>
              </a:rPr>
              <a:t>掌握几种特殊的路径表示符</a:t>
            </a:r>
            <a:endParaRPr lang="zh-CN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相对路径和绝对路径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endParaRPr lang="zh-CN" altLang="en-US" sz="1400"/>
          </a:p>
          <a:p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如图，通过</a:t>
            </a:r>
            <a:r>
              <a:rPr lang="en-US" altLang="zh-CN" sz="1400"/>
              <a:t>pwd</a:t>
            </a:r>
            <a:r>
              <a:rPr lang="zh-CN" altLang="en-US" sz="1400"/>
              <a:t>得知当前所在是</a:t>
            </a:r>
            <a:r>
              <a:rPr lang="en-US" altLang="zh-CN" sz="1400"/>
              <a:t>HOME</a:t>
            </a:r>
            <a:r>
              <a:rPr lang="zh-CN" altLang="en-US" sz="1400"/>
              <a:t>目录：</a:t>
            </a:r>
            <a:r>
              <a:rPr lang="en-US" altLang="zh-CN" sz="1400"/>
              <a:t>/home/itheima</a:t>
            </a:r>
            <a:endParaRPr lang="en-US" altLang="zh-CN" sz="1400"/>
          </a:p>
          <a:p>
            <a:r>
              <a:rPr lang="zh-CN" altLang="en-US" sz="1400"/>
              <a:t>现在想要通过</a:t>
            </a:r>
            <a:r>
              <a:rPr lang="en-US" altLang="zh-CN" sz="1400"/>
              <a:t>cd</a:t>
            </a:r>
            <a:r>
              <a:rPr lang="zh-CN" altLang="en-US" sz="1400"/>
              <a:t>命令，切换工作目录到</a:t>
            </a:r>
            <a:r>
              <a:rPr lang="en-US" altLang="zh-CN" sz="1400"/>
              <a:t>Desktop</a:t>
            </a:r>
            <a:r>
              <a:rPr lang="zh-CN" altLang="en-US" sz="1400"/>
              <a:t>文件夹中去。</a:t>
            </a:r>
            <a:endParaRPr lang="zh-CN" altLang="en-US" sz="1400"/>
          </a:p>
          <a:p>
            <a:r>
              <a:rPr lang="zh-CN" altLang="en-US" sz="1400"/>
              <a:t>那么，</a:t>
            </a:r>
            <a:r>
              <a:rPr lang="en-US" altLang="zh-CN" sz="1400"/>
              <a:t>cd</a:t>
            </a:r>
            <a:r>
              <a:rPr lang="zh-CN" altLang="en-US" sz="1400"/>
              <a:t>命令的参数（</a:t>
            </a:r>
            <a:r>
              <a:rPr lang="en-US" altLang="zh-CN" sz="1400"/>
              <a:t>Linux</a:t>
            </a:r>
            <a:r>
              <a:rPr lang="zh-CN" altLang="en-US" sz="1400"/>
              <a:t>路径）如何写呢？</a:t>
            </a:r>
            <a:endParaRPr lang="zh-CN" altLang="en-US" sz="1400"/>
          </a:p>
          <a:p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cd /home/itheima/Desktop</a:t>
            </a:r>
            <a:endParaRPr lang="en-US" altLang="zh-CN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cd Desktop</a:t>
            </a:r>
            <a:endParaRPr lang="en-US" altLang="zh-CN" sz="1400"/>
          </a:p>
          <a:p>
            <a:pPr>
              <a:buFont typeface="Arial" panose="020B0604020202020204" pitchFamily="34" charset="0"/>
            </a:pPr>
            <a:r>
              <a:rPr lang="zh-CN" altLang="en-US" sz="1400"/>
              <a:t>上述两种写法，都可以正确的切换目录到指定的</a:t>
            </a:r>
            <a:r>
              <a:rPr lang="en-US" altLang="zh-CN" sz="1400"/>
              <a:t>Desktop</a:t>
            </a:r>
            <a:r>
              <a:rPr lang="zh-CN" altLang="en-US" sz="1400"/>
              <a:t>中。</a:t>
            </a:r>
            <a:endParaRPr lang="zh-CN" altLang="en-US" sz="1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1656080"/>
            <a:ext cx="4953000" cy="9334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相对路径和绝对路径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cd /home/itheima/Desktop	</a:t>
            </a:r>
            <a:r>
              <a:rPr lang="zh-CN" altLang="en-US">
                <a:sym typeface="+mn-ea"/>
              </a:rPr>
              <a:t>绝对路径写法</a:t>
            </a: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cd Desktop			</a:t>
            </a:r>
            <a:r>
              <a:rPr lang="zh-CN" altLang="en-US">
                <a:sym typeface="+mn-ea"/>
              </a:rPr>
              <a:t>相对路径写法</a:t>
            </a: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zh-CN" altLang="en-US">
                <a:sym typeface="+mn-ea"/>
              </a:rPr>
              <a:t>绝对路径：以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根目录为起点</a:t>
            </a:r>
            <a:r>
              <a:rPr lang="zh-CN" altLang="en-US">
                <a:sym typeface="+mn-ea"/>
              </a:rPr>
              <a:t>，描述路径的一种写法，路径描述以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开头</a:t>
            </a:r>
            <a:endParaRPr lang="zh-CN" altLang="en-US"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zh-CN" altLang="en-US">
                <a:sym typeface="+mn-ea"/>
              </a:rPr>
              <a:t>相对路径：以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当前目录为起点</a:t>
            </a:r>
            <a:r>
              <a:rPr lang="zh-CN" altLang="en-US">
                <a:sym typeface="+mn-ea"/>
              </a:rPr>
              <a:t>，描述路径的一种写法，路径描述无需以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开头</a:t>
            </a:r>
            <a:endParaRPr lang="zh-CN" altLang="en-US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470" y="2169160"/>
            <a:ext cx="4105275" cy="6286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70" y="3382645"/>
            <a:ext cx="6991350" cy="155257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特殊路径符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endParaRPr lang="zh-CN" altLang="en-US"/>
          </a:p>
          <a:p>
            <a:r>
              <a:rPr lang="zh-CN" altLang="en-US"/>
              <a:t>如图，当前工作目录处于：</a:t>
            </a:r>
            <a:r>
              <a:rPr lang="en-US" altLang="zh-CN"/>
              <a:t>/home/itheima/Desktop</a:t>
            </a:r>
            <a:endParaRPr lang="en-US" altLang="zh-CN"/>
          </a:p>
          <a:p>
            <a:r>
              <a:rPr lang="zh-CN" altLang="en-US"/>
              <a:t>现在想要，向上回退一级，切换目录到</a:t>
            </a:r>
            <a:r>
              <a:rPr lang="en-US" altLang="zh-CN"/>
              <a:t>/home/itheima</a:t>
            </a:r>
            <a:r>
              <a:rPr lang="zh-CN" altLang="en-US"/>
              <a:t>中，如何做？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可以直接通过</a:t>
            </a:r>
            <a:r>
              <a:rPr lang="en-US" altLang="zh-CN"/>
              <a:t>cd</a:t>
            </a:r>
            <a:r>
              <a:rPr lang="zh-CN" altLang="en-US"/>
              <a:t>，即可回到</a:t>
            </a:r>
            <a:r>
              <a:rPr lang="en-US" altLang="zh-CN"/>
              <a:t>HOME</a:t>
            </a:r>
            <a:r>
              <a:rPr lang="zh-CN" altLang="en-US"/>
              <a:t>目录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也可以通过特殊路径符来完成。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特殊路径符：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.	</a:t>
            </a:r>
            <a:r>
              <a:rPr lang="zh-CN" altLang="en-US"/>
              <a:t>表示当前目录，比如</a:t>
            </a:r>
            <a:r>
              <a:rPr lang="en-US" altLang="zh-CN"/>
              <a:t> cd ./Desktop </a:t>
            </a:r>
            <a:r>
              <a:rPr lang="zh-CN" altLang="en-US"/>
              <a:t>表示切换到当前目录下的</a:t>
            </a:r>
            <a:r>
              <a:rPr lang="en-US" altLang="zh-CN"/>
              <a:t>Desktop</a:t>
            </a:r>
            <a:r>
              <a:rPr lang="zh-CN" altLang="en-US"/>
              <a:t>目录内，和</a:t>
            </a:r>
            <a:r>
              <a:rPr lang="en-US" altLang="zh-CN"/>
              <a:t>cd Desktop</a:t>
            </a:r>
            <a:r>
              <a:rPr lang="zh-CN" altLang="en-US"/>
              <a:t>效果一致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..	</a:t>
            </a:r>
            <a:r>
              <a:rPr lang="zh-CN" altLang="en-US"/>
              <a:t>表示上一级目录，比如：</a:t>
            </a:r>
            <a:r>
              <a:rPr lang="en-US" altLang="zh-CN"/>
              <a:t>cd ..   </a:t>
            </a:r>
            <a:r>
              <a:rPr lang="zh-CN" altLang="en-US"/>
              <a:t>即可切换到上一级目录，</a:t>
            </a:r>
            <a:r>
              <a:rPr lang="en-US" altLang="zh-CN"/>
              <a:t>cd ../..  </a:t>
            </a:r>
            <a:r>
              <a:rPr lang="zh-CN" altLang="en-US"/>
              <a:t>切换到上二级的目录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~	</a:t>
            </a:r>
            <a:r>
              <a:rPr lang="zh-CN" altLang="en-US"/>
              <a:t>表示</a:t>
            </a:r>
            <a:r>
              <a:rPr lang="en-US" altLang="zh-CN"/>
              <a:t>HOME</a:t>
            </a:r>
            <a:r>
              <a:rPr lang="zh-CN" altLang="en-US"/>
              <a:t>目录，比如：</a:t>
            </a:r>
            <a:r>
              <a:rPr lang="en-US" altLang="zh-CN"/>
              <a:t>cd ~    </a:t>
            </a:r>
            <a:r>
              <a:rPr lang="zh-CN" altLang="en-US"/>
              <a:t>即可切换到</a:t>
            </a:r>
            <a:r>
              <a:rPr lang="en-US" altLang="zh-CN"/>
              <a:t>HOME</a:t>
            </a:r>
            <a:r>
              <a:rPr lang="zh-CN" altLang="en-US"/>
              <a:t>目录或</a:t>
            </a:r>
            <a:r>
              <a:rPr lang="en-US" altLang="zh-CN"/>
              <a:t>cd ~/Desktop</a:t>
            </a:r>
            <a:r>
              <a:rPr lang="zh-CN" altLang="en-US"/>
              <a:t>，切换到</a:t>
            </a:r>
            <a:r>
              <a:rPr lang="en-US" altLang="zh-CN"/>
              <a:t>HOME</a:t>
            </a:r>
            <a:r>
              <a:rPr lang="zh-CN" altLang="en-US"/>
              <a:t>内的</a:t>
            </a:r>
            <a:r>
              <a:rPr lang="en-US" altLang="zh-CN"/>
              <a:t>Desktop</a:t>
            </a:r>
            <a:r>
              <a:rPr lang="zh-CN" altLang="en-US"/>
              <a:t>目录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1656080"/>
            <a:ext cx="2724150" cy="447675"/>
          </a:xfrm>
          <a:prstGeom prst="rect">
            <a:avLst/>
          </a:prstGeom>
        </p:spPr>
      </p:pic>
      <p:pic>
        <p:nvPicPr>
          <p:cNvPr id="100" name="图片 99"/>
          <p:cNvPicPr/>
          <p:nvPr/>
        </p:nvPicPr>
        <p:blipFill>
          <a:blip r:embed="rId2"/>
          <a:stretch>
            <a:fillRect/>
          </a:stretch>
        </p:blipFill>
        <p:spPr>
          <a:xfrm>
            <a:off x="8359140" y="1461770"/>
            <a:ext cx="2950845" cy="29508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355" y="1463040"/>
            <a:ext cx="6474460" cy="4511040"/>
          </a:xfrm>
        </p:spPr>
        <p:txBody>
          <a:bodyPr/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/>
              <a:t>1. </a:t>
            </a:r>
            <a:r>
              <a:rPr lang="zh-CN" altLang="en-US"/>
              <a:t>相对路径和绝对路径</a:t>
            </a:r>
            <a:endParaRPr lang="zh-CN" altLang="en-US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绝对路径：以根目录做起点，描述路径的方式，路径以</a:t>
            </a:r>
            <a:r>
              <a:rPr lang="en-US" altLang="zh-CN" sz="1400"/>
              <a:t>/</a:t>
            </a:r>
            <a:r>
              <a:rPr lang="zh-CN" altLang="en-US" sz="1400"/>
              <a:t>开头</a:t>
            </a:r>
            <a:endParaRPr lang="zh-CN" altLang="en-US" sz="14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相对路径：以当前目录做起点，描述路径的方式，路径不需以</a:t>
            </a:r>
            <a:r>
              <a:rPr lang="en-US" altLang="zh-CN" sz="1400"/>
              <a:t>/</a:t>
            </a:r>
            <a:r>
              <a:rPr lang="zh-CN" altLang="en-US" sz="1400"/>
              <a:t>开头</a:t>
            </a:r>
            <a:endParaRPr lang="zh-CN" altLang="en-US" sz="14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如无特殊需求，后续学习中，将经常使用相对路径表示</a:t>
            </a:r>
            <a:endParaRPr lang="zh-CN" altLang="en-US" sz="1000"/>
          </a:p>
          <a:p>
            <a:pPr marL="0" lv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2. </a:t>
            </a:r>
            <a:r>
              <a:rPr lang="zh-CN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特殊路径符有哪些？</a:t>
            </a:r>
            <a:endParaRPr lang="zh-CN" altLang="en-US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lvl="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. 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表示当前目录，比如</a:t>
            </a: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cd . 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或</a:t>
            </a: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 cd ./Desktop</a:t>
            </a:r>
            <a:endParaRPr lang="zh-CN" altLang="en-US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lvl="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.. 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表示上一级目录，比如：</a:t>
            </a: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cd ..  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或</a:t>
            </a: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 cd ../..</a:t>
            </a:r>
            <a:endParaRPr lang="en-US" altLang="zh-CN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lvl="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~ 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表示用户的</a:t>
            </a: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HOME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目录，比如：</a:t>
            </a: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cd ~ 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或</a:t>
            </a: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 cd ~/Desktop</a:t>
            </a:r>
            <a:endParaRPr lang="en-US" altLang="zh-CN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课后练习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请根据语言描述，写出对应的路径</a:t>
            </a:r>
            <a:endParaRPr lang="zh-CN" altLang="en-US"/>
          </a:p>
          <a:p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当前工作目录内有一个</a:t>
            </a:r>
            <a:r>
              <a:rPr lang="en-US" altLang="zh-CN"/>
              <a:t>test</a:t>
            </a:r>
            <a:r>
              <a:rPr lang="zh-CN" altLang="en-US"/>
              <a:t>文件夹，文件夹内有一个文件</a:t>
            </a:r>
            <a:r>
              <a:rPr lang="en-US" altLang="zh-CN"/>
              <a:t>hello.txt</a:t>
            </a:r>
            <a:r>
              <a:rPr lang="zh-CN" altLang="en-US"/>
              <a:t>，请描述文件的相对路径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/>
              <a:t>test/hello.txt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在当前工作目录的上级目录有一个</a:t>
            </a:r>
            <a:r>
              <a:rPr lang="en-US" altLang="zh-CN"/>
              <a:t>test</a:t>
            </a:r>
            <a:r>
              <a:rPr lang="zh-CN" altLang="en-US"/>
              <a:t>文件夹，</a:t>
            </a:r>
            <a:r>
              <a:rPr lang="zh-CN" altLang="en-US">
                <a:sym typeface="+mn-ea"/>
              </a:rPr>
              <a:t>文件夹内有一个文件</a:t>
            </a:r>
            <a:r>
              <a:rPr lang="en-US" altLang="zh-CN">
                <a:sym typeface="+mn-ea"/>
              </a:rPr>
              <a:t>hello.txt</a:t>
            </a:r>
            <a:r>
              <a:rPr lang="zh-CN" altLang="en-US">
                <a:sym typeface="+mn-ea"/>
              </a:rPr>
              <a:t>，请描述文件的相对路径</a:t>
            </a:r>
            <a:endParaRPr lang="zh-CN" altLang="en-US"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en-US" altLang="zh-CN"/>
              <a:t>../test/hello.txt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在</a:t>
            </a:r>
            <a:r>
              <a:rPr lang="en-US" altLang="zh-CN"/>
              <a:t>HOME</a:t>
            </a:r>
            <a:r>
              <a:rPr lang="zh-CN" altLang="en-US"/>
              <a:t>目录内</a:t>
            </a:r>
            <a:r>
              <a:rPr lang="zh-CN" altLang="en-US">
                <a:sym typeface="+mn-ea"/>
              </a:rPr>
              <a:t>有一个</a:t>
            </a:r>
            <a:r>
              <a:rPr lang="en-US" altLang="zh-CN">
                <a:sym typeface="+mn-ea"/>
              </a:rPr>
              <a:t>test</a:t>
            </a:r>
            <a:r>
              <a:rPr lang="zh-CN" altLang="en-US">
                <a:sym typeface="+mn-ea"/>
              </a:rPr>
              <a:t>文件夹，</a:t>
            </a:r>
            <a:r>
              <a:rPr lang="zh-CN" altLang="en-US">
                <a:sym typeface="+mn-ea"/>
              </a:rPr>
              <a:t>文件夹内有一个文件</a:t>
            </a:r>
            <a:r>
              <a:rPr lang="en-US" altLang="zh-CN">
                <a:sym typeface="+mn-ea"/>
              </a:rPr>
              <a:t>hello.txt</a:t>
            </a:r>
            <a:r>
              <a:rPr lang="zh-CN" altLang="en-US">
                <a:sym typeface="+mn-ea"/>
              </a:rPr>
              <a:t>，请描述文件的路径，需要使用符号</a:t>
            </a:r>
            <a:r>
              <a:rPr lang="en-US" altLang="zh-CN">
                <a:sym typeface="+mn-ea"/>
              </a:rPr>
              <a:t>~</a:t>
            </a:r>
            <a:endParaRPr lang="en-US" altLang="zh-CN"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~/test/hello.txt</a:t>
            </a:r>
            <a:endParaRPr lang="en-US" altLang="zh-CN">
              <a:sym typeface="+mn-ea"/>
            </a:endParaRPr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27930" y="1029335"/>
            <a:ext cx="5973445" cy="4631055"/>
          </a:xfrm>
        </p:spPr>
        <p:txBody>
          <a:bodyPr/>
          <a:lstStyle/>
          <a:p>
            <a:pPr algn="l"/>
            <a:r>
              <a:rPr kumimoji="1" lang="en-US" altLang="zh-CN" sz="1600" dirty="0">
                <a:sym typeface="+mn-ea"/>
              </a:rPr>
              <a:t>Linux的目录结构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Linux命令入门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目录切换相关命令(cd/pwd)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相对路径、绝对路径和特殊路径符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rgbClr val="FF0000"/>
                </a:solidFill>
                <a:sym typeface="+mn-ea"/>
              </a:rPr>
              <a:t>创建目录命令(mkdir)</a:t>
            </a:r>
            <a:endParaRPr kumimoji="1" lang="en-US" altLang="zh-CN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文件操作命令</a:t>
            </a:r>
            <a:r>
              <a:rPr kumimoji="1" lang="en-US" altLang="zh-CN" sz="1600" dirty="0">
                <a:sym typeface="+mn-ea"/>
              </a:rPr>
              <a:t>part1(touch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cat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more</a:t>
            </a:r>
            <a:r>
              <a:rPr kumimoji="1" lang="zh-CN" altLang="en-US" sz="1600" dirty="0">
                <a:sym typeface="+mn-ea"/>
              </a:rPr>
              <a:t>）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文件操作命令part2(cp、mv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rm）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查找命令(which、find）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grep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wc</a:t>
            </a:r>
            <a:r>
              <a:rPr kumimoji="1" lang="zh-CN" altLang="en-US" sz="1600" dirty="0">
                <a:sym typeface="+mn-ea"/>
              </a:rPr>
              <a:t>和管道符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echo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tail</a:t>
            </a:r>
            <a:r>
              <a:rPr kumimoji="1" lang="zh-CN" altLang="en-US" sz="1600" dirty="0">
                <a:sym typeface="+mn-ea"/>
              </a:rPr>
              <a:t>和重定向符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vi</a:t>
            </a:r>
            <a:r>
              <a:rPr kumimoji="1" lang="zh-CN" altLang="en-US" sz="1600" dirty="0">
                <a:sym typeface="+mn-ea"/>
              </a:rPr>
              <a:t>编辑器</a:t>
            </a:r>
            <a:endParaRPr kumimoji="1" lang="zh-CN" altLang="en-US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268859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r>
              <a:rPr lang="zh-CN">
                <a:solidFill>
                  <a:srgbClr val="FF0000"/>
                </a:solidFill>
              </a:rPr>
              <a:t>掌握通过</a:t>
            </a:r>
            <a:r>
              <a:rPr lang="en-US" altLang="zh-CN">
                <a:solidFill>
                  <a:srgbClr val="FF0000"/>
                </a:solidFill>
              </a:rPr>
              <a:t>mkdir</a:t>
            </a:r>
            <a:r>
              <a:rPr lang="zh-CN" altLang="en-US">
                <a:solidFill>
                  <a:srgbClr val="FF0000"/>
                </a:solidFill>
              </a:rPr>
              <a:t>命令创建目录（文件夹）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92805" y="5387975"/>
            <a:ext cx="309880" cy="25273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mkdir</a:t>
            </a:r>
            <a:r>
              <a:t>命令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通过</a:t>
            </a:r>
            <a:r>
              <a:rPr lang="en-US" altLang="zh-CN"/>
              <a:t>mkdir</a:t>
            </a:r>
            <a:r>
              <a:rPr lang="zh-CN" altLang="en-US"/>
              <a:t>命令可以创建新的目录（文件夹）</a:t>
            </a:r>
            <a:endParaRPr lang="zh-CN" altLang="en-US"/>
          </a:p>
          <a:p>
            <a:r>
              <a:rPr lang="en-US" altLang="zh-CN"/>
              <a:t>mkdir</a:t>
            </a:r>
            <a:r>
              <a:rPr lang="zh-CN" altLang="en-US"/>
              <a:t>来自英文：</a:t>
            </a:r>
            <a:r>
              <a:rPr lang="en-US" altLang="zh-CN">
                <a:solidFill>
                  <a:srgbClr val="FF0000"/>
                </a:solidFill>
              </a:rPr>
              <a:t>M</a:t>
            </a:r>
            <a:r>
              <a:rPr lang="en-US" altLang="zh-CN"/>
              <a:t>a</a:t>
            </a:r>
            <a:r>
              <a:rPr lang="en-US" altLang="zh-CN">
                <a:solidFill>
                  <a:srgbClr val="FF0000"/>
                </a:solidFill>
              </a:rPr>
              <a:t>k</a:t>
            </a:r>
            <a:r>
              <a:rPr lang="en-US" altLang="zh-CN"/>
              <a:t>e </a:t>
            </a:r>
            <a:r>
              <a:rPr lang="en-US" altLang="zh-CN">
                <a:solidFill>
                  <a:srgbClr val="FF0000"/>
                </a:solidFill>
              </a:rPr>
              <a:t>Dir</a:t>
            </a:r>
            <a:r>
              <a:rPr lang="en-US" altLang="zh-CN"/>
              <a:t>ectory</a:t>
            </a:r>
            <a:endParaRPr lang="en-US" altLang="zh-CN"/>
          </a:p>
          <a:p>
            <a:r>
              <a:rPr lang="zh-CN" altLang="en-US"/>
              <a:t>语法：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参数</a:t>
            </a:r>
            <a:r>
              <a:rPr lang="zh-CN" altLang="en-US">
                <a:solidFill>
                  <a:srgbClr val="FF0000"/>
                </a:solidFill>
              </a:rPr>
              <a:t>必填</a:t>
            </a:r>
            <a:r>
              <a:rPr lang="zh-CN" altLang="en-US"/>
              <a:t>，表示</a:t>
            </a:r>
            <a:r>
              <a:rPr lang="en-US" altLang="zh-CN"/>
              <a:t>Linux</a:t>
            </a:r>
            <a:r>
              <a:rPr lang="zh-CN" altLang="en-US"/>
              <a:t>路径，即要创建的文件夹的路径，相对路径或绝对路径均可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-p</a:t>
            </a:r>
            <a:r>
              <a:rPr lang="zh-CN" altLang="en-US"/>
              <a:t>选项可选，表示自动创建不存在的父目录，适用于创建连续多层级的目录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3030" y="2582545"/>
            <a:ext cx="2323465" cy="3098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970" y="3777615"/>
            <a:ext cx="9763125" cy="2619375"/>
          </a:xfrm>
          <a:prstGeom prst="rect">
            <a:avLst/>
          </a:prstGeom>
        </p:spPr>
      </p:pic>
      <p:pic>
        <p:nvPicPr>
          <p:cNvPr id="4" name="图片 3" descr="01 (122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1355" y="5328285"/>
            <a:ext cx="1529715" cy="152971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mkdir -p </a:t>
            </a:r>
            <a:r>
              <a:t>选项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如果想要一次性创建多个层级的目录，如下图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会报错，因为上级目录</a:t>
            </a:r>
            <a:r>
              <a:rPr lang="en-US" altLang="zh-CN"/>
              <a:t>itcast</a:t>
            </a:r>
            <a:r>
              <a:rPr lang="zh-CN" altLang="en-US"/>
              <a:t>和</a:t>
            </a:r>
            <a:r>
              <a:rPr lang="en-US" altLang="zh-CN"/>
              <a:t>good</a:t>
            </a:r>
            <a:r>
              <a:rPr lang="zh-CN" altLang="en-US"/>
              <a:t>并不存在，所以无法创建</a:t>
            </a:r>
            <a:r>
              <a:rPr lang="en-US" altLang="zh-CN"/>
              <a:t>666</a:t>
            </a:r>
            <a:r>
              <a:rPr lang="zh-CN" altLang="en-US"/>
              <a:t>目录</a:t>
            </a:r>
            <a:endParaRPr lang="zh-CN" altLang="en-US"/>
          </a:p>
          <a:p>
            <a:r>
              <a:rPr lang="zh-CN" altLang="en-US"/>
              <a:t>可以通过</a:t>
            </a:r>
            <a:r>
              <a:rPr lang="en-US" altLang="zh-CN"/>
              <a:t>-p</a:t>
            </a:r>
            <a:r>
              <a:rPr lang="zh-CN" altLang="en-US"/>
              <a:t>选项，将一整个链条都创建完成。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070" y="2101850"/>
            <a:ext cx="5505450" cy="4381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070" y="3386455"/>
            <a:ext cx="5114925" cy="8763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14070" y="4751070"/>
            <a:ext cx="7499350" cy="82994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注意：创建文件夹需要修改权限，请确保操作均在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HOME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目录内，不要在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HOME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外操作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涉及到权限问题，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HOME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外无法成功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后续我们会讲解权限管控的知识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  <p:pic>
        <p:nvPicPr>
          <p:cNvPr id="7" name="图片 6" descr="01 (135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885" y="5236845"/>
            <a:ext cx="1529715" cy="15297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355" y="1463040"/>
            <a:ext cx="6474460" cy="4511040"/>
          </a:xfrm>
        </p:spPr>
        <p:txBody>
          <a:bodyPr/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/>
              <a:t>1. </a:t>
            </a:r>
            <a:r>
              <a:rPr lang="en-US"/>
              <a:t>mkdir</a:t>
            </a:r>
            <a:r>
              <a:rPr lang="zh-CN" altLang="en-US"/>
              <a:t>命令的语法和功能</a:t>
            </a:r>
            <a:endParaRPr lang="zh-CN" altLang="en-US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400"/>
              <a:t>mkdir</a:t>
            </a:r>
            <a:r>
              <a:rPr lang="zh-CN" altLang="en-US" sz="1400"/>
              <a:t>用以创建新的目录（文件夹）</a:t>
            </a:r>
            <a:endParaRPr lang="zh-CN" altLang="en-US" sz="14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语法：</a:t>
            </a:r>
            <a:endParaRPr lang="zh-CN" altLang="en-US" sz="14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参数</a:t>
            </a:r>
            <a:r>
              <a:rPr lang="zh-CN" altLang="en-US" sz="1400">
                <a:solidFill>
                  <a:srgbClr val="FF0000"/>
                </a:solidFill>
              </a:rPr>
              <a:t>必填</a:t>
            </a:r>
            <a:r>
              <a:rPr lang="zh-CN" altLang="en-US" sz="1400"/>
              <a:t>，表示要创建的目录的路径，相对、绝对、特殊路径符都可以使用</a:t>
            </a:r>
            <a:endParaRPr lang="zh-CN" altLang="en-US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2. -p</a:t>
            </a:r>
            <a:r>
              <a:rPr lang="zh-CN" altLang="en-US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选项的作用</a:t>
            </a:r>
            <a:endParaRPr lang="zh-CN" altLang="en-US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lvl="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rgbClr val="FF0000"/>
                </a:solidFill>
                <a:sym typeface="+mn-ea"/>
              </a:rPr>
              <a:t>可选</a:t>
            </a:r>
            <a:r>
              <a:rPr lang="zh-CN" altLang="en-US" sz="1400">
                <a:sym typeface="+mn-ea"/>
              </a:rPr>
              <a:t>，表示自动创建不存在的父目录，适用于创建连续多层级的目录</a:t>
            </a:r>
            <a:endParaRPr lang="en-US" altLang="zh-CN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6465" y="3404870"/>
            <a:ext cx="2323465" cy="30988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课后练习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请通过命令在</a:t>
            </a:r>
            <a:r>
              <a:rPr lang="en-US" altLang="zh-CN"/>
              <a:t>HOME</a:t>
            </a:r>
            <a:r>
              <a:rPr lang="zh-CN" altLang="en-US"/>
              <a:t>目录内，创建如下路径（需使用特殊符号</a:t>
            </a:r>
            <a:r>
              <a:rPr lang="en-US" altLang="zh-CN"/>
              <a:t>~</a:t>
            </a:r>
            <a:r>
              <a:rPr lang="zh-CN" altLang="en-US"/>
              <a:t>）：</a:t>
            </a:r>
            <a:r>
              <a:rPr lang="en-US" altLang="zh-CN"/>
              <a:t> itcast/itheima/nice/666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mkdir -p ~/itcast/itheima/nice/666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27930" y="1029335"/>
            <a:ext cx="5973445" cy="4631055"/>
          </a:xfrm>
        </p:spPr>
        <p:txBody>
          <a:bodyPr/>
          <a:lstStyle/>
          <a:p>
            <a:pPr algn="l"/>
            <a:r>
              <a:rPr kumimoji="1" lang="en-US" altLang="zh-CN" sz="1600" dirty="0">
                <a:sym typeface="+mn-ea"/>
              </a:rPr>
              <a:t>Linux的目录结构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Linux命令入门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目录切换相关命令(cd/pwd)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相对路径、绝对路径和特殊路径符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创建目录命令(mkdir)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文件操作命令</a:t>
            </a:r>
            <a:r>
              <a:rPr kumimoji="1" lang="en-US" altLang="zh-CN" sz="1600" dirty="0">
                <a:solidFill>
                  <a:srgbClr val="FF0000"/>
                </a:solidFill>
                <a:sym typeface="+mn-ea"/>
              </a:rPr>
              <a:t>part1(touch</a:t>
            </a:r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、</a:t>
            </a:r>
            <a:r>
              <a:rPr kumimoji="1" lang="en-US" altLang="zh-CN" sz="1600" dirty="0">
                <a:solidFill>
                  <a:srgbClr val="FF0000"/>
                </a:solidFill>
                <a:sym typeface="+mn-ea"/>
              </a:rPr>
              <a:t>cat</a:t>
            </a:r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、</a:t>
            </a:r>
            <a:r>
              <a:rPr kumimoji="1" lang="en-US" altLang="zh-CN" sz="1600" dirty="0">
                <a:solidFill>
                  <a:srgbClr val="FF0000"/>
                </a:solidFill>
                <a:sym typeface="+mn-ea"/>
              </a:rPr>
              <a:t>more</a:t>
            </a:r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）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文件操作命令part2(cp、mv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rm）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查找命令(which、find）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grep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wc</a:t>
            </a:r>
            <a:r>
              <a:rPr kumimoji="1" lang="zh-CN" altLang="en-US" sz="1600" dirty="0">
                <a:sym typeface="+mn-ea"/>
              </a:rPr>
              <a:t>和管道符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echo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tail</a:t>
            </a:r>
            <a:r>
              <a:rPr kumimoji="1" lang="zh-CN" altLang="en-US" sz="1600" dirty="0">
                <a:sym typeface="+mn-ea"/>
              </a:rPr>
              <a:t>和重定向符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vi</a:t>
            </a:r>
            <a:r>
              <a:rPr kumimoji="1" lang="zh-CN" altLang="en-US" sz="1600" dirty="0">
                <a:sym typeface="+mn-ea"/>
              </a:rPr>
              <a:t>编辑器</a:t>
            </a:r>
            <a:endParaRPr kumimoji="1" lang="zh-CN" altLang="en-US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3223895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r>
              <a:rPr lang="zh-CN">
                <a:solidFill>
                  <a:srgbClr val="FF0000"/>
                </a:solidFill>
              </a:rPr>
              <a:t>掌握使用</a:t>
            </a:r>
            <a:r>
              <a:rPr lang="en-US" altLang="zh-CN">
                <a:solidFill>
                  <a:srgbClr val="FF0000"/>
                </a:solidFill>
              </a:rPr>
              <a:t>touch</a:t>
            </a:r>
            <a:r>
              <a:rPr lang="zh-CN" altLang="en-US">
                <a:solidFill>
                  <a:srgbClr val="FF0000"/>
                </a:solidFill>
              </a:rPr>
              <a:t>创建文件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掌握使用</a:t>
            </a:r>
            <a:r>
              <a:rPr lang="en-US" altLang="zh-CN">
                <a:solidFill>
                  <a:srgbClr val="FF0000"/>
                </a:solidFill>
              </a:rPr>
              <a:t>cat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more</a:t>
            </a:r>
            <a:r>
              <a:rPr lang="zh-CN" altLang="en-US">
                <a:solidFill>
                  <a:srgbClr val="FF0000"/>
                </a:solidFill>
              </a:rPr>
              <a:t>查看文件内容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92805" y="5387975"/>
            <a:ext cx="309880" cy="25273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touch </a:t>
            </a:r>
            <a:r>
              <a:t>创建文件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可以通过</a:t>
            </a:r>
            <a:r>
              <a:rPr lang="en-US" altLang="zh-CN"/>
              <a:t>touch</a:t>
            </a:r>
            <a:r>
              <a:rPr lang="zh-CN" altLang="en-US"/>
              <a:t>命令创建文件</a:t>
            </a:r>
            <a:endParaRPr lang="zh-CN" altLang="en-US"/>
          </a:p>
          <a:p>
            <a:r>
              <a:rPr lang="zh-CN" altLang="en-US"/>
              <a:t>语法：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touch</a:t>
            </a:r>
            <a:r>
              <a:rPr lang="zh-CN" altLang="en-US"/>
              <a:t>命令无选项，参数必填，表示要创建的文件路径，相对、绝对、特殊路径符均可以使用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1300" y="2176145"/>
            <a:ext cx="1504950" cy="3048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940" y="3025775"/>
            <a:ext cx="8067675" cy="1114425"/>
          </a:xfrm>
          <a:prstGeom prst="rect">
            <a:avLst/>
          </a:prstGeom>
        </p:spPr>
      </p:pic>
      <p:pic>
        <p:nvPicPr>
          <p:cNvPr id="6" name="图片 5" descr="01 (147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7190" y="4921250"/>
            <a:ext cx="1864360" cy="186436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cat</a:t>
            </a:r>
            <a:r>
              <a:t>命令</a:t>
            </a:r>
            <a:r>
              <a:rPr lang="en-US" altLang="zh-CN"/>
              <a:t> </a:t>
            </a:r>
            <a:r>
              <a:t>查看文件内容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有了文件后，我们可以通过</a:t>
            </a:r>
            <a:r>
              <a:rPr lang="en-US" altLang="zh-CN"/>
              <a:t>cat</a:t>
            </a:r>
            <a:r>
              <a:rPr lang="zh-CN" altLang="en-US"/>
              <a:t>命令查看文件的内容。</a:t>
            </a:r>
            <a:endParaRPr lang="zh-CN" altLang="en-US"/>
          </a:p>
          <a:p>
            <a:r>
              <a:rPr lang="zh-CN" altLang="en-US"/>
              <a:t>不过，现在我们还未学习</a:t>
            </a:r>
            <a:r>
              <a:rPr lang="en-US" altLang="zh-CN"/>
              <a:t>vi</a:t>
            </a:r>
            <a:r>
              <a:rPr lang="zh-CN" altLang="en-US"/>
              <a:t>编辑器，无法向文件内编辑内容，所以，暂时，我们先通过图形化</a:t>
            </a:r>
            <a:endParaRPr lang="zh-CN" altLang="en-US"/>
          </a:p>
          <a:p>
            <a:r>
              <a:rPr lang="zh-CN" altLang="en-US"/>
              <a:t>在图形化中，手动向文件内添加内容，以测试</a:t>
            </a:r>
            <a:r>
              <a:rPr lang="en-US" altLang="zh-CN"/>
              <a:t>cat</a:t>
            </a:r>
            <a:r>
              <a:rPr lang="zh-CN" altLang="en-US"/>
              <a:t>命令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755" y="3047365"/>
            <a:ext cx="3873500" cy="29051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735" y="3047365"/>
            <a:ext cx="6030595" cy="1205865"/>
          </a:xfrm>
          <a:prstGeom prst="rect">
            <a:avLst/>
          </a:prstGeom>
        </p:spPr>
      </p:pic>
      <p:pic>
        <p:nvPicPr>
          <p:cNvPr id="6" name="图片 5" descr="01 (149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8965" y="5024755"/>
            <a:ext cx="1626870" cy="162687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ym typeface="+mn-ea"/>
              </a:rPr>
              <a:t>cat</a:t>
            </a:r>
            <a:r>
              <a:rPr>
                <a:sym typeface="+mn-ea"/>
              </a:rPr>
              <a:t>命令</a:t>
            </a:r>
            <a:r>
              <a:rPr lang="en-US" altLang="zh-CN">
                <a:sym typeface="+mn-ea"/>
              </a:rPr>
              <a:t> </a:t>
            </a:r>
            <a:r>
              <a:rPr>
                <a:sym typeface="+mn-ea"/>
              </a:rPr>
              <a:t>查看文件内容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/>
              <a:t>准备好文件内容后，可以通过</a:t>
            </a:r>
            <a:r>
              <a:rPr lang="en-US" altLang="zh-CN"/>
              <a:t>cat</a:t>
            </a:r>
            <a:r>
              <a:rPr lang="zh-CN" altLang="en-US"/>
              <a:t>查看内容。</a:t>
            </a:r>
            <a:endParaRPr lang="zh-CN" altLang="en-US"/>
          </a:p>
          <a:p>
            <a:r>
              <a:rPr lang="zh-CN" altLang="en-US"/>
              <a:t>语法：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cat</a:t>
            </a:r>
            <a:r>
              <a:rPr lang="zh-CN" altLang="en-US"/>
              <a:t>同样没有选项，只有必填参数，参数表示：被查看的文件路径，相对、绝对、特殊路径符都可以使用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4475" y="2190115"/>
            <a:ext cx="1323975" cy="2762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685" y="3099435"/>
            <a:ext cx="7981950" cy="847725"/>
          </a:xfrm>
          <a:prstGeom prst="rect">
            <a:avLst/>
          </a:prstGeom>
        </p:spPr>
      </p:pic>
      <p:pic>
        <p:nvPicPr>
          <p:cNvPr id="6" name="图片 5" descr="01 (150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0259060" y="4490085"/>
            <a:ext cx="2221865" cy="222186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more</a:t>
            </a:r>
            <a:r>
              <a:t>命令查看文件内容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more</a:t>
            </a:r>
            <a:r>
              <a:rPr lang="zh-CN" altLang="en-US"/>
              <a:t>命令同样可以查看文件内容，同</a:t>
            </a:r>
            <a:r>
              <a:rPr lang="en-US" altLang="zh-CN"/>
              <a:t>cat</a:t>
            </a:r>
            <a:r>
              <a:rPr lang="zh-CN" altLang="en-US"/>
              <a:t>不同的是：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/>
              <a:t>cat</a:t>
            </a:r>
            <a:r>
              <a:rPr lang="zh-CN" altLang="en-US" sz="1200"/>
              <a:t>是直接将内容全部显示出来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/>
              <a:t>more</a:t>
            </a:r>
            <a:r>
              <a:rPr lang="zh-CN" altLang="en-US" sz="1200"/>
              <a:t>支持翻页，如果文件内容过多，可以一页页的展示</a:t>
            </a:r>
            <a:endParaRPr lang="zh-CN" altLang="en-US" sz="1200"/>
          </a:p>
          <a:p>
            <a:pPr>
              <a:buFont typeface="Arial" panose="020B0604020202020204" pitchFamily="34" charset="0"/>
            </a:pPr>
            <a:r>
              <a:rPr lang="zh-CN" altLang="en-US"/>
              <a:t>语法：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同样没有选项，只有必填参数，参数表示：被查看的文件路径，相对、绝对、特殊路径符都可以使用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en-US" altLang="zh-CN"/>
          </a:p>
          <a:p>
            <a:pPr>
              <a:buFont typeface="Arial" panose="020B0604020202020204" pitchFamily="34" charset="0"/>
            </a:pPr>
            <a:r>
              <a:rPr lang="en-US" altLang="zh-CN"/>
              <a:t>Linux</a:t>
            </a:r>
            <a:r>
              <a:rPr lang="zh-CN" altLang="en-US"/>
              <a:t>系统内置有一个文件，路径为：</a:t>
            </a:r>
            <a:r>
              <a:rPr lang="en-US" altLang="zh-CN"/>
              <a:t>/etc/services</a:t>
            </a:r>
            <a:r>
              <a:rPr lang="zh-CN" altLang="en-US"/>
              <a:t>，可以使用</a:t>
            </a:r>
            <a:r>
              <a:rPr lang="en-US" altLang="zh-CN"/>
              <a:t>more</a:t>
            </a:r>
            <a:r>
              <a:rPr lang="zh-CN" altLang="en-US"/>
              <a:t>命令查看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/>
              <a:t>more /etc/services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在查看的过程中，通过空格翻页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通过</a:t>
            </a:r>
            <a:r>
              <a:rPr lang="en-US" altLang="zh-CN"/>
              <a:t>q</a:t>
            </a:r>
            <a:r>
              <a:rPr lang="zh-CN" altLang="en-US"/>
              <a:t>退出查看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快去试试吧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8425" y="2816225"/>
            <a:ext cx="1428750" cy="295275"/>
          </a:xfrm>
          <a:prstGeom prst="rect">
            <a:avLst/>
          </a:prstGeom>
        </p:spPr>
      </p:pic>
      <p:pic>
        <p:nvPicPr>
          <p:cNvPr id="4" name="图片 3" descr="01 (108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860" y="5109845"/>
            <a:ext cx="1511300" cy="1511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355" y="1463040"/>
            <a:ext cx="6474460" cy="4511040"/>
          </a:xfrm>
        </p:spPr>
        <p:txBody>
          <a:bodyPr/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/>
              <a:t>1. </a:t>
            </a:r>
            <a:r>
              <a:rPr lang="en-US"/>
              <a:t>touch</a:t>
            </a:r>
            <a:r>
              <a:rPr lang="zh-CN" altLang="en-US"/>
              <a:t>命令</a:t>
            </a:r>
            <a:endParaRPr lang="zh-CN" altLang="en-US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sz="1400"/>
              <a:t>用于创建一个新的文件</a:t>
            </a:r>
            <a:endParaRPr lang="zh-CN" altLang="en-US" sz="14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语法：</a:t>
            </a:r>
            <a:endParaRPr lang="zh-CN" altLang="en-US" sz="14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参数</a:t>
            </a:r>
            <a:r>
              <a:rPr lang="zh-CN" altLang="en-US" sz="1400">
                <a:solidFill>
                  <a:srgbClr val="FF0000"/>
                </a:solidFill>
              </a:rPr>
              <a:t>必填</a:t>
            </a:r>
            <a:r>
              <a:rPr lang="zh-CN" altLang="en-US" sz="1400"/>
              <a:t>，表示要创建的文件的路径，相对、绝对、特殊路径符都可以使用</a:t>
            </a:r>
            <a:endParaRPr lang="zh-CN" altLang="en-US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2. cat</a:t>
            </a:r>
            <a:r>
              <a:rPr lang="zh-CN" altLang="en-US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命令</a:t>
            </a:r>
            <a:endParaRPr lang="zh-CN" altLang="en-US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sz="1400">
                <a:sym typeface="+mn-ea"/>
              </a:rPr>
              <a:t>用于查看文件内容</a:t>
            </a:r>
            <a:endParaRPr lang="zh-CN" altLang="en-US" sz="14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>
                <a:sym typeface="+mn-ea"/>
              </a:rPr>
              <a:t>语法：</a:t>
            </a:r>
            <a:endParaRPr lang="zh-CN" altLang="en-US" sz="14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>
                <a:sym typeface="+mn-ea"/>
              </a:rPr>
              <a:t>参数</a:t>
            </a:r>
            <a:r>
              <a:rPr lang="zh-CN" altLang="en-US" sz="1400">
                <a:solidFill>
                  <a:srgbClr val="FF0000"/>
                </a:solidFill>
                <a:sym typeface="+mn-ea"/>
              </a:rPr>
              <a:t>必填</a:t>
            </a:r>
            <a:r>
              <a:rPr lang="zh-CN" altLang="en-US" sz="1400">
                <a:sym typeface="+mn-ea"/>
              </a:rPr>
              <a:t>，表示要查看的文件的路径，相对、绝对、特殊路径符都可以使用</a:t>
            </a:r>
            <a:endParaRPr lang="zh-CN" altLang="en-US" sz="1400">
              <a:sym typeface="+mn-ea"/>
            </a:endParaRPr>
          </a:p>
          <a:p>
            <a:pPr marL="0" algn="l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sz="1800">
                <a:sym typeface="+mn-ea"/>
              </a:rPr>
              <a:t>3. more命令</a:t>
            </a:r>
            <a:endParaRPr lang="en-US" altLang="zh-CN" sz="18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sz="1400">
                <a:sym typeface="+mn-ea"/>
              </a:rPr>
              <a:t>用于查看文件内容，可翻页查看</a:t>
            </a:r>
            <a:endParaRPr lang="zh-CN" altLang="en-US" sz="14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>
                <a:sym typeface="+mn-ea"/>
              </a:rPr>
              <a:t>语法：</a:t>
            </a:r>
            <a:endParaRPr lang="zh-CN" altLang="en-US" sz="14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>
                <a:sym typeface="+mn-ea"/>
              </a:rPr>
              <a:t>参数</a:t>
            </a:r>
            <a:r>
              <a:rPr lang="zh-CN" altLang="en-US" sz="1400">
                <a:solidFill>
                  <a:srgbClr val="FF0000"/>
                </a:solidFill>
                <a:sym typeface="+mn-ea"/>
              </a:rPr>
              <a:t>必填</a:t>
            </a:r>
            <a:r>
              <a:rPr lang="zh-CN" altLang="en-US" sz="1400">
                <a:sym typeface="+mn-ea"/>
              </a:rPr>
              <a:t>，表示要查看的文件的路径，相对、绝对、特殊路径符都可以使用</a:t>
            </a:r>
            <a:endParaRPr lang="zh-CN" altLang="en-US" sz="1400">
              <a:sym typeface="+mn-ea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使用空格进行翻页，使用</a:t>
            </a: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q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退出查看</a:t>
            </a:r>
            <a:endParaRPr lang="zh-CN" altLang="en-US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endParaRPr lang="zh-CN" altLang="en-US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2975" y="2029460"/>
            <a:ext cx="1504950" cy="3048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3285" y="3505200"/>
            <a:ext cx="1323975" cy="2762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975" y="4869815"/>
            <a:ext cx="1428750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27930" y="1029335"/>
            <a:ext cx="5973445" cy="4631055"/>
          </a:xfrm>
        </p:spPr>
        <p:txBody>
          <a:bodyPr/>
          <a:lstStyle/>
          <a:p>
            <a:pPr algn="l"/>
            <a:r>
              <a:rPr kumimoji="1" lang="en-US" altLang="zh-CN" sz="1600" dirty="0">
                <a:sym typeface="+mn-ea"/>
              </a:rPr>
              <a:t>Linux的目录结构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Linux命令入门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目录切换相关命令(cd/pwd)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相对路径、绝对路径和特殊路径符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创建目录命令(mkdir)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文件操作命令</a:t>
            </a:r>
            <a:r>
              <a:rPr kumimoji="1" lang="en-US" altLang="zh-CN" sz="1600" dirty="0">
                <a:sym typeface="+mn-ea"/>
              </a:rPr>
              <a:t>part1(touch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cat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more</a:t>
            </a:r>
            <a:r>
              <a:rPr kumimoji="1" lang="zh-CN" altLang="en-US" sz="1600" dirty="0">
                <a:sym typeface="+mn-ea"/>
              </a:rPr>
              <a:t>）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rgbClr val="FF0000"/>
                </a:solidFill>
                <a:sym typeface="+mn-ea"/>
              </a:rPr>
              <a:t>文件操作命令part2(cp、mv</a:t>
            </a:r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、</a:t>
            </a:r>
            <a:r>
              <a:rPr kumimoji="1" lang="en-US" altLang="zh-CN" sz="1600" dirty="0">
                <a:solidFill>
                  <a:srgbClr val="FF0000"/>
                </a:solidFill>
                <a:sym typeface="+mn-ea"/>
              </a:rPr>
              <a:t>rm）</a:t>
            </a:r>
            <a:endParaRPr kumimoji="1" lang="en-US" altLang="zh-CN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查找命令(which、find）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grep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wc</a:t>
            </a:r>
            <a:r>
              <a:rPr kumimoji="1" lang="zh-CN" altLang="en-US" sz="1600" dirty="0">
                <a:sym typeface="+mn-ea"/>
              </a:rPr>
              <a:t>和管道符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echo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tail</a:t>
            </a:r>
            <a:r>
              <a:rPr kumimoji="1" lang="zh-CN" altLang="en-US" sz="1600" dirty="0">
                <a:sym typeface="+mn-ea"/>
              </a:rPr>
              <a:t>和重定向符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vi</a:t>
            </a:r>
            <a:r>
              <a:rPr kumimoji="1" lang="zh-CN" altLang="en-US" sz="1600" dirty="0">
                <a:sym typeface="+mn-ea"/>
              </a:rPr>
              <a:t>编辑器</a:t>
            </a:r>
            <a:endParaRPr kumimoji="1" lang="zh-CN" altLang="en-US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3769995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</a:rPr>
              <a:t>掌握使用</a:t>
            </a:r>
            <a:r>
              <a:rPr lang="en-US" altLang="zh-CN">
                <a:solidFill>
                  <a:srgbClr val="FF0000"/>
                </a:solidFill>
              </a:rPr>
              <a:t>cp</a:t>
            </a:r>
            <a:r>
              <a:rPr lang="zh-CN" altLang="en-US">
                <a:solidFill>
                  <a:srgbClr val="FF0000"/>
                </a:solidFill>
              </a:rPr>
              <a:t>复制文件、文件夹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掌握使用</a:t>
            </a:r>
            <a:r>
              <a:rPr lang="en-US" altLang="zh-CN">
                <a:solidFill>
                  <a:srgbClr val="FF0000"/>
                </a:solidFill>
              </a:rPr>
              <a:t>mv</a:t>
            </a:r>
            <a:r>
              <a:rPr lang="zh-CN" altLang="en-US">
                <a:solidFill>
                  <a:srgbClr val="FF0000"/>
                </a:solidFill>
              </a:rPr>
              <a:t>移动文件、文件夹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掌握使用</a:t>
            </a:r>
            <a:r>
              <a:rPr lang="en-US" altLang="zh-CN">
                <a:solidFill>
                  <a:srgbClr val="FF0000"/>
                </a:solidFill>
              </a:rPr>
              <a:t>rm</a:t>
            </a:r>
            <a:r>
              <a:rPr lang="zh-CN" altLang="en-US">
                <a:solidFill>
                  <a:srgbClr val="FF0000"/>
                </a:solidFill>
              </a:rPr>
              <a:t>删除文件、文件夹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92805" y="5387975"/>
            <a:ext cx="309880" cy="25273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cp</a:t>
            </a:r>
            <a:r>
              <a:t>命令复制文件文件夹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cp</a:t>
            </a:r>
            <a:r>
              <a:rPr lang="zh-CN" altLang="en-US"/>
              <a:t>命令可以用于复制文件</a:t>
            </a:r>
            <a:r>
              <a:rPr lang="en-US" altLang="zh-CN"/>
              <a:t>\</a:t>
            </a:r>
            <a:r>
              <a:rPr lang="zh-CN" altLang="en-US"/>
              <a:t>文件夹，</a:t>
            </a:r>
            <a:r>
              <a:rPr lang="en-US" altLang="zh-CN"/>
              <a:t>cp</a:t>
            </a:r>
            <a:r>
              <a:rPr lang="zh-CN" altLang="en-US"/>
              <a:t>命令来自英文单词：</a:t>
            </a:r>
            <a:r>
              <a:rPr lang="en-US" altLang="zh-CN">
                <a:solidFill>
                  <a:srgbClr val="FF0000"/>
                </a:solidFill>
              </a:rPr>
              <a:t>c</a:t>
            </a:r>
            <a:r>
              <a:rPr lang="en-US" altLang="zh-CN"/>
              <a:t>o</a:t>
            </a:r>
            <a:r>
              <a:rPr lang="en-US" altLang="zh-CN">
                <a:solidFill>
                  <a:srgbClr val="FF0000"/>
                </a:solidFill>
              </a:rPr>
              <a:t>p</a:t>
            </a:r>
            <a:r>
              <a:rPr lang="en-US" altLang="zh-CN"/>
              <a:t>y</a:t>
            </a:r>
            <a:endParaRPr lang="zh-CN" altLang="en-US"/>
          </a:p>
          <a:p>
            <a:r>
              <a:rPr lang="zh-CN" altLang="en-US"/>
              <a:t>语法：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-r</a:t>
            </a:r>
            <a:r>
              <a:rPr lang="zh-CN" altLang="en-US"/>
              <a:t>选项，可选，用于复制文件夹使用，表示递归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参数</a:t>
            </a:r>
            <a:r>
              <a:rPr lang="en-US" altLang="zh-CN"/>
              <a:t>1</a:t>
            </a:r>
            <a:r>
              <a:rPr lang="zh-CN" altLang="en-US"/>
              <a:t>，</a:t>
            </a:r>
            <a:r>
              <a:rPr lang="en-US" altLang="zh-CN">
                <a:sym typeface="+mn-ea"/>
              </a:rPr>
              <a:t>Linux</a:t>
            </a:r>
            <a:r>
              <a:rPr lang="zh-CN" altLang="en-US">
                <a:sym typeface="+mn-ea"/>
              </a:rPr>
              <a:t>路径，表示</a:t>
            </a:r>
            <a:r>
              <a:rPr lang="zh-CN" altLang="en-US"/>
              <a:t>被复制的文件或文件夹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参数</a:t>
            </a:r>
            <a:r>
              <a:rPr lang="en-US" altLang="zh-CN"/>
              <a:t>2</a:t>
            </a:r>
            <a:r>
              <a:rPr lang="zh-CN" altLang="en-US"/>
              <a:t>，</a:t>
            </a:r>
            <a:r>
              <a:rPr lang="en-US" altLang="zh-CN"/>
              <a:t>Linux</a:t>
            </a:r>
            <a:r>
              <a:rPr lang="zh-CN" altLang="en-US"/>
              <a:t>路径，表示要复制去的地方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675" y="2186940"/>
            <a:ext cx="1838325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ym typeface="+mn-ea"/>
              </a:rPr>
              <a:t>cp</a:t>
            </a:r>
            <a:r>
              <a:rPr>
                <a:sym typeface="+mn-ea"/>
              </a:rPr>
              <a:t>命令复制文件文件夹</a:t>
            </a:r>
            <a:endParaRPr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复制文件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复制文件夹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复制文件夹，必须使用</a:t>
            </a:r>
            <a:r>
              <a:rPr lang="en-US" altLang="zh-CN">
                <a:solidFill>
                  <a:srgbClr val="FF0000"/>
                </a:solidFill>
              </a:rPr>
              <a:t>-r</a:t>
            </a:r>
            <a:r>
              <a:rPr lang="zh-CN" altLang="en-US">
                <a:solidFill>
                  <a:srgbClr val="FF0000"/>
                </a:solidFill>
              </a:rPr>
              <a:t>选项，否则不会生效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005" y="2110740"/>
            <a:ext cx="9039225" cy="11239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005" y="3790950"/>
            <a:ext cx="10001250" cy="111442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mv</a:t>
            </a:r>
            <a:r>
              <a:t>移动文件或文件夹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>
                <a:sym typeface="+mn-ea"/>
              </a:rPr>
              <a:t>mv</a:t>
            </a:r>
            <a:r>
              <a:rPr lang="zh-CN" altLang="en-US">
                <a:sym typeface="+mn-ea"/>
              </a:rPr>
              <a:t>命令可以用于移动文件</a:t>
            </a:r>
            <a:r>
              <a:rPr lang="en-US" altLang="zh-CN">
                <a:sym typeface="+mn-ea"/>
              </a:rPr>
              <a:t>\</a:t>
            </a:r>
            <a:r>
              <a:rPr lang="zh-CN" altLang="en-US">
                <a:sym typeface="+mn-ea"/>
              </a:rPr>
              <a:t>文件夹，</a:t>
            </a:r>
            <a:r>
              <a:rPr lang="en-US" altLang="zh-CN">
                <a:sym typeface="+mn-ea"/>
              </a:rPr>
              <a:t>mv</a:t>
            </a:r>
            <a:r>
              <a:rPr lang="zh-CN" altLang="en-US">
                <a:sym typeface="+mn-ea"/>
              </a:rPr>
              <a:t>命令来自英文单词：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m</a:t>
            </a:r>
            <a:r>
              <a:rPr lang="en-US" altLang="zh-CN">
                <a:sym typeface="+mn-ea"/>
              </a:rPr>
              <a:t>o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v</a:t>
            </a:r>
            <a:r>
              <a:rPr lang="en-US" altLang="zh-CN">
                <a:sym typeface="+mn-ea"/>
              </a:rPr>
              <a:t>e</a:t>
            </a:r>
            <a:endParaRPr lang="zh-CN" altLang="en-US"/>
          </a:p>
          <a:p>
            <a:r>
              <a:rPr lang="zh-CN" altLang="en-US">
                <a:sym typeface="+mn-ea"/>
              </a:rPr>
              <a:t>语法：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参数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Linux</a:t>
            </a:r>
            <a:r>
              <a:rPr lang="zh-CN" altLang="en-US">
                <a:sym typeface="+mn-ea"/>
              </a:rPr>
              <a:t>路径，表示</a:t>
            </a:r>
            <a:r>
              <a:rPr lang="zh-CN" altLang="en-US">
                <a:sym typeface="+mn-ea"/>
              </a:rPr>
              <a:t>被</a:t>
            </a:r>
            <a:r>
              <a:rPr lang="zh-CN" altLang="en-US">
                <a:sym typeface="+mn-ea"/>
              </a:rPr>
              <a:t>移动</a:t>
            </a:r>
            <a:r>
              <a:rPr lang="zh-CN" altLang="en-US">
                <a:sym typeface="+mn-ea"/>
              </a:rPr>
              <a:t>的文件或文件夹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参数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Linux</a:t>
            </a:r>
            <a:r>
              <a:rPr lang="zh-CN" altLang="en-US">
                <a:sym typeface="+mn-ea"/>
              </a:rPr>
              <a:t>路径，表示要</a:t>
            </a:r>
            <a:r>
              <a:rPr lang="zh-CN" altLang="en-US">
                <a:sym typeface="+mn-ea"/>
              </a:rPr>
              <a:t>移动</a:t>
            </a:r>
            <a:r>
              <a:rPr lang="zh-CN" altLang="en-US">
                <a:sym typeface="+mn-ea"/>
              </a:rPr>
              <a:t>去的地方，如果目标不存在，则进行改名，确保目标存在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625" y="2172970"/>
            <a:ext cx="1447800" cy="2762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40" y="3464560"/>
            <a:ext cx="6470015" cy="7823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815" y="4275455"/>
            <a:ext cx="6470015" cy="8826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40" y="5186680"/>
            <a:ext cx="6469380" cy="110871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文本框 7"/>
          <p:cNvSpPr txBox="1"/>
          <p:nvPr/>
        </p:nvSpPr>
        <p:spPr>
          <a:xfrm>
            <a:off x="7404100" y="4548505"/>
            <a:ext cx="3630930" cy="33718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如左图，目标不存在，则有改名的效果</a:t>
            </a:r>
            <a:endParaRPr lang="zh-CN" altLang="en-US" sz="1600" dirty="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rm</a:t>
            </a:r>
            <a:r>
              <a:t>删除文件、文件夹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rm</a:t>
            </a:r>
            <a:r>
              <a:rPr lang="zh-CN" altLang="en-US"/>
              <a:t>命令可用于</a:t>
            </a:r>
            <a:r>
              <a:rPr>
                <a:sym typeface="+mn-ea"/>
              </a:rPr>
              <a:t>删除文件、文件夹</a:t>
            </a:r>
            <a:endParaRPr>
              <a:sym typeface="+mn-ea"/>
            </a:endParaRPr>
          </a:p>
          <a:p>
            <a:r>
              <a:rPr lang="en-US" altLang="zh-CN"/>
              <a:t>rm</a:t>
            </a:r>
            <a:r>
              <a:rPr lang="zh-CN" altLang="en-US"/>
              <a:t>命令来自英文单词：</a:t>
            </a:r>
            <a:r>
              <a:rPr lang="en-US" altLang="zh-CN">
                <a:solidFill>
                  <a:srgbClr val="FF0000"/>
                </a:solidFill>
              </a:rPr>
              <a:t>r</a:t>
            </a:r>
            <a:r>
              <a:rPr lang="en-US" altLang="zh-CN"/>
              <a:t>e</a:t>
            </a:r>
            <a:r>
              <a:rPr lang="en-US" altLang="zh-CN">
                <a:solidFill>
                  <a:srgbClr val="FF0000"/>
                </a:solidFill>
              </a:rPr>
              <a:t>m</a:t>
            </a:r>
            <a:r>
              <a:rPr lang="en-US" altLang="zh-CN"/>
              <a:t>ove</a:t>
            </a:r>
            <a:endParaRPr lang="en-US" altLang="zh-CN"/>
          </a:p>
          <a:p>
            <a:r>
              <a:rPr lang="zh-CN" altLang="en-US"/>
              <a:t>语法：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同</a:t>
            </a:r>
            <a:r>
              <a:rPr lang="en-US" altLang="zh-CN"/>
              <a:t>cp</a:t>
            </a:r>
            <a:r>
              <a:rPr lang="zh-CN" altLang="en-US"/>
              <a:t>命令一样，</a:t>
            </a:r>
            <a:r>
              <a:rPr lang="en-US" altLang="zh-CN"/>
              <a:t>-r</a:t>
            </a:r>
            <a:r>
              <a:rPr lang="zh-CN" altLang="en-US"/>
              <a:t>选项用于删除文件夹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-f</a:t>
            </a:r>
            <a:r>
              <a:rPr lang="zh-CN" altLang="en-US"/>
              <a:t>表示</a:t>
            </a:r>
            <a:r>
              <a:rPr lang="en-US" altLang="zh-CN"/>
              <a:t>force</a:t>
            </a:r>
            <a:r>
              <a:rPr lang="zh-CN" altLang="en-US"/>
              <a:t>，强制删除（不会弹出提示确认信息）</a:t>
            </a: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普通用户删除内容不会弹出提示，只有</a:t>
            </a: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root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管理员用户删除内容会有提示</a:t>
            </a:r>
            <a:endParaRPr lang="zh-CN" altLang="en-US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所以一般普通用户用不到</a:t>
            </a: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-f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选项</a:t>
            </a:r>
            <a:endParaRPr lang="zh-CN" altLang="en-US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参数</a:t>
            </a:r>
            <a:r>
              <a:rPr lang="en-US" altLang="zh-CN"/>
              <a:t>1</a:t>
            </a:r>
            <a:r>
              <a:rPr lang="zh-CN" altLang="en-US"/>
              <a:t>、参数</a:t>
            </a:r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......</a:t>
            </a:r>
            <a:r>
              <a:rPr lang="zh-CN" altLang="en-US"/>
              <a:t>、参数</a:t>
            </a:r>
            <a:r>
              <a:rPr lang="en-US" altLang="zh-CN"/>
              <a:t>N </a:t>
            </a:r>
            <a:r>
              <a:rPr lang="zh-CN" altLang="en-US"/>
              <a:t>表示要删除的文件或文件夹路径，按照空格隔开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7805" y="2594610"/>
            <a:ext cx="3390900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ym typeface="+mn-ea"/>
              </a:rPr>
              <a:t>rm</a:t>
            </a:r>
            <a:r>
              <a:rPr>
                <a:sym typeface="+mn-ea"/>
              </a:rPr>
              <a:t>删除文件、文件夹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删除文件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删除多个文件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2076450"/>
            <a:ext cx="8915400" cy="10763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2175"/>
          <a:stretch>
            <a:fillRect/>
          </a:stretch>
        </p:blipFill>
        <p:spPr>
          <a:xfrm>
            <a:off x="710565" y="3801110"/>
            <a:ext cx="7981950" cy="131381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ym typeface="+mn-ea"/>
              </a:rPr>
              <a:t>rm</a:t>
            </a:r>
            <a:r>
              <a:rPr>
                <a:sym typeface="+mn-ea"/>
              </a:rPr>
              <a:t>删除文件、文件夹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删除文件夹，如下图，必须使用</a:t>
            </a:r>
            <a:r>
              <a:rPr lang="en-US" altLang="zh-CN"/>
              <a:t>-r</a:t>
            </a:r>
            <a:r>
              <a:rPr lang="zh-CN" altLang="en-US"/>
              <a:t>选项才可以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演示强制删除，</a:t>
            </a:r>
            <a:r>
              <a:rPr lang="en-US" altLang="zh-CN"/>
              <a:t>-f</a:t>
            </a:r>
            <a:r>
              <a:rPr lang="zh-CN" altLang="en-US"/>
              <a:t>选项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可以通过</a:t>
            </a:r>
            <a:r>
              <a:rPr lang="en-US" altLang="zh-CN"/>
              <a:t> su - root</a:t>
            </a:r>
            <a:r>
              <a:rPr lang="zh-CN" altLang="en-US"/>
              <a:t>，并输入密码</a:t>
            </a:r>
            <a:r>
              <a:rPr lang="en-US" altLang="zh-CN"/>
              <a:t>123456</a:t>
            </a:r>
            <a:r>
              <a:rPr lang="zh-CN" altLang="en-US"/>
              <a:t>（和普通用户默认一样）临时切换到</a:t>
            </a:r>
            <a:r>
              <a:rPr lang="en-US" altLang="zh-CN"/>
              <a:t>root</a:t>
            </a:r>
            <a:r>
              <a:rPr lang="zh-CN" altLang="en-US"/>
              <a:t>用户体验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通过输入</a:t>
            </a:r>
            <a:r>
              <a:rPr lang="en-US" altLang="zh-CN"/>
              <a:t>exit</a:t>
            </a:r>
            <a:r>
              <a:rPr lang="zh-CN" altLang="en-US"/>
              <a:t>命令，退回普通用户。（临时用</a:t>
            </a:r>
            <a:r>
              <a:rPr lang="en-US" altLang="zh-CN"/>
              <a:t>root</a:t>
            </a:r>
            <a:r>
              <a:rPr lang="zh-CN" altLang="en-US"/>
              <a:t>，用完记得退出，不要一直用，关于</a:t>
            </a:r>
            <a:r>
              <a:rPr lang="en-US" altLang="zh-CN"/>
              <a:t>root</a:t>
            </a:r>
            <a:r>
              <a:rPr lang="zh-CN" altLang="en-US"/>
              <a:t>我们后面会讲解）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405" y="2141855"/>
            <a:ext cx="2847975" cy="8667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405" y="4769485"/>
            <a:ext cx="4505325" cy="1752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465" y="4780280"/>
            <a:ext cx="2962275" cy="109537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rm删除文件、文件夹</a:t>
            </a:r>
            <a:r>
              <a:rPr lang="en-US" altLang="zh-CN"/>
              <a:t> - </a:t>
            </a:r>
            <a:r>
              <a:t>通配符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rm</a:t>
            </a:r>
            <a:r>
              <a:rPr lang="zh-CN" altLang="en-US"/>
              <a:t>命令支持通配符</a:t>
            </a:r>
            <a:r>
              <a:rPr lang="en-US" altLang="zh-CN"/>
              <a:t> *</a:t>
            </a:r>
            <a:r>
              <a:rPr lang="zh-CN" altLang="en-US"/>
              <a:t>，用来做模糊匹配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符号</a:t>
            </a:r>
            <a:r>
              <a:rPr lang="en-US" altLang="zh-CN">
                <a:sym typeface="+mn-ea"/>
              </a:rPr>
              <a:t>* </a:t>
            </a:r>
            <a:r>
              <a:rPr lang="zh-CN" altLang="en-US">
                <a:sym typeface="+mn-ea"/>
              </a:rPr>
              <a:t>表示通配符，即匹配任意内容（包含空），示例：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test*</a:t>
            </a:r>
            <a:r>
              <a:rPr lang="zh-CN" altLang="en-US">
                <a:sym typeface="+mn-ea"/>
              </a:rPr>
              <a:t>，表示匹配任何以</a:t>
            </a:r>
            <a:r>
              <a:rPr lang="en-US" altLang="zh-CN">
                <a:sym typeface="+mn-ea"/>
              </a:rPr>
              <a:t>test</a:t>
            </a:r>
            <a:r>
              <a:rPr lang="zh-CN" altLang="en-US">
                <a:sym typeface="+mn-ea"/>
              </a:rPr>
              <a:t>开头的内容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*test</a:t>
            </a:r>
            <a:r>
              <a:rPr lang="zh-CN" altLang="en-US">
                <a:sym typeface="+mn-ea"/>
              </a:rPr>
              <a:t>，表示匹配任何以</a:t>
            </a:r>
            <a:r>
              <a:rPr lang="en-US" altLang="zh-CN">
                <a:sym typeface="+mn-ea"/>
              </a:rPr>
              <a:t>test</a:t>
            </a:r>
            <a:r>
              <a:rPr lang="zh-CN" altLang="en-US">
                <a:sym typeface="+mn-ea"/>
              </a:rPr>
              <a:t>结尾的内容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*test*</a:t>
            </a:r>
            <a:r>
              <a:rPr lang="zh-CN" altLang="en-US">
                <a:sym typeface="+mn-ea"/>
              </a:rPr>
              <a:t>，表示匹配任何包含</a:t>
            </a:r>
            <a:r>
              <a:rPr lang="en-US" altLang="zh-CN">
                <a:sym typeface="+mn-ea"/>
              </a:rPr>
              <a:t>test</a:t>
            </a:r>
            <a:r>
              <a:rPr lang="zh-CN" altLang="en-US">
                <a:sym typeface="+mn-ea"/>
              </a:rPr>
              <a:t>的内容</a:t>
            </a:r>
            <a:endParaRPr lang="zh-CN" altLang="en-US"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zh-CN" altLang="en-US"/>
              <a:t>演示：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删除所有以</a:t>
            </a:r>
            <a:r>
              <a:rPr lang="en-US" altLang="zh-CN"/>
              <a:t>test</a:t>
            </a:r>
            <a:r>
              <a:rPr lang="zh-CN" altLang="en-US"/>
              <a:t>开头的文件或文件夹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4646295"/>
            <a:ext cx="9058275" cy="107632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01 (105)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534795"/>
            <a:ext cx="3788410" cy="37884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788410" y="1712595"/>
            <a:ext cx="8105775" cy="70675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rm</a:t>
            </a:r>
            <a:r>
              <a:rPr lang="zh-CN" altLang="en-US" sz="2000" dirty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是一个危险的命令，特别是在处于</a:t>
            </a:r>
            <a:r>
              <a:rPr lang="en-US" altLang="zh-CN" sz="2000" dirty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root</a:t>
            </a:r>
            <a:r>
              <a:rPr lang="zh-CN" altLang="en-US" sz="2000" dirty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（超级管理员）用户的时候。</a:t>
            </a:r>
            <a:endParaRPr lang="zh-CN" altLang="en-US" sz="2000" dirty="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请谨慎使用。</a:t>
            </a:r>
            <a:endParaRPr lang="zh-CN" altLang="en-US" sz="2000" dirty="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788410" y="2967990"/>
            <a:ext cx="6259195" cy="163004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sz="2000" dirty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如下命令，请千万千万不要在</a:t>
            </a:r>
            <a:r>
              <a:rPr lang="en-US" altLang="zh-CN" sz="2000" dirty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root</a:t>
            </a:r>
            <a:r>
              <a:rPr lang="zh-CN" altLang="en-US" sz="2000" dirty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管理员用户下执行：</a:t>
            </a:r>
            <a:endParaRPr lang="zh-CN" altLang="en-US" sz="2000" dirty="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rm -rf /</a:t>
            </a:r>
            <a:endParaRPr lang="en-US" altLang="zh-CN" sz="2000" dirty="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rm -rf /*</a:t>
            </a:r>
            <a:endParaRPr lang="en-US" altLang="zh-CN" sz="2000" dirty="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效果等同于在</a:t>
            </a:r>
            <a:r>
              <a:rPr lang="en-US" altLang="zh-CN" sz="2000" dirty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Windows</a:t>
            </a:r>
            <a:r>
              <a:rPr lang="zh-CN" altLang="en-US" sz="2000" dirty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上执行</a:t>
            </a:r>
            <a:r>
              <a:rPr lang="en-US" altLang="zh-CN" sz="2000" dirty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C</a:t>
            </a:r>
            <a:r>
              <a:rPr lang="zh-CN" altLang="en-US" sz="2000" dirty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盘格式化。</a:t>
            </a:r>
            <a:endParaRPr lang="zh-CN" altLang="en-US" sz="2000" dirty="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88410" y="5634355"/>
            <a:ext cx="6876415" cy="33718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rgbClr val="FF0000"/>
                </a:solidFill>
                <a:effectLst/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PS</a:t>
            </a:r>
            <a:r>
              <a:rPr lang="zh-CN" altLang="en-US" sz="1600" b="1" dirty="0">
                <a:solidFill>
                  <a:srgbClr val="FF0000"/>
                </a:solidFill>
                <a:effectLst/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：你心里痒痒就在虚拟机试试吧，大不了恢复快照或者重新装个虚拟机哦。</a:t>
            </a:r>
            <a:endParaRPr lang="zh-CN" altLang="en-US" sz="1600" b="1" dirty="0">
              <a:solidFill>
                <a:srgbClr val="FF0000"/>
              </a:solidFill>
              <a:effectLst/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355" y="1463040"/>
            <a:ext cx="6474460" cy="4511040"/>
          </a:xfrm>
        </p:spPr>
        <p:txBody>
          <a:bodyPr/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/>
              <a:t>1. </a:t>
            </a:r>
            <a:r>
              <a:rPr lang="en-US"/>
              <a:t>cp</a:t>
            </a:r>
            <a:r>
              <a:rPr lang="zh-CN" altLang="en-US"/>
              <a:t>命令</a:t>
            </a:r>
            <a:endParaRPr lang="zh-CN" altLang="en-US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sz="1400"/>
              <a:t>用于复制文件或文件夹</a:t>
            </a:r>
            <a:endParaRPr lang="zh-CN" altLang="en-US" sz="14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语法：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>
                <a:sym typeface="+mn-ea"/>
              </a:rPr>
              <a:t>-r</a:t>
            </a:r>
            <a:r>
              <a:rPr lang="zh-CN" altLang="en-US" sz="1400">
                <a:sym typeface="+mn-ea"/>
              </a:rPr>
              <a:t>选项，可选，用于复制文件夹使用，表示递归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>
                <a:sym typeface="+mn-ea"/>
              </a:rPr>
              <a:t>参数</a:t>
            </a:r>
            <a:r>
              <a:rPr lang="en-US" altLang="zh-CN" sz="1400">
                <a:sym typeface="+mn-ea"/>
              </a:rPr>
              <a:t>1</a:t>
            </a:r>
            <a:r>
              <a:rPr lang="zh-CN" altLang="en-US" sz="1400">
                <a:sym typeface="+mn-ea"/>
              </a:rPr>
              <a:t>，</a:t>
            </a:r>
            <a:r>
              <a:rPr lang="en-US" altLang="zh-CN" sz="1400">
                <a:sym typeface="+mn-ea"/>
              </a:rPr>
              <a:t>Linux</a:t>
            </a:r>
            <a:r>
              <a:rPr lang="zh-CN" altLang="en-US" sz="1400">
                <a:sym typeface="+mn-ea"/>
              </a:rPr>
              <a:t>路径，表示</a:t>
            </a:r>
            <a:r>
              <a:rPr lang="zh-CN" altLang="en-US" sz="1400">
                <a:sym typeface="+mn-ea"/>
              </a:rPr>
              <a:t>被复制的文件或文件夹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>
                <a:sym typeface="+mn-ea"/>
              </a:rPr>
              <a:t>参数</a:t>
            </a:r>
            <a:r>
              <a:rPr lang="en-US" altLang="zh-CN" sz="1400">
                <a:sym typeface="+mn-ea"/>
              </a:rPr>
              <a:t>2</a:t>
            </a:r>
            <a:r>
              <a:rPr lang="zh-CN" altLang="en-US" sz="1400">
                <a:sym typeface="+mn-ea"/>
              </a:rPr>
              <a:t>，</a:t>
            </a:r>
            <a:r>
              <a:rPr lang="en-US" altLang="zh-CN" sz="1400">
                <a:sym typeface="+mn-ea"/>
              </a:rPr>
              <a:t>Linux</a:t>
            </a:r>
            <a:r>
              <a:rPr lang="zh-CN" altLang="en-US" sz="1400">
                <a:sym typeface="+mn-ea"/>
              </a:rPr>
              <a:t>路径，表示要复制去的地方</a:t>
            </a:r>
            <a:endParaRPr lang="zh-CN" altLang="en-US" sz="1400"/>
          </a:p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2. mv</a:t>
            </a:r>
            <a:r>
              <a:rPr lang="zh-CN" altLang="en-US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命令</a:t>
            </a:r>
            <a:endParaRPr lang="zh-CN" altLang="en-US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sz="1400">
                <a:sym typeface="+mn-ea"/>
              </a:rPr>
              <a:t>用于查看文件内容</a:t>
            </a:r>
            <a:endParaRPr lang="zh-CN" altLang="en-US" sz="14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>
                <a:sym typeface="+mn-ea"/>
              </a:rPr>
              <a:t>语法：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>
                <a:sym typeface="+mn-ea"/>
              </a:rPr>
              <a:t>参数</a:t>
            </a:r>
            <a:r>
              <a:rPr lang="en-US" altLang="zh-CN" sz="1400">
                <a:sym typeface="+mn-ea"/>
              </a:rPr>
              <a:t>1</a:t>
            </a:r>
            <a:r>
              <a:rPr lang="zh-CN" altLang="en-US" sz="1400">
                <a:sym typeface="+mn-ea"/>
              </a:rPr>
              <a:t>，</a:t>
            </a:r>
            <a:r>
              <a:rPr lang="en-US" altLang="zh-CN" sz="1400">
                <a:sym typeface="+mn-ea"/>
              </a:rPr>
              <a:t>Linux</a:t>
            </a:r>
            <a:r>
              <a:rPr lang="zh-CN" altLang="en-US" sz="1400">
                <a:sym typeface="+mn-ea"/>
              </a:rPr>
              <a:t>路径，表示被移动的文件或文件夹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>
                <a:sym typeface="+mn-ea"/>
              </a:rPr>
              <a:t>参数</a:t>
            </a:r>
            <a:r>
              <a:rPr lang="en-US" altLang="zh-CN" sz="1400">
                <a:sym typeface="+mn-ea"/>
              </a:rPr>
              <a:t>2</a:t>
            </a:r>
            <a:r>
              <a:rPr lang="zh-CN" altLang="en-US" sz="1400">
                <a:sym typeface="+mn-ea"/>
              </a:rPr>
              <a:t>，</a:t>
            </a:r>
            <a:r>
              <a:rPr lang="en-US" altLang="zh-CN" sz="1400">
                <a:sym typeface="+mn-ea"/>
              </a:rPr>
              <a:t>Linux</a:t>
            </a:r>
            <a:r>
              <a:rPr lang="zh-CN" altLang="en-US" sz="1400">
                <a:sym typeface="+mn-ea"/>
              </a:rPr>
              <a:t>路径，表示要移动去的地方，如果目标不存在，则进行改名，确保目标存在</a:t>
            </a:r>
            <a:endParaRPr lang="zh-CN" altLang="en-US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3775" y="2033270"/>
            <a:ext cx="1838325" cy="2667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575" y="4559935"/>
            <a:ext cx="1447800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355" y="1463040"/>
            <a:ext cx="6474460" cy="4511040"/>
          </a:xfrm>
        </p:spPr>
        <p:txBody>
          <a:bodyPr/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/>
              <a:t>3. rm</a:t>
            </a:r>
            <a:r>
              <a:rPr lang="zh-CN" altLang="en-US"/>
              <a:t>命令</a:t>
            </a:r>
            <a:endParaRPr lang="zh-CN" altLang="en-US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sz="1400"/>
              <a:t>用于复制文件或文件夹</a:t>
            </a:r>
            <a:endParaRPr lang="zh-CN" altLang="en-US" sz="14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语法：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>
                <a:sym typeface="+mn-ea"/>
              </a:rPr>
              <a:t>-r</a:t>
            </a:r>
            <a:r>
              <a:rPr lang="zh-CN" altLang="en-US" sz="1400">
                <a:sym typeface="+mn-ea"/>
              </a:rPr>
              <a:t>选项，可选，文件夹删除</a:t>
            </a:r>
            <a:endParaRPr lang="zh-CN" altLang="en-US" sz="14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>
                <a:sym typeface="+mn-ea"/>
              </a:rPr>
              <a:t>-f</a:t>
            </a:r>
            <a:r>
              <a:rPr lang="zh-CN" altLang="en-US" sz="1400">
                <a:sym typeface="+mn-ea"/>
              </a:rPr>
              <a:t>选项，可选，用于强制删除（不提示，一般用于</a:t>
            </a:r>
            <a:r>
              <a:rPr lang="en-US" altLang="zh-CN" sz="1400">
                <a:sym typeface="+mn-ea"/>
              </a:rPr>
              <a:t>root</a:t>
            </a:r>
            <a:r>
              <a:rPr lang="zh-CN" altLang="en-US" sz="1400">
                <a:sym typeface="+mn-ea"/>
              </a:rPr>
              <a:t>用户）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参数，表示被删除的文件或文件夹路径，支持多个，空格隔开</a:t>
            </a:r>
            <a:endParaRPr lang="zh-CN" altLang="en-US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参数也支持通配符</a:t>
            </a: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 *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，用以做模糊匹配</a:t>
            </a:r>
            <a:endParaRPr lang="zh-CN" altLang="en-US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7420" y="2790825"/>
            <a:ext cx="3390900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27930" y="1029335"/>
            <a:ext cx="5973445" cy="4631055"/>
          </a:xfrm>
        </p:spPr>
        <p:txBody>
          <a:bodyPr/>
          <a:lstStyle/>
          <a:p>
            <a:pPr algn="l"/>
            <a:r>
              <a:rPr kumimoji="1" lang="en-US" altLang="zh-CN" sz="1600" dirty="0">
                <a:sym typeface="+mn-ea"/>
              </a:rPr>
              <a:t>Linux的目录结构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Linux命令入门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目录切换相关命令(cd/pwd)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相对路径、绝对路径和特殊路径符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创建目录命令(mkdir)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文件操作命令</a:t>
            </a:r>
            <a:r>
              <a:rPr kumimoji="1" lang="en-US" altLang="zh-CN" sz="1600" dirty="0">
                <a:sym typeface="+mn-ea"/>
              </a:rPr>
              <a:t>part1(touch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cat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more</a:t>
            </a:r>
            <a:r>
              <a:rPr kumimoji="1" lang="zh-CN" altLang="en-US" sz="1600" dirty="0">
                <a:sym typeface="+mn-ea"/>
              </a:rPr>
              <a:t>）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文件操作命令part2(cp、mv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rm）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rgbClr val="FF0000"/>
                </a:solidFill>
                <a:sym typeface="+mn-ea"/>
              </a:rPr>
              <a:t>查找命令(which、find）</a:t>
            </a:r>
            <a:endParaRPr kumimoji="1" lang="en-US" altLang="zh-CN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grep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wc</a:t>
            </a:r>
            <a:r>
              <a:rPr kumimoji="1" lang="zh-CN" altLang="en-US" sz="1600" dirty="0">
                <a:sym typeface="+mn-ea"/>
              </a:rPr>
              <a:t>和管道符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echo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tail</a:t>
            </a:r>
            <a:r>
              <a:rPr kumimoji="1" lang="zh-CN" altLang="en-US" sz="1600" dirty="0">
                <a:sym typeface="+mn-ea"/>
              </a:rPr>
              <a:t>和重定向符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vi</a:t>
            </a:r>
            <a:r>
              <a:rPr kumimoji="1" lang="zh-CN" altLang="en-US" sz="1600" dirty="0">
                <a:sym typeface="+mn-ea"/>
              </a:rPr>
              <a:t>编辑器</a:t>
            </a:r>
            <a:endParaRPr kumimoji="1" lang="zh-CN" altLang="en-US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4303395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r>
              <a:rPr lang="zh-CN">
                <a:solidFill>
                  <a:srgbClr val="FF0000"/>
                </a:solidFill>
              </a:rPr>
              <a:t>掌握使用</a:t>
            </a:r>
            <a:r>
              <a:rPr lang="en-US" altLang="zh-CN">
                <a:solidFill>
                  <a:srgbClr val="FF0000"/>
                </a:solidFill>
              </a:rPr>
              <a:t>which</a:t>
            </a:r>
            <a:r>
              <a:rPr lang="zh-CN" altLang="en-US">
                <a:solidFill>
                  <a:srgbClr val="FF0000"/>
                </a:solidFill>
              </a:rPr>
              <a:t>命令查找命令</a:t>
            </a:r>
            <a:r>
              <a:rPr lang="zh-CN" altLang="en-US">
                <a:solidFill>
                  <a:srgbClr val="FF0000"/>
                </a:solidFill>
              </a:rPr>
              <a:t>的程序文件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掌握使用</a:t>
            </a:r>
            <a:r>
              <a:rPr lang="en-US" altLang="zh-CN">
                <a:solidFill>
                  <a:srgbClr val="FF0000"/>
                </a:solidFill>
              </a:rPr>
              <a:t>find</a:t>
            </a:r>
            <a:r>
              <a:rPr lang="zh-CN" altLang="en-US">
                <a:solidFill>
                  <a:srgbClr val="FF0000"/>
                </a:solidFill>
              </a:rPr>
              <a:t>命令查找指定文件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92805" y="5387975"/>
            <a:ext cx="309880" cy="25273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which</a:t>
            </a:r>
            <a:r>
              <a:t>命令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我们在前面学习的</a:t>
            </a:r>
            <a:r>
              <a:rPr lang="en-US" altLang="zh-CN"/>
              <a:t>Linux</a:t>
            </a:r>
            <a:r>
              <a:rPr lang="zh-CN" altLang="en-US"/>
              <a:t>命令，其实它们的本体就是一个个的二进制可执行程序。</a:t>
            </a:r>
            <a:endParaRPr lang="zh-CN" altLang="en-US"/>
          </a:p>
          <a:p>
            <a:r>
              <a:rPr lang="zh-CN" altLang="en-US"/>
              <a:t>和</a:t>
            </a:r>
            <a:r>
              <a:rPr lang="en-US" altLang="zh-CN"/>
              <a:t>Windows</a:t>
            </a:r>
            <a:r>
              <a:rPr lang="zh-CN" altLang="en-US"/>
              <a:t>系统中的</a:t>
            </a:r>
            <a:r>
              <a:rPr lang="en-US" altLang="zh-CN"/>
              <a:t>.exe</a:t>
            </a:r>
            <a:r>
              <a:rPr lang="zh-CN" altLang="en-US"/>
              <a:t>文件，是一个意思。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我们可以通过</a:t>
            </a:r>
            <a:r>
              <a:rPr lang="en-US" altLang="zh-CN"/>
              <a:t>which</a:t>
            </a:r>
            <a:r>
              <a:rPr lang="zh-CN" altLang="en-US"/>
              <a:t>命令，查看所使用的一系列命令的程序文件存放在哪里</a:t>
            </a:r>
            <a:endParaRPr lang="zh-CN" altLang="en-US"/>
          </a:p>
          <a:p>
            <a:r>
              <a:rPr lang="zh-CN" altLang="en-US"/>
              <a:t>语法：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425" y="3463290"/>
            <a:ext cx="1685925" cy="2381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40" y="3801110"/>
            <a:ext cx="2886075" cy="2609850"/>
          </a:xfrm>
          <a:prstGeom prst="rect">
            <a:avLst/>
          </a:prstGeom>
        </p:spPr>
      </p:pic>
      <p:pic>
        <p:nvPicPr>
          <p:cNvPr id="6" name="图片 5" descr="01 (1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9640" y="5382260"/>
            <a:ext cx="1257935" cy="125793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ym typeface="+mn-ea"/>
              </a:rPr>
              <a:t>find</a:t>
            </a:r>
            <a:r>
              <a:rPr>
                <a:sym typeface="+mn-ea"/>
              </a:rPr>
              <a:t>命令</a:t>
            </a:r>
            <a:r>
              <a:rPr lang="en-US" altLang="zh-CN">
                <a:sym typeface="+mn-ea"/>
              </a:rPr>
              <a:t> - </a:t>
            </a:r>
            <a:r>
              <a:rPr>
                <a:sym typeface="+mn-ea"/>
              </a:rPr>
              <a:t>按文件名查找文件</a:t>
            </a:r>
            <a:endParaRPr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在图形化中，我们可以方便的通过系统提供的搜索功能，搜索指定的文件。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同样，在</a:t>
            </a:r>
            <a:r>
              <a:rPr lang="en-US" altLang="zh-CN"/>
              <a:t>Linux</a:t>
            </a:r>
            <a:r>
              <a:rPr lang="zh-CN" altLang="en-US"/>
              <a:t>系统中，我们可以通过</a:t>
            </a:r>
            <a:r>
              <a:rPr lang="en-US" altLang="zh-CN"/>
              <a:t>find</a:t>
            </a:r>
            <a:r>
              <a:rPr lang="zh-CN" altLang="en-US"/>
              <a:t>命令去搜索指定的文件。</a:t>
            </a:r>
            <a:endParaRPr lang="zh-CN" altLang="en-US"/>
          </a:p>
          <a:p>
            <a:r>
              <a:rPr lang="zh-CN" altLang="en-US"/>
              <a:t>语法：</a:t>
            </a:r>
            <a:endParaRPr lang="zh-CN" altLang="en-US"/>
          </a:p>
          <a:p>
            <a:endParaRPr lang="zh-CN" altLang="en-US" sz="1200">
              <a:sym typeface="+mn-ea"/>
            </a:endParaRPr>
          </a:p>
          <a:p>
            <a:r>
              <a:rPr lang="zh-CN" altLang="en-US" sz="1200">
                <a:sym typeface="+mn-ea"/>
              </a:rPr>
              <a:t>为了确保后续演示，拥有最大的权限，可以在整个系统完成搜索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我们可以切换到</a:t>
            </a:r>
            <a:r>
              <a:rPr lang="en-US" altLang="zh-CN" sz="1200">
                <a:sym typeface="+mn-ea"/>
              </a:rPr>
              <a:t>root</a:t>
            </a:r>
            <a:r>
              <a:rPr lang="zh-CN" altLang="en-US" sz="1200">
                <a:sym typeface="+mn-ea"/>
              </a:rPr>
              <a:t>用户以获得管理员权限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执行命令：</a:t>
            </a:r>
            <a:endParaRPr lang="zh-CN" altLang="en-US" sz="1200"/>
          </a:p>
          <a:p>
            <a:r>
              <a:rPr lang="en-US" altLang="zh-CN" sz="1200">
                <a:sym typeface="+mn-ea"/>
              </a:rPr>
              <a:t>su - root</a:t>
            </a:r>
            <a:endParaRPr lang="en-US" altLang="zh-CN" sz="1200"/>
          </a:p>
          <a:p>
            <a:r>
              <a:rPr lang="zh-CN" altLang="en-US" sz="1200">
                <a:sym typeface="+mn-ea"/>
              </a:rPr>
              <a:t>输入密码：</a:t>
            </a:r>
            <a:r>
              <a:rPr lang="en-US" altLang="zh-CN" sz="1200">
                <a:sym typeface="+mn-ea"/>
              </a:rPr>
              <a:t>123456</a:t>
            </a:r>
            <a:r>
              <a:rPr lang="zh-CN" altLang="en-US" sz="1200">
                <a:sym typeface="+mn-ea"/>
              </a:rPr>
              <a:t>（和你普通用户的密码一样）</a:t>
            </a:r>
            <a:endParaRPr lang="zh-CN" altLang="en-US" sz="1200">
              <a:sym typeface="+mn-ea"/>
            </a:endParaRPr>
          </a:p>
          <a:p>
            <a:r>
              <a:rPr lang="en-US" altLang="zh-CN" sz="1200">
                <a:solidFill>
                  <a:srgbClr val="FF0000"/>
                </a:solidFill>
              </a:rPr>
              <a:t>ps</a:t>
            </a:r>
            <a:r>
              <a:rPr lang="zh-CN" altLang="en-US" sz="1200">
                <a:solidFill>
                  <a:srgbClr val="FF0000"/>
                </a:solidFill>
              </a:rPr>
              <a:t>：账户、权限等内容，在后续章节讲解，现在先简单用一下</a:t>
            </a:r>
            <a:endParaRPr lang="en-US" altLang="zh-CN" sz="1200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370" y="2109470"/>
            <a:ext cx="7943850" cy="9906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045" y="3855720"/>
            <a:ext cx="3190875" cy="2762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145" y="5344160"/>
            <a:ext cx="4505325" cy="885825"/>
          </a:xfrm>
          <a:prstGeom prst="rect">
            <a:avLst/>
          </a:prstGeom>
        </p:spPr>
      </p:pic>
      <p:pic>
        <p:nvPicPr>
          <p:cNvPr id="6" name="图片 5" descr="01 (14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8955" y="4878705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ym typeface="+mn-ea"/>
              </a:rPr>
              <a:t>find</a:t>
            </a:r>
            <a:r>
              <a:rPr>
                <a:sym typeface="+mn-ea"/>
              </a:rPr>
              <a:t>命令</a:t>
            </a:r>
            <a:r>
              <a:rPr lang="en-US" altLang="zh-CN">
                <a:sym typeface="+mn-ea"/>
              </a:rPr>
              <a:t> - </a:t>
            </a:r>
            <a:r>
              <a:rPr>
                <a:sym typeface="+mn-ea"/>
              </a:rPr>
              <a:t>按文件名查找文件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查找文件名叫做：</a:t>
            </a:r>
            <a:r>
              <a:rPr lang="en-US" altLang="zh-CN"/>
              <a:t>test</a:t>
            </a:r>
            <a:r>
              <a:rPr lang="zh-CN" altLang="en-US"/>
              <a:t>的文件，从根目录开始搜索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基于语法，可以有命令：</a:t>
            </a:r>
            <a:endParaRPr lang="zh-CN" altLang="en-US"/>
          </a:p>
          <a:p>
            <a:r>
              <a:rPr lang="en-US" altLang="zh-CN"/>
              <a:t>find / -name “test”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10565" y="2197735"/>
            <a:ext cx="3190875" cy="2762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3364230"/>
            <a:ext cx="5934075" cy="2390775"/>
          </a:xfrm>
          <a:prstGeom prst="rect">
            <a:avLst/>
          </a:prstGeom>
        </p:spPr>
      </p:pic>
      <p:pic>
        <p:nvPicPr>
          <p:cNvPr id="4" name="图片 3" descr="01 (20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8775" y="4678045"/>
            <a:ext cx="1931670" cy="193167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ym typeface="+mn-ea"/>
              </a:rPr>
              <a:t>find</a:t>
            </a:r>
            <a:r>
              <a:rPr>
                <a:sym typeface="+mn-ea"/>
              </a:rPr>
              <a:t>命令</a:t>
            </a:r>
            <a:r>
              <a:rPr lang="en-US" altLang="zh-CN">
                <a:sym typeface="+mn-ea"/>
              </a:rPr>
              <a:t> - </a:t>
            </a:r>
            <a:r>
              <a:rPr>
                <a:sym typeface="+mn-ea"/>
              </a:rPr>
              <a:t>通配符</a:t>
            </a:r>
            <a:endParaRPr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根据语法：</a:t>
            </a:r>
            <a:endParaRPr lang="zh-CN" altLang="en-US"/>
          </a:p>
          <a:p>
            <a:r>
              <a:rPr lang="zh-CN" altLang="en-US"/>
              <a:t>被查找文件名，支持使用通配符</a:t>
            </a:r>
            <a:r>
              <a:rPr lang="en-US" altLang="zh-CN"/>
              <a:t> * </a:t>
            </a:r>
            <a:r>
              <a:rPr lang="zh-CN" altLang="en-US"/>
              <a:t>来做模糊查询。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符号</a:t>
            </a:r>
            <a:r>
              <a:rPr lang="en-US" altLang="zh-CN"/>
              <a:t>* </a:t>
            </a:r>
            <a:r>
              <a:rPr lang="zh-CN" altLang="en-US"/>
              <a:t>表示通配符，即匹配任意内容（包含空），示例：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test*</a:t>
            </a:r>
            <a:r>
              <a:rPr lang="zh-CN" altLang="en-US"/>
              <a:t>，表示匹配任何以</a:t>
            </a:r>
            <a:r>
              <a:rPr lang="en-US" altLang="zh-CN"/>
              <a:t>test</a:t>
            </a:r>
            <a:r>
              <a:rPr lang="zh-CN" altLang="en-US"/>
              <a:t>开头的内容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*test</a:t>
            </a:r>
            <a:r>
              <a:rPr lang="zh-CN" altLang="en-US"/>
              <a:t>，表示匹配任何以</a:t>
            </a:r>
            <a:r>
              <a:rPr lang="en-US" altLang="zh-CN"/>
              <a:t>test</a:t>
            </a:r>
            <a:r>
              <a:rPr lang="zh-CN" altLang="en-US"/>
              <a:t>结尾的内容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*test*</a:t>
            </a:r>
            <a:r>
              <a:rPr lang="zh-CN" altLang="en-US"/>
              <a:t>，表示匹配任何包含</a:t>
            </a:r>
            <a:r>
              <a:rPr lang="en-US" altLang="zh-CN"/>
              <a:t>test</a:t>
            </a:r>
            <a:r>
              <a:rPr lang="zh-CN" altLang="en-US"/>
              <a:t>的内容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基于通配符的含义，可以结合</a:t>
            </a:r>
            <a:r>
              <a:rPr lang="en-US" altLang="zh-CN"/>
              <a:t>find</a:t>
            </a:r>
            <a:r>
              <a:rPr lang="zh-CN" altLang="en-US"/>
              <a:t>命令做文件的模糊查询。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832610" y="1814195"/>
            <a:ext cx="3190875" cy="276225"/>
          </a:xfrm>
          <a:prstGeom prst="rect">
            <a:avLst/>
          </a:prstGeom>
        </p:spPr>
      </p:pic>
      <p:pic>
        <p:nvPicPr>
          <p:cNvPr id="4" name="图片 3" descr="01 (42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4465" y="4392295"/>
            <a:ext cx="2350135" cy="235013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ym typeface="+mn-ea"/>
              </a:rPr>
              <a:t>find</a:t>
            </a:r>
            <a:r>
              <a:rPr>
                <a:sym typeface="+mn-ea"/>
              </a:rPr>
              <a:t>命令</a:t>
            </a:r>
            <a:r>
              <a:rPr lang="en-US" altLang="zh-CN">
                <a:sym typeface="+mn-ea"/>
              </a:rPr>
              <a:t> - </a:t>
            </a:r>
            <a:r>
              <a:rPr>
                <a:sym typeface="+mn-ea"/>
              </a:rPr>
              <a:t>通配符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查找所有以</a:t>
            </a:r>
            <a:r>
              <a:rPr lang="en-US" altLang="zh-CN"/>
              <a:t>test</a:t>
            </a:r>
            <a:r>
              <a:rPr lang="zh-CN" altLang="en-US"/>
              <a:t>开头的文件：</a:t>
            </a:r>
            <a:r>
              <a:rPr lang="en-US" altLang="zh-CN"/>
              <a:t>find / -name “test*”</a:t>
            </a:r>
            <a:endParaRPr lang="en-US" altLang="zh-CN"/>
          </a:p>
          <a:p>
            <a:pPr>
              <a:buFont typeface="Arial" panose="020B0604020202020204" pitchFamily="34" charset="0"/>
            </a:pPr>
            <a:endParaRPr lang="en-US" altLang="zh-CN"/>
          </a:p>
          <a:p>
            <a:pPr>
              <a:buFont typeface="Arial" panose="020B0604020202020204" pitchFamily="34" charset="0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查找所有以</a:t>
            </a:r>
            <a:r>
              <a:rPr lang="en-US" altLang="zh-CN"/>
              <a:t>test</a:t>
            </a:r>
            <a:r>
              <a:rPr lang="zh-CN" altLang="en-US"/>
              <a:t>结尾的文件：</a:t>
            </a:r>
            <a:r>
              <a:rPr lang="en-US" altLang="zh-CN"/>
              <a:t>find / -name “*test”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查找所有包含</a:t>
            </a:r>
            <a:r>
              <a:rPr lang="en-US" altLang="zh-CN"/>
              <a:t>test</a:t>
            </a:r>
            <a:r>
              <a:rPr lang="zh-CN" altLang="en-US"/>
              <a:t>的文件：</a:t>
            </a:r>
            <a:r>
              <a:rPr lang="en-US" altLang="zh-CN"/>
              <a:t>find / -name “*test*”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740" y="2061210"/>
            <a:ext cx="2987675" cy="8851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" y="3289935"/>
            <a:ext cx="3854450" cy="13487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740" y="4982210"/>
            <a:ext cx="4219575" cy="1495425"/>
          </a:xfrm>
          <a:prstGeom prst="rect">
            <a:avLst/>
          </a:prstGeom>
        </p:spPr>
      </p:pic>
      <p:pic>
        <p:nvPicPr>
          <p:cNvPr id="7" name="图片 6" descr="01 (44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1750" y="4241165"/>
            <a:ext cx="2507615" cy="2507615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ym typeface="+mn-ea"/>
              </a:rPr>
              <a:t>find</a:t>
            </a:r>
            <a:r>
              <a:rPr>
                <a:sym typeface="+mn-ea"/>
              </a:rPr>
              <a:t>命令</a:t>
            </a:r>
            <a:r>
              <a:rPr lang="en-US" altLang="zh-CN">
                <a:sym typeface="+mn-ea"/>
              </a:rPr>
              <a:t> - </a:t>
            </a:r>
            <a:r>
              <a:rPr>
                <a:sym typeface="+mn-ea"/>
              </a:rPr>
              <a:t>按文件大小查找文件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语法：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+</a:t>
            </a:r>
            <a:r>
              <a:rPr lang="zh-CN" altLang="en-US"/>
              <a:t>、</a:t>
            </a:r>
            <a:r>
              <a:rPr lang="en-US" altLang="zh-CN"/>
              <a:t>- </a:t>
            </a:r>
            <a:r>
              <a:rPr lang="zh-CN" altLang="en-US"/>
              <a:t>表示大于和小于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n</a:t>
            </a:r>
            <a:r>
              <a:rPr lang="zh-CN" altLang="en-US"/>
              <a:t>表示大小数字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kMG</a:t>
            </a:r>
            <a:r>
              <a:rPr lang="zh-CN" altLang="en-US"/>
              <a:t>表示大小单位，</a:t>
            </a:r>
            <a:r>
              <a:rPr lang="en-US" altLang="zh-CN"/>
              <a:t>k(</a:t>
            </a:r>
            <a:r>
              <a:rPr lang="zh-CN" altLang="en-US"/>
              <a:t>小写字母</a:t>
            </a:r>
            <a:r>
              <a:rPr lang="en-US" altLang="zh-CN"/>
              <a:t>)</a:t>
            </a:r>
            <a:r>
              <a:rPr lang="zh-CN" altLang="en-US"/>
              <a:t>表示</a:t>
            </a:r>
            <a:r>
              <a:rPr lang="en-US" altLang="zh-CN"/>
              <a:t>kb</a:t>
            </a:r>
            <a:r>
              <a:rPr lang="zh-CN" altLang="en-US"/>
              <a:t>，</a:t>
            </a:r>
            <a:r>
              <a:rPr lang="en-US" altLang="zh-CN"/>
              <a:t>M</a:t>
            </a:r>
            <a:r>
              <a:rPr lang="zh-CN" altLang="en-US"/>
              <a:t>表示</a:t>
            </a:r>
            <a:r>
              <a:rPr lang="en-US" altLang="zh-CN"/>
              <a:t>MB</a:t>
            </a:r>
            <a:r>
              <a:rPr lang="zh-CN" altLang="en-US"/>
              <a:t>，</a:t>
            </a:r>
            <a:r>
              <a:rPr lang="en-US" altLang="zh-CN"/>
              <a:t>G</a:t>
            </a:r>
            <a:r>
              <a:rPr lang="zh-CN" altLang="en-US"/>
              <a:t>表示</a:t>
            </a:r>
            <a:r>
              <a:rPr lang="en-US" altLang="zh-CN"/>
              <a:t>GB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示例：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查找小于</a:t>
            </a:r>
            <a:r>
              <a:rPr lang="en-US" altLang="zh-CN"/>
              <a:t>10KB</a:t>
            </a:r>
            <a:r>
              <a:rPr lang="zh-CN" altLang="en-US"/>
              <a:t>的文件：</a:t>
            </a:r>
            <a:r>
              <a:rPr lang="en-US" altLang="zh-CN"/>
              <a:t> find / -size -10k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查找大于</a:t>
            </a:r>
            <a:r>
              <a:rPr lang="en-US" altLang="zh-CN"/>
              <a:t>100MB</a:t>
            </a:r>
            <a:r>
              <a:rPr lang="zh-CN" altLang="en-US"/>
              <a:t>的文件：</a:t>
            </a:r>
            <a:r>
              <a:rPr lang="en-US" altLang="zh-CN"/>
              <a:t>find / -size +100M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查找大于</a:t>
            </a:r>
            <a:r>
              <a:rPr lang="en-US" altLang="zh-CN"/>
              <a:t>1GB</a:t>
            </a:r>
            <a:r>
              <a:rPr lang="zh-CN" altLang="en-US"/>
              <a:t>的文件：</a:t>
            </a:r>
            <a:r>
              <a:rPr lang="en-US" altLang="zh-CN"/>
              <a:t>find / -size +1G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>
              <a:buFont typeface="Arial" panose="020B0604020202020204" pitchFamily="34" charset="0"/>
            </a:pP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0975" y="1804670"/>
            <a:ext cx="2771775" cy="257175"/>
          </a:xfrm>
          <a:prstGeom prst="rect">
            <a:avLst/>
          </a:prstGeom>
        </p:spPr>
      </p:pic>
      <p:pic>
        <p:nvPicPr>
          <p:cNvPr id="4" name="图片 3" descr="01 (4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7490" y="4490085"/>
            <a:ext cx="2252980" cy="225298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355" y="1463040"/>
            <a:ext cx="6474460" cy="4511040"/>
          </a:xfrm>
        </p:spPr>
        <p:txBody>
          <a:bodyPr/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/>
              <a:t>1. which</a:t>
            </a:r>
            <a:r>
              <a:rPr lang="zh-CN" altLang="en-US"/>
              <a:t>命令</a:t>
            </a:r>
            <a:endParaRPr lang="zh-CN" altLang="en-US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sz="1400"/>
              <a:t>查找命令的程序文件</a:t>
            </a:r>
            <a:endParaRPr lang="zh-CN" altLang="en-US" sz="14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语法：</a:t>
            </a:r>
            <a:endParaRPr lang="zh-CN" altLang="en-US" sz="14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无需选项，只需要参数表示查找哪个命令</a:t>
            </a:r>
            <a:endParaRPr lang="zh-CN" altLang="en-US" sz="1400"/>
          </a:p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2. find</a:t>
            </a:r>
            <a:r>
              <a:rPr lang="zh-CN" altLang="en-US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命令</a:t>
            </a:r>
            <a:endParaRPr lang="zh-CN" altLang="en-US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sz="1400">
                <a:sym typeface="+mn-ea"/>
              </a:rPr>
              <a:t>用于查找指定的文件</a:t>
            </a:r>
            <a:endParaRPr lang="zh-CN" altLang="en-US" sz="14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按文件名查找：</a:t>
            </a:r>
            <a:endParaRPr lang="zh-CN" altLang="en-US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742950" lvl="1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支持通配符</a:t>
            </a:r>
            <a:endParaRPr lang="zh-CN" altLang="en-US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lvl="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按文件大小查找：</a:t>
            </a:r>
            <a:endParaRPr lang="zh-CN" altLang="en-US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8215" y="2926715"/>
            <a:ext cx="1685925" cy="2381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895465" y="4382770"/>
            <a:ext cx="3190875" cy="2762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5465" y="5073650"/>
            <a:ext cx="2771775" cy="25717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课后练习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请使用</a:t>
            </a:r>
            <a:r>
              <a:rPr lang="en-US" altLang="zh-CN"/>
              <a:t>find</a:t>
            </a:r>
            <a:r>
              <a:rPr lang="zh-CN" altLang="en-US"/>
              <a:t>命令找出：名称中带有</a:t>
            </a:r>
            <a:r>
              <a:rPr lang="en-US" altLang="zh-CN"/>
              <a:t>centos</a:t>
            </a:r>
            <a:r>
              <a:rPr lang="zh-CN" altLang="en-US"/>
              <a:t>的文件</a:t>
            </a:r>
            <a:endParaRPr lang="zh-CN" altLang="en-US"/>
          </a:p>
          <a:p>
            <a:r>
              <a:rPr lang="en-US" altLang="zh-CN"/>
              <a:t>find / -name “*centos*”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请使用</a:t>
            </a:r>
            <a:r>
              <a:rPr lang="en-US" altLang="zh-CN"/>
              <a:t>find</a:t>
            </a:r>
            <a:r>
              <a:rPr lang="zh-CN" altLang="en-US"/>
              <a:t>命令找出：</a:t>
            </a:r>
            <a:r>
              <a:rPr lang="en-US" altLang="zh-CN"/>
              <a:t>/usr </a:t>
            </a:r>
            <a:r>
              <a:rPr lang="zh-CN" altLang="en-US"/>
              <a:t>目录内大于</a:t>
            </a:r>
            <a:r>
              <a:rPr lang="en-US" altLang="zh-CN"/>
              <a:t>100M</a:t>
            </a:r>
            <a:r>
              <a:rPr lang="zh-CN" altLang="en-US"/>
              <a:t>的文件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/>
              <a:t>find /usr -size +100M</a:t>
            </a:r>
            <a:endParaRPr lang="en-US" altLang="zh-CN"/>
          </a:p>
          <a:p>
            <a:pPr>
              <a:buFont typeface="Arial" panose="020B0604020202020204" pitchFamily="34" charset="0"/>
            </a:pP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27930" y="1029335"/>
            <a:ext cx="5973445" cy="4631055"/>
          </a:xfrm>
        </p:spPr>
        <p:txBody>
          <a:bodyPr/>
          <a:lstStyle/>
          <a:p>
            <a:pPr algn="l"/>
            <a:r>
              <a:rPr kumimoji="1" lang="en-US" altLang="zh-CN" sz="1600" dirty="0">
                <a:sym typeface="+mn-ea"/>
              </a:rPr>
              <a:t>Linux的目录结构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Linux命令入门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目录切换相关命令(cd/pwd)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相对路径、绝对路径和特殊路径符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创建目录命令(mkdir)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文件操作命令</a:t>
            </a:r>
            <a:r>
              <a:rPr kumimoji="1" lang="en-US" altLang="zh-CN" sz="1600" dirty="0">
                <a:sym typeface="+mn-ea"/>
              </a:rPr>
              <a:t>part1(touch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cat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more</a:t>
            </a:r>
            <a:r>
              <a:rPr kumimoji="1" lang="zh-CN" altLang="en-US" sz="1600" dirty="0">
                <a:sym typeface="+mn-ea"/>
              </a:rPr>
              <a:t>）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文件操作命令part2(cp、mv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rm）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查找命令(which、find）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rgbClr val="FF0000"/>
                </a:solidFill>
                <a:sym typeface="+mn-ea"/>
              </a:rPr>
              <a:t>grep</a:t>
            </a:r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、</a:t>
            </a:r>
            <a:r>
              <a:rPr kumimoji="1" lang="en-US" altLang="zh-CN" sz="1600" dirty="0">
                <a:solidFill>
                  <a:srgbClr val="FF0000"/>
                </a:solidFill>
                <a:sym typeface="+mn-ea"/>
              </a:rPr>
              <a:t>wc</a:t>
            </a:r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和管道符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echo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tail</a:t>
            </a:r>
            <a:r>
              <a:rPr kumimoji="1" lang="zh-CN" altLang="en-US" sz="1600" dirty="0">
                <a:sym typeface="+mn-ea"/>
              </a:rPr>
              <a:t>和重定向符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vi</a:t>
            </a:r>
            <a:r>
              <a:rPr kumimoji="1" lang="zh-CN" altLang="en-US" sz="1600" dirty="0">
                <a:sym typeface="+mn-ea"/>
              </a:rPr>
              <a:t>编辑器</a:t>
            </a:r>
            <a:endParaRPr kumimoji="1" lang="zh-CN" altLang="en-US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4843145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r>
              <a:rPr lang="zh-CN">
                <a:solidFill>
                  <a:srgbClr val="FF0000"/>
                </a:solidFill>
              </a:rPr>
              <a:t>掌握使用</a:t>
            </a:r>
            <a:r>
              <a:rPr lang="en-US" altLang="zh-CN">
                <a:solidFill>
                  <a:srgbClr val="FF0000"/>
                </a:solidFill>
              </a:rPr>
              <a:t>grep</a:t>
            </a:r>
            <a:r>
              <a:rPr lang="zh-CN" altLang="en-US">
                <a:solidFill>
                  <a:srgbClr val="FF0000"/>
                </a:solidFill>
              </a:rPr>
              <a:t>命令过滤文件内容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掌握使用</a:t>
            </a:r>
            <a:r>
              <a:rPr lang="en-US" altLang="zh-CN">
                <a:solidFill>
                  <a:srgbClr val="FF0000"/>
                </a:solidFill>
              </a:rPr>
              <a:t>wc</a:t>
            </a:r>
            <a:r>
              <a:rPr lang="zh-CN" altLang="en-US">
                <a:solidFill>
                  <a:srgbClr val="FF0000"/>
                </a:solidFill>
              </a:rPr>
              <a:t>命令统计内容数量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掌握</a:t>
            </a:r>
            <a:r>
              <a:rPr lang="en-US" altLang="zh-CN">
                <a:solidFill>
                  <a:srgbClr val="FF0000"/>
                </a:solidFill>
              </a:rPr>
              <a:t>|</a:t>
            </a:r>
            <a:r>
              <a:rPr lang="zh-CN" altLang="en-US">
                <a:solidFill>
                  <a:srgbClr val="FF0000"/>
                </a:solidFill>
              </a:rPr>
              <a:t>管道符的概念和应用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grep</a:t>
            </a:r>
            <a:r>
              <a:t>命令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可以通过</a:t>
            </a:r>
            <a:r>
              <a:rPr lang="en-US" altLang="zh-CN"/>
              <a:t>grep</a:t>
            </a:r>
            <a:r>
              <a:rPr lang="zh-CN" altLang="en-US"/>
              <a:t>命令，从文件中通过关键字过滤文件行。</a:t>
            </a:r>
            <a:endParaRPr lang="zh-CN" altLang="en-US"/>
          </a:p>
          <a:p>
            <a:r>
              <a:rPr lang="zh-CN" altLang="en-US"/>
              <a:t>语法：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选项</a:t>
            </a:r>
            <a:r>
              <a:rPr lang="en-US" altLang="zh-CN"/>
              <a:t>-n</a:t>
            </a:r>
            <a:r>
              <a:rPr lang="zh-CN" altLang="en-US"/>
              <a:t>，可选，表示在结果中显示匹配的行的行号。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参数，关键字，必填，表示过滤的关键字，带有空格或其它特殊符号，建议使用</a:t>
            </a:r>
            <a:r>
              <a:rPr lang="en-US" altLang="zh-CN"/>
              <a:t>””</a:t>
            </a:r>
            <a:r>
              <a:rPr lang="zh-CN" altLang="en-US"/>
              <a:t>将关键字包围起来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参数，文件路径，必填，表示要过滤内容的文件路径，</a:t>
            </a:r>
            <a:r>
              <a:rPr lang="zh-CN" altLang="en-US">
                <a:solidFill>
                  <a:srgbClr val="FF0000"/>
                </a:solidFill>
              </a:rPr>
              <a:t>可作为内容输入端口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现在，通过</a:t>
            </a:r>
            <a:r>
              <a:rPr lang="en-US" altLang="zh-CN"/>
              <a:t>touch</a:t>
            </a:r>
            <a:r>
              <a:rPr lang="zh-CN" altLang="en-US"/>
              <a:t>命令在</a:t>
            </a:r>
            <a:r>
              <a:rPr lang="en-US" altLang="zh-CN"/>
              <a:t>HOME</a:t>
            </a:r>
            <a:r>
              <a:rPr lang="zh-CN" altLang="en-US"/>
              <a:t>目录创建</a:t>
            </a:r>
            <a:r>
              <a:rPr lang="en-US" altLang="zh-CN"/>
              <a:t>itheima.txt</a:t>
            </a:r>
            <a:r>
              <a:rPr lang="zh-CN" altLang="en-US"/>
              <a:t>，并通过图形化页面编辑并保存如下内容：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5905" y="2186940"/>
            <a:ext cx="2352675" cy="2667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020" y="4264660"/>
            <a:ext cx="7620000" cy="1133475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ym typeface="+mn-ea"/>
              </a:rPr>
              <a:t>grep</a:t>
            </a:r>
            <a:r>
              <a:rPr>
                <a:sym typeface="+mn-ea"/>
              </a:rPr>
              <a:t>命令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过滤</a:t>
            </a:r>
            <a:r>
              <a:rPr lang="en-US" altLang="zh-CN"/>
              <a:t>itheima</a:t>
            </a:r>
            <a:r>
              <a:rPr lang="zh-CN" altLang="en-US"/>
              <a:t>关键字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过滤</a:t>
            </a:r>
            <a:r>
              <a:rPr lang="en-US" altLang="zh-CN"/>
              <a:t>itcast</a:t>
            </a:r>
            <a:r>
              <a:rPr lang="zh-CN" altLang="en-US"/>
              <a:t>关键字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过滤</a:t>
            </a:r>
            <a:r>
              <a:rPr lang="en-US" altLang="zh-CN"/>
              <a:t>code</a:t>
            </a:r>
            <a:r>
              <a:rPr lang="zh-CN" altLang="en-US"/>
              <a:t>关键字，并显示行号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120" y="2283460"/>
            <a:ext cx="4305300" cy="4667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446780"/>
            <a:ext cx="4219575" cy="6381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4704715"/>
            <a:ext cx="4314825" cy="428625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ym typeface="+mn-ea"/>
              </a:rPr>
              <a:t>wc</a:t>
            </a:r>
            <a:r>
              <a:rPr>
                <a:sym typeface="+mn-ea"/>
              </a:rPr>
              <a:t>命令做数量统计</a:t>
            </a:r>
            <a:endParaRPr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可以通过</a:t>
            </a:r>
            <a:r>
              <a:rPr lang="en-US" altLang="zh-CN"/>
              <a:t>wc</a:t>
            </a:r>
            <a:r>
              <a:rPr lang="zh-CN" altLang="en-US"/>
              <a:t>命令统计文件的行数、单词数量等</a:t>
            </a:r>
            <a:endParaRPr lang="zh-CN" altLang="en-US"/>
          </a:p>
          <a:p>
            <a:r>
              <a:rPr lang="zh-CN" altLang="en-US"/>
              <a:t>语法：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选项，</a:t>
            </a:r>
            <a:r>
              <a:rPr lang="en-US" altLang="zh-CN"/>
              <a:t>-c</a:t>
            </a:r>
            <a:r>
              <a:rPr lang="zh-CN" altLang="en-US"/>
              <a:t>，统计</a:t>
            </a:r>
            <a:r>
              <a:rPr lang="en-US" altLang="zh-CN"/>
              <a:t>bytes</a:t>
            </a:r>
            <a:r>
              <a:rPr lang="zh-CN" altLang="en-US"/>
              <a:t>数量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选项，</a:t>
            </a:r>
            <a:r>
              <a:rPr lang="en-US" altLang="zh-CN"/>
              <a:t>-m</a:t>
            </a:r>
            <a:r>
              <a:rPr lang="zh-CN" altLang="en-US"/>
              <a:t>，统计字符数量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选项，</a:t>
            </a:r>
            <a:r>
              <a:rPr lang="en-US" altLang="zh-CN"/>
              <a:t>-l</a:t>
            </a:r>
            <a:r>
              <a:rPr lang="zh-CN" altLang="en-US"/>
              <a:t>，统计行数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选项，</a:t>
            </a:r>
            <a:r>
              <a:rPr lang="en-US" altLang="zh-CN"/>
              <a:t>-w</a:t>
            </a:r>
            <a:r>
              <a:rPr lang="zh-CN" altLang="en-US"/>
              <a:t>，统计单词数量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参数，文件路径，被统计的文件，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可作为内容输入端口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1460" y="2202180"/>
            <a:ext cx="2381250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ym typeface="+mn-ea"/>
              </a:rPr>
              <a:t>wc</a:t>
            </a:r>
            <a:r>
              <a:rPr>
                <a:sym typeface="+mn-ea"/>
              </a:rPr>
              <a:t>命令做数量统计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不带选项，统计文件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统计字节数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统计字符数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统计行数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统计单词数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en-US" altLang="zh-CN"/>
          </a:p>
          <a:p>
            <a:pPr>
              <a:buFont typeface="Arial" panose="020B0604020202020204" pitchFamily="34" charset="0"/>
            </a:pP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645" y="2123440"/>
            <a:ext cx="3190875" cy="12382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645" y="3733800"/>
            <a:ext cx="3467100" cy="4095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95" y="4530090"/>
            <a:ext cx="3429000" cy="4095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645" y="5354955"/>
            <a:ext cx="3448050" cy="4191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645" y="6179820"/>
            <a:ext cx="3419475" cy="466725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管道符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学习了</a:t>
            </a:r>
            <a:r>
              <a:rPr lang="en-US" altLang="zh-CN"/>
              <a:t>grep</a:t>
            </a:r>
            <a:r>
              <a:rPr lang="zh-CN" altLang="en-US"/>
              <a:t>命令后，我们在来学习一个新的特殊符号，管道符：</a:t>
            </a:r>
            <a:r>
              <a:rPr lang="en-US" altLang="zh-CN"/>
              <a:t>|</a:t>
            </a:r>
            <a:endParaRPr lang="en-US" altLang="zh-CN"/>
          </a:p>
          <a:p>
            <a:r>
              <a:rPr lang="zh-CN" altLang="en-US"/>
              <a:t>管道符的含义是：将管道符左边命令的结果，作为右边命令的输入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如上图：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cat itheima.txt</a:t>
            </a:r>
            <a:r>
              <a:rPr lang="zh-CN" altLang="en-US"/>
              <a:t>的输出结果（文件内容）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作为右边</a:t>
            </a:r>
            <a:r>
              <a:rPr lang="en-US" altLang="zh-CN"/>
              <a:t>grep</a:t>
            </a:r>
            <a:r>
              <a:rPr lang="zh-CN" altLang="en-US"/>
              <a:t>命令的输入（被过滤文件）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3285" y="1656080"/>
            <a:ext cx="3531870" cy="15633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830" y="2524125"/>
            <a:ext cx="6238875" cy="695325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管道符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管道符的应用非常多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ls | grep Desktop</a:t>
            </a:r>
            <a:r>
              <a:rPr lang="zh-CN" altLang="en-US"/>
              <a:t>，过滤</a:t>
            </a:r>
            <a:r>
              <a:rPr lang="en-US" altLang="zh-CN"/>
              <a:t>ls</a:t>
            </a:r>
            <a:r>
              <a:rPr lang="zh-CN" altLang="en-US"/>
              <a:t>的结果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find / -name “test” | grep “/usr/lib64”</a:t>
            </a:r>
            <a:r>
              <a:rPr lang="zh-CN" altLang="en-US"/>
              <a:t>，过滤结果，只找路径带有</a:t>
            </a:r>
            <a:r>
              <a:rPr lang="en-US" altLang="zh-CN"/>
              <a:t>/usr/lib64</a:t>
            </a:r>
            <a:r>
              <a:rPr lang="zh-CN" altLang="en-US"/>
              <a:t>的结果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cat itheima.txt | grep itcast | grep itheima</a:t>
            </a:r>
            <a:r>
              <a:rPr lang="zh-CN" altLang="en-US"/>
              <a:t>，可以嵌套使用哦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cat itheima.txt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的结果给</a:t>
            </a: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 grep itcast 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使用</a:t>
            </a:r>
            <a:endParaRPr lang="zh-CN" altLang="en-US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cat itheima.txt | grep itcast</a:t>
            </a: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 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的结果给</a:t>
            </a: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 grep itheima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使用</a:t>
            </a:r>
            <a:endParaRPr lang="zh-CN" altLang="en-US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455" y="2507615"/>
            <a:ext cx="3457575" cy="4095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455" y="3335655"/>
            <a:ext cx="5257800" cy="13239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455" y="4975225"/>
            <a:ext cx="6029325" cy="400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355" y="1463040"/>
            <a:ext cx="6474460" cy="4511040"/>
          </a:xfrm>
        </p:spPr>
        <p:txBody>
          <a:bodyPr/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/>
              <a:t>1. grep</a:t>
            </a:r>
            <a:r>
              <a:rPr lang="zh-CN" altLang="en-US"/>
              <a:t>命令</a:t>
            </a:r>
            <a:endParaRPr lang="zh-CN" altLang="en-US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>
                <a:sym typeface="+mn-ea"/>
              </a:rPr>
              <a:t>从文件中通过关键字过滤文件行</a:t>
            </a:r>
            <a:endParaRPr lang="zh-CN" altLang="en-US" sz="14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语法：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>
                <a:sym typeface="+mn-ea"/>
              </a:rPr>
              <a:t>选项</a:t>
            </a:r>
            <a:r>
              <a:rPr lang="en-US" altLang="zh-CN" sz="1400">
                <a:sym typeface="+mn-ea"/>
              </a:rPr>
              <a:t>-n</a:t>
            </a:r>
            <a:r>
              <a:rPr lang="zh-CN" altLang="en-US" sz="1400">
                <a:sym typeface="+mn-ea"/>
              </a:rPr>
              <a:t>，可选，表示在结果中显示匹配的行的行号。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>
                <a:sym typeface="+mn-ea"/>
              </a:rPr>
              <a:t>参数，关键字，必填，表示过滤的关键字，建议使用</a:t>
            </a:r>
            <a:r>
              <a:rPr lang="en-US" altLang="zh-CN" sz="1400">
                <a:sym typeface="+mn-ea"/>
              </a:rPr>
              <a:t>””</a:t>
            </a:r>
            <a:r>
              <a:rPr lang="zh-CN" altLang="en-US" sz="1400">
                <a:sym typeface="+mn-ea"/>
              </a:rPr>
              <a:t>将关键字包围起来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>
                <a:sym typeface="+mn-ea"/>
              </a:rPr>
              <a:t>参数，文件路径，必填，表示要过滤内容的文件路径，</a:t>
            </a:r>
            <a:r>
              <a:rPr lang="zh-CN" altLang="en-US" sz="1400">
                <a:solidFill>
                  <a:srgbClr val="FF0000"/>
                </a:solidFill>
                <a:sym typeface="+mn-ea"/>
              </a:rPr>
              <a:t>可作为管道符的输入</a:t>
            </a:r>
            <a:endParaRPr lang="zh-CN" altLang="en-US" sz="1400"/>
          </a:p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2. wc</a:t>
            </a:r>
            <a:r>
              <a:rPr lang="zh-CN" altLang="en-US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命令</a:t>
            </a:r>
            <a:endParaRPr lang="zh-CN" altLang="en-US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>
                <a:sym typeface="+mn-ea"/>
              </a:rPr>
              <a:t>命令统计文件的行数、单词数量、字节数、字符数等</a:t>
            </a:r>
            <a:endParaRPr lang="zh-CN" altLang="en-US" sz="1400"/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>
                <a:sym typeface="+mn-ea"/>
              </a:rPr>
              <a:t>语法：</a:t>
            </a:r>
            <a:endParaRPr lang="zh-CN" altLang="en-US" sz="1400">
              <a:sym typeface="+mn-ea"/>
            </a:endParaRP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不带选项默认统计：行数、单词数、字节数</a:t>
            </a:r>
            <a:endParaRPr lang="zh-CN" altLang="en-US" sz="1400"/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400"/>
              <a:t>-c</a:t>
            </a:r>
            <a:r>
              <a:rPr lang="zh-CN" altLang="en-US" sz="1400"/>
              <a:t>字节数、</a:t>
            </a:r>
            <a:r>
              <a:rPr lang="en-US" altLang="zh-CN" sz="1400"/>
              <a:t>-m</a:t>
            </a:r>
            <a:r>
              <a:rPr lang="zh-CN" altLang="en-US" sz="1400"/>
              <a:t>字符数、</a:t>
            </a:r>
            <a:r>
              <a:rPr lang="en-US" altLang="zh-CN" sz="1400"/>
              <a:t>-l</a:t>
            </a:r>
            <a:r>
              <a:rPr lang="zh-CN" altLang="en-US" sz="1400"/>
              <a:t>行数、</a:t>
            </a:r>
            <a:r>
              <a:rPr lang="en-US" altLang="zh-CN" sz="1400"/>
              <a:t>-w</a:t>
            </a:r>
            <a:r>
              <a:rPr lang="zh-CN" altLang="en-US" sz="1400"/>
              <a:t>单词数</a:t>
            </a:r>
            <a:endParaRPr lang="zh-CN" altLang="en-US" sz="1400"/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参数，被统计的文件路径，</a:t>
            </a:r>
            <a:r>
              <a:rPr lang="zh-CN" altLang="en-US" sz="1400">
                <a:solidFill>
                  <a:srgbClr val="FF0000"/>
                </a:solidFill>
              </a:rPr>
              <a:t>可作为管道符的输入</a:t>
            </a:r>
            <a:endParaRPr lang="en-US" altLang="zh-CN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3. </a:t>
            </a:r>
            <a:r>
              <a:rPr lang="zh-CN" altLang="en-US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管道符</a:t>
            </a:r>
            <a:r>
              <a:rPr lang="en-US" altLang="zh-CN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 |</a:t>
            </a:r>
            <a:endParaRPr lang="zh-CN" altLang="en-US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>
                <a:sym typeface="+mn-ea"/>
              </a:rPr>
              <a:t>将管道符左边命令的结果，作为右边命令的输入</a:t>
            </a:r>
            <a:endParaRPr lang="zh-CN" altLang="en-US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3610" y="1823720"/>
            <a:ext cx="2352675" cy="2667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9005" y="4360545"/>
            <a:ext cx="2381250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课后练习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/>
              <a:t>对创建的</a:t>
            </a:r>
            <a:r>
              <a:rPr lang="en-US" altLang="zh-CN"/>
              <a:t>test</a:t>
            </a:r>
            <a:r>
              <a:rPr lang="en-US" altLang="zh-CN"/>
              <a:t>.txt</a:t>
            </a:r>
            <a:r>
              <a:rPr lang="zh-CN" altLang="en-US"/>
              <a:t>进行统计</a:t>
            </a:r>
            <a:endParaRPr lang="zh-CN" altLang="en-US"/>
          </a:p>
          <a:p>
            <a:r>
              <a:rPr lang="zh-CN" altLang="en-US"/>
              <a:t>请使用</a:t>
            </a:r>
            <a:r>
              <a:rPr lang="en-US" altLang="zh-CN"/>
              <a:t>cat</a:t>
            </a:r>
            <a:r>
              <a:rPr lang="zh-CN" altLang="en-US"/>
              <a:t>、</a:t>
            </a:r>
            <a:r>
              <a:rPr lang="en-US" altLang="zh-CN"/>
              <a:t>grep</a:t>
            </a:r>
            <a:r>
              <a:rPr lang="zh-CN" altLang="en-US"/>
              <a:t>、管道符、</a:t>
            </a:r>
            <a:r>
              <a:rPr lang="en-US" altLang="zh-CN"/>
              <a:t>wc</a:t>
            </a:r>
            <a:r>
              <a:rPr lang="zh-CN" altLang="en-US"/>
              <a:t>命令组合，进行统计：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统计文件中带有</a:t>
            </a:r>
            <a:r>
              <a:rPr lang="en-US" altLang="zh-CN"/>
              <a:t>itcast</a:t>
            </a:r>
            <a:r>
              <a:rPr lang="zh-CN" altLang="en-US"/>
              <a:t>关键字的有几行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/>
              <a:t>cat test.txt | grep itcast | wc -l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统计文件中带有</a:t>
            </a:r>
            <a:r>
              <a:rPr lang="en-US" altLang="zh-CN"/>
              <a:t>itheima</a:t>
            </a:r>
            <a:r>
              <a:rPr lang="zh-CN" altLang="en-US"/>
              <a:t>关键字的结果中有多少个单词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/>
              <a:t>cat test.txt | grep itheima | wc -w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27930" y="1029335"/>
            <a:ext cx="5973445" cy="4631055"/>
          </a:xfrm>
        </p:spPr>
        <p:txBody>
          <a:bodyPr/>
          <a:lstStyle/>
          <a:p>
            <a:pPr algn="l"/>
            <a:r>
              <a:rPr kumimoji="1" lang="en-US" altLang="zh-CN" sz="1600" dirty="0">
                <a:sym typeface="+mn-ea"/>
              </a:rPr>
              <a:t>Linux的目录结构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Linux命令入门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目录切换相关命令(cd/pwd)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相对路径、绝对路径和特殊路径符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创建目录命令(mkdir)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文件操作命令</a:t>
            </a:r>
            <a:r>
              <a:rPr kumimoji="1" lang="en-US" altLang="zh-CN" sz="1600" dirty="0">
                <a:sym typeface="+mn-ea"/>
              </a:rPr>
              <a:t>part1(touch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cat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more</a:t>
            </a:r>
            <a:r>
              <a:rPr kumimoji="1" lang="zh-CN" altLang="en-US" sz="1600" dirty="0">
                <a:sym typeface="+mn-ea"/>
              </a:rPr>
              <a:t>）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文件操作命令part2(cp、mv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rm）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查找命令(which、find）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grep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wc</a:t>
            </a:r>
            <a:r>
              <a:rPr kumimoji="1" lang="zh-CN" altLang="en-US" sz="1600" dirty="0">
                <a:sym typeface="+mn-ea"/>
              </a:rPr>
              <a:t>和管道符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rgbClr val="FF0000"/>
                </a:solidFill>
                <a:sym typeface="+mn-ea"/>
              </a:rPr>
              <a:t>echo</a:t>
            </a:r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、</a:t>
            </a:r>
            <a:r>
              <a:rPr kumimoji="1" lang="en-US" altLang="zh-CN" sz="1600" dirty="0">
                <a:solidFill>
                  <a:srgbClr val="FF0000"/>
                </a:solidFill>
                <a:sym typeface="+mn-ea"/>
              </a:rPr>
              <a:t>tail</a:t>
            </a:r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和重定向符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vi</a:t>
            </a:r>
            <a:r>
              <a:rPr kumimoji="1" lang="zh-CN" altLang="en-US" sz="1600" dirty="0">
                <a:sym typeface="+mn-ea"/>
              </a:rPr>
              <a:t>编辑器</a:t>
            </a:r>
            <a:endParaRPr kumimoji="1" lang="zh-CN" altLang="en-US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536448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</a:rPr>
              <a:t>掌握使用</a:t>
            </a:r>
            <a:r>
              <a:rPr lang="en-US" altLang="zh-CN">
                <a:solidFill>
                  <a:srgbClr val="FF0000"/>
                </a:solidFill>
              </a:rPr>
              <a:t>echo</a:t>
            </a:r>
            <a:r>
              <a:rPr lang="zh-CN" altLang="en-US">
                <a:solidFill>
                  <a:srgbClr val="FF0000"/>
                </a:solidFill>
              </a:rPr>
              <a:t>命令输出内容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掌握反引号</a:t>
            </a:r>
            <a:r>
              <a:rPr lang="en-US" altLang="zh-CN">
                <a:solidFill>
                  <a:srgbClr val="FF0000"/>
                </a:solidFill>
              </a:rPr>
              <a:t>`</a:t>
            </a:r>
            <a:r>
              <a:rPr lang="zh-CN" altLang="en-US">
                <a:solidFill>
                  <a:srgbClr val="FF0000"/>
                </a:solidFill>
              </a:rPr>
              <a:t>的使用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掌握</a:t>
            </a:r>
            <a:r>
              <a:rPr lang="en-US" altLang="zh-CN">
                <a:solidFill>
                  <a:srgbClr val="FF0000"/>
                </a:solidFill>
              </a:rPr>
              <a:t>tail</a:t>
            </a:r>
            <a:r>
              <a:rPr lang="zh-CN" altLang="en-US">
                <a:solidFill>
                  <a:srgbClr val="FF0000"/>
                </a:solidFill>
              </a:rPr>
              <a:t>命令跟踪文件</a:t>
            </a:r>
            <a:r>
              <a:rPr lang="zh-CN" altLang="en-US">
                <a:solidFill>
                  <a:srgbClr val="FF0000"/>
                </a:solidFill>
              </a:rPr>
              <a:t>更改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掌握重定向符号的使用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echo</a:t>
            </a:r>
            <a:r>
              <a:t>命令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可以使用</a:t>
            </a:r>
            <a:r>
              <a:rPr lang="en-US" altLang="zh-CN"/>
              <a:t>echo</a:t>
            </a:r>
            <a:r>
              <a:rPr lang="zh-CN" altLang="en-US"/>
              <a:t>命令在命令行内输出指定内容</a:t>
            </a:r>
            <a:endParaRPr lang="zh-CN" altLang="en-US"/>
          </a:p>
          <a:p>
            <a:r>
              <a:rPr lang="zh-CN" altLang="en-US"/>
              <a:t>语法：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无需选项，只有一个参数，表示要输出的内容，复杂内容可以用</a:t>
            </a:r>
            <a:r>
              <a:rPr lang="en-US" altLang="zh-CN"/>
              <a:t>””</a:t>
            </a:r>
            <a:r>
              <a:rPr lang="zh-CN" altLang="en-US"/>
              <a:t>包围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演示：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在终端上显示：</a:t>
            </a:r>
            <a:r>
              <a:rPr lang="en-US" altLang="zh-CN"/>
              <a:t>Hello Linux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带有空格或</a:t>
            </a:r>
            <a:r>
              <a:rPr lang="en-US" altLang="zh-CN"/>
              <a:t>\</a:t>
            </a:r>
            <a:r>
              <a:rPr lang="zh-CN" altLang="en-US"/>
              <a:t>等特殊符号，建议使用双引号包围</a:t>
            </a: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因为不包围的话，空格后很容易被识别为参数</a:t>
            </a: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2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，尽管</a:t>
            </a: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echo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不受影响，但是要养成习惯哦</a:t>
            </a:r>
            <a:endParaRPr lang="zh-CN" altLang="en-US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380" y="2216785"/>
            <a:ext cx="1409700" cy="2476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585" y="3768725"/>
            <a:ext cx="3409950" cy="4381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585" y="4813300"/>
            <a:ext cx="3581400" cy="428625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反引号</a:t>
            </a:r>
            <a:r>
              <a:rPr lang="en-US" altLang="zh-CN"/>
              <a:t>`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看一下如下命令：</a:t>
            </a:r>
            <a:r>
              <a:rPr lang="en-US" altLang="zh-CN"/>
              <a:t>echo pwd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本意是想，输出当前的工作路径，但是</a:t>
            </a:r>
            <a:r>
              <a:rPr lang="en-US" altLang="zh-CN"/>
              <a:t>pwd</a:t>
            </a:r>
            <a:r>
              <a:rPr lang="zh-CN" altLang="en-US"/>
              <a:t>被作为普通字符输出了。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我们可以通过将命令用反引号（通常也称之为飘号）</a:t>
            </a:r>
            <a:r>
              <a:rPr lang="en-US" altLang="zh-CN"/>
              <a:t>`</a:t>
            </a:r>
            <a:r>
              <a:rPr lang="zh-CN" altLang="en-US"/>
              <a:t>将其包围</a:t>
            </a:r>
            <a:endParaRPr lang="zh-CN" altLang="en-US"/>
          </a:p>
          <a:p>
            <a:r>
              <a:rPr lang="zh-CN" altLang="en-US"/>
              <a:t>被</a:t>
            </a:r>
            <a:r>
              <a:rPr lang="en-US" altLang="zh-CN"/>
              <a:t>`</a:t>
            </a:r>
            <a:r>
              <a:rPr lang="zh-CN" altLang="en-US"/>
              <a:t>包围的内容，会被作为命令执行，而非普通字符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070" y="2086610"/>
            <a:ext cx="2619375" cy="4095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070" y="4184650"/>
            <a:ext cx="2733675" cy="390525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重定向符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/>
              <a:t>我们再来学习两个特殊符号，重定向符：</a:t>
            </a:r>
            <a:r>
              <a:rPr lang="en-US" altLang="zh-CN"/>
              <a:t>&gt;</a:t>
            </a:r>
            <a:r>
              <a:rPr lang="zh-CN" altLang="en-US"/>
              <a:t>和</a:t>
            </a:r>
            <a:r>
              <a:rPr lang="en-US" altLang="zh-CN"/>
              <a:t>&gt;&gt;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&gt;</a:t>
            </a:r>
            <a:r>
              <a:rPr lang="zh-CN" altLang="en-US"/>
              <a:t>，将左侧命令的结果，</a:t>
            </a:r>
            <a:r>
              <a:rPr lang="zh-CN" altLang="en-US">
                <a:solidFill>
                  <a:srgbClr val="FF0000"/>
                </a:solidFill>
              </a:rPr>
              <a:t>覆盖</a:t>
            </a:r>
            <a:r>
              <a:rPr lang="zh-CN" altLang="en-US"/>
              <a:t>写入到符号右侧指定的文件中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&gt;&gt;</a:t>
            </a:r>
            <a:r>
              <a:rPr lang="zh-CN" altLang="en-US">
                <a:sym typeface="+mn-ea"/>
              </a:rPr>
              <a:t>，将左侧命令的结果，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追加</a:t>
            </a:r>
            <a:r>
              <a:rPr lang="zh-CN" altLang="en-US">
                <a:sym typeface="+mn-ea"/>
              </a:rPr>
              <a:t>写入到符号右侧指定的文件中</a:t>
            </a:r>
            <a:endParaRPr lang="zh-CN" altLang="en-US"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zh-CN" altLang="en-US"/>
              <a:t>演示：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echo “Hello Linux” &gt; itheima.txt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echo “Hello itheima” &gt; itheima.txt</a:t>
            </a:r>
            <a:r>
              <a:rPr lang="zh-CN" altLang="en-US"/>
              <a:t>，再次执行，覆盖新内容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echo “Hello itcast” &gt;&gt; itheima.txt</a:t>
            </a:r>
            <a:r>
              <a:rPr lang="zh-CN" altLang="en-US"/>
              <a:t>，再次执行，使用</a:t>
            </a:r>
            <a:r>
              <a:rPr lang="en-US" altLang="zh-CN"/>
              <a:t>&gt;&gt;</a:t>
            </a:r>
            <a:r>
              <a:rPr lang="zh-CN" altLang="en-US"/>
              <a:t>追加新内容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en-US" altLang="zh-CN"/>
          </a:p>
          <a:p>
            <a:pPr>
              <a:buFont typeface="Arial" panose="020B0604020202020204" pitchFamily="34" charset="0"/>
            </a:pP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80" y="3714750"/>
            <a:ext cx="3983990" cy="5422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" y="4547235"/>
            <a:ext cx="4311015" cy="5638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80" y="5401310"/>
            <a:ext cx="5038725" cy="847725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tail</a:t>
            </a:r>
            <a:r>
              <a:t>命令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使用</a:t>
            </a:r>
            <a:r>
              <a:rPr lang="en-US" altLang="zh-CN"/>
              <a:t>tail</a:t>
            </a:r>
            <a:r>
              <a:rPr lang="zh-CN" altLang="en-US"/>
              <a:t>命令，可以查看文件尾部</a:t>
            </a:r>
            <a:r>
              <a:rPr lang="zh-CN" altLang="en-US"/>
              <a:t>内容，跟踪文件的最新更改，语法</a:t>
            </a:r>
            <a:r>
              <a:rPr lang="zh-CN" altLang="en-US"/>
              <a:t>如下：</a:t>
            </a:r>
            <a:endParaRPr lang="zh-CN" altLang="en-US"/>
          </a:p>
          <a:p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参数，</a:t>
            </a:r>
            <a:r>
              <a:rPr lang="en-US" altLang="zh-CN"/>
              <a:t>Linux</a:t>
            </a:r>
            <a:r>
              <a:rPr lang="zh-CN" altLang="en-US"/>
              <a:t>路径，表示被跟踪的文件</a:t>
            </a:r>
            <a:r>
              <a:rPr lang="zh-CN" altLang="en-US"/>
              <a:t>路径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选项，</a:t>
            </a:r>
            <a:r>
              <a:rPr lang="en-US" altLang="zh-CN"/>
              <a:t>-f</a:t>
            </a:r>
            <a:r>
              <a:rPr lang="zh-CN" altLang="en-US"/>
              <a:t>，表示持续</a:t>
            </a:r>
            <a:r>
              <a:rPr lang="zh-CN" altLang="en-US"/>
              <a:t>跟踪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选项</a:t>
            </a:r>
            <a:r>
              <a:rPr lang="en-US" altLang="zh-CN"/>
              <a:t>, -num</a:t>
            </a:r>
            <a:r>
              <a:rPr lang="zh-CN" altLang="en-US"/>
              <a:t>，表示，查看尾部多少行，不填默认</a:t>
            </a:r>
            <a:r>
              <a:rPr lang="en-US" altLang="zh-CN"/>
              <a:t>10</a:t>
            </a:r>
            <a:r>
              <a:rPr lang="zh-CN" altLang="en-US"/>
              <a:t>行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925" y="2125345"/>
            <a:ext cx="3667125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ym typeface="+mn-ea"/>
              </a:rPr>
              <a:t>tail</a:t>
            </a:r>
            <a:r>
              <a:rPr>
                <a:sym typeface="+mn-ea"/>
              </a:rPr>
              <a:t>命令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查看</a:t>
            </a:r>
            <a:r>
              <a:rPr lang="en-US" altLang="zh-CN"/>
              <a:t>/var/log/vmware-network.log</a:t>
            </a:r>
            <a:r>
              <a:rPr lang="zh-CN" altLang="en-US"/>
              <a:t>文件的尾部</a:t>
            </a:r>
            <a:r>
              <a:rPr lang="en-US" altLang="zh-CN"/>
              <a:t>10</a:t>
            </a:r>
            <a:r>
              <a:rPr lang="zh-CN" altLang="en-US"/>
              <a:t>行：</a:t>
            </a:r>
            <a:r>
              <a:rPr lang="en-US" altLang="zh-CN"/>
              <a:t>tail /var/log/vmware-network.log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查看</a:t>
            </a:r>
            <a:r>
              <a:rPr lang="en-US" altLang="zh-CN">
                <a:sym typeface="+mn-ea"/>
              </a:rPr>
              <a:t>/var/log/vmware-network.log</a:t>
            </a:r>
            <a:r>
              <a:rPr lang="zh-CN" altLang="en-US">
                <a:sym typeface="+mn-ea"/>
              </a:rPr>
              <a:t>文件的尾部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行：</a:t>
            </a:r>
            <a:r>
              <a:rPr lang="en-US" altLang="zh-CN">
                <a:sym typeface="+mn-ea"/>
              </a:rPr>
              <a:t>tail -3 /var/log/vmware-network.log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915" y="2045335"/>
            <a:ext cx="5754370" cy="13430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915" y="3711575"/>
            <a:ext cx="7647940" cy="64389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tail</a:t>
            </a:r>
            <a:r>
              <a:t>持续跟踪文件</a:t>
            </a:r>
            <a:r>
              <a:t>更改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>
              <a:buFont typeface="Arial" panose="020B0604020202020204" pitchFamily="34" charset="0"/>
            </a:pPr>
            <a:r>
              <a:rPr lang="zh-CN" altLang="en-US"/>
              <a:t>使用</a:t>
            </a:r>
            <a:r>
              <a:rPr lang="en-US" altLang="zh-CN"/>
              <a:t>-f</a:t>
            </a:r>
            <a:r>
              <a:rPr lang="zh-CN" altLang="en-US"/>
              <a:t>选项，可以持续跟踪文件</a:t>
            </a:r>
            <a:r>
              <a:rPr lang="zh-CN" altLang="en-US"/>
              <a:t>更改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复制一个新的</a:t>
            </a:r>
            <a:r>
              <a:rPr lang="en-US" altLang="zh-CN"/>
              <a:t>FinalShell</a:t>
            </a:r>
            <a:r>
              <a:rPr lang="zh-CN" altLang="en-US"/>
              <a:t>的</a:t>
            </a:r>
            <a:r>
              <a:rPr lang="zh-CN" altLang="en-US"/>
              <a:t>标签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在第一个标签中，执行：</a:t>
            </a:r>
            <a:r>
              <a:rPr lang="en-US" altLang="zh-CN"/>
              <a:t>touch test.txt</a:t>
            </a:r>
            <a:r>
              <a:rPr lang="zh-CN" altLang="en-US"/>
              <a:t>，创建一个</a:t>
            </a:r>
            <a:r>
              <a:rPr lang="en-US" altLang="zh-CN"/>
              <a:t>test.txt</a:t>
            </a:r>
            <a:r>
              <a:rPr lang="zh-CN" altLang="en-US"/>
              <a:t>文件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在第一个标签中，执行：</a:t>
            </a:r>
            <a:r>
              <a:rPr lang="en-US" altLang="zh-CN"/>
              <a:t>tail -f test.txt</a:t>
            </a:r>
            <a:r>
              <a:rPr lang="zh-CN" altLang="en-US"/>
              <a:t>，持续跟踪文件</a:t>
            </a:r>
            <a:r>
              <a:rPr lang="zh-CN" altLang="en-US"/>
              <a:t>更改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在第二个标签中，多次执行：</a:t>
            </a:r>
            <a:r>
              <a:rPr lang="en-US" altLang="zh-CN"/>
              <a:t>echo </a:t>
            </a:r>
            <a:r>
              <a:rPr lang="zh-CN" altLang="en-US"/>
              <a:t>“内容”</a:t>
            </a:r>
            <a:r>
              <a:rPr lang="en-US" altLang="zh-CN"/>
              <a:t> &gt;&gt; test.txt</a:t>
            </a:r>
            <a:r>
              <a:rPr lang="zh-CN" altLang="en-US"/>
              <a:t>，向文件追加</a:t>
            </a:r>
            <a:r>
              <a:rPr lang="zh-CN" altLang="en-US"/>
              <a:t>内容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观察第一个标签的变化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25" y="2516505"/>
            <a:ext cx="2029460" cy="550545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355" y="1463040"/>
            <a:ext cx="6474460" cy="4511040"/>
          </a:xfrm>
        </p:spPr>
        <p:txBody>
          <a:bodyPr/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/>
              <a:t>1. echo</a:t>
            </a:r>
            <a:r>
              <a:rPr lang="zh-CN" altLang="en-US"/>
              <a:t>命令</a:t>
            </a:r>
            <a:endParaRPr lang="zh-CN" altLang="en-US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>
                <a:sym typeface="+mn-ea"/>
              </a:rPr>
              <a:t>可以使用echo命令在命令行内输出指定内容</a:t>
            </a:r>
            <a:endParaRPr lang="zh-CN" altLang="en-US" sz="1400">
              <a:sym typeface="+mn-ea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语法：</a:t>
            </a:r>
            <a:endParaRPr lang="zh-CN" altLang="en-US" sz="14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>
                <a:sym typeface="+mn-ea"/>
              </a:rPr>
              <a:t>无需选项，只有一个参数，表示要输出的内容，复杂内容可以用</a:t>
            </a:r>
            <a:r>
              <a:rPr lang="en-US" altLang="zh-CN" sz="1400">
                <a:sym typeface="+mn-ea"/>
              </a:rPr>
              <a:t>””</a:t>
            </a:r>
            <a:r>
              <a:rPr lang="zh-CN" altLang="en-US" sz="1400">
                <a:sym typeface="+mn-ea"/>
              </a:rPr>
              <a:t>包围</a:t>
            </a:r>
            <a:endParaRPr lang="zh-CN" altLang="en-US" sz="1400">
              <a:sym typeface="+mn-ea"/>
            </a:endParaRPr>
          </a:p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2. </a:t>
            </a:r>
            <a:r>
              <a:rPr lang="en-US" altLang="zh-CN" b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`</a:t>
            </a:r>
            <a:r>
              <a:rPr lang="zh-CN" altLang="en-US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反引号符</a:t>
            </a:r>
            <a:endParaRPr lang="zh-CN" altLang="en-US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>
                <a:sym typeface="+mn-ea"/>
              </a:rPr>
              <a:t>被</a:t>
            </a:r>
            <a:r>
              <a:rPr lang="en-US" altLang="zh-CN" sz="1400">
                <a:sym typeface="+mn-ea"/>
              </a:rPr>
              <a:t>`</a:t>
            </a:r>
            <a:r>
              <a:rPr lang="zh-CN" altLang="en-US" sz="1400">
                <a:sym typeface="+mn-ea"/>
              </a:rPr>
              <a:t>包围的内容，会被作为命令执行，而非普通字符</a:t>
            </a:r>
            <a:endParaRPr lang="zh-CN" altLang="en-US" sz="1400"/>
          </a:p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3. </a:t>
            </a:r>
            <a:r>
              <a:rPr lang="zh-CN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重定向符</a:t>
            </a:r>
            <a:endParaRPr lang="zh-CN" altLang="en-US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>
                <a:sym typeface="+mn-ea"/>
              </a:rPr>
              <a:t>&gt;</a:t>
            </a:r>
            <a:r>
              <a:rPr lang="zh-CN" altLang="en-US" sz="1400">
                <a:sym typeface="+mn-ea"/>
              </a:rPr>
              <a:t>，将左侧命令的结果，</a:t>
            </a:r>
            <a:r>
              <a:rPr lang="zh-CN" altLang="en-US" sz="1400">
                <a:solidFill>
                  <a:srgbClr val="FF0000"/>
                </a:solidFill>
                <a:sym typeface="+mn-ea"/>
              </a:rPr>
              <a:t>覆盖</a:t>
            </a:r>
            <a:r>
              <a:rPr lang="zh-CN" altLang="en-US" sz="1400">
                <a:sym typeface="+mn-ea"/>
              </a:rPr>
              <a:t>写入到符号右侧指定的文件中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>
                <a:sym typeface="+mn-ea"/>
              </a:rPr>
              <a:t>&gt;&gt;</a:t>
            </a:r>
            <a:r>
              <a:rPr lang="zh-CN" altLang="en-US" sz="1400">
                <a:sym typeface="+mn-ea"/>
              </a:rPr>
              <a:t>，将左侧命令的结果，</a:t>
            </a:r>
            <a:r>
              <a:rPr lang="zh-CN" altLang="en-US" sz="1400">
                <a:solidFill>
                  <a:srgbClr val="FF0000"/>
                </a:solidFill>
                <a:sym typeface="+mn-ea"/>
              </a:rPr>
              <a:t>追加</a:t>
            </a:r>
            <a:r>
              <a:rPr lang="zh-CN" altLang="en-US" sz="1400">
                <a:sym typeface="+mn-ea"/>
              </a:rPr>
              <a:t>写入到符号右侧指定的文件中</a:t>
            </a:r>
            <a:endParaRPr lang="zh-CN" altLang="en-US" sz="1400">
              <a:sym typeface="+mn-ea"/>
            </a:endParaRPr>
          </a:p>
          <a:p>
            <a:pPr marL="0" algn="l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sz="18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4. tail命令</a:t>
            </a:r>
            <a:endParaRPr lang="zh-CN" sz="18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查看文件尾部内容，并可以持续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跟踪</a:t>
            </a:r>
            <a:endParaRPr lang="zh-CN" altLang="en-US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语法：</a:t>
            </a:r>
            <a:endParaRPr lang="zh-CN" altLang="en-US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-f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：持续跟踪，</a:t>
            </a: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-num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：启动的时候查看尾部多少行，默认</a:t>
            </a: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10</a:t>
            </a:r>
            <a:endParaRPr lang="en-US" altLang="zh-CN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Linux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路径，表示被查看的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文件</a:t>
            </a:r>
            <a:endParaRPr lang="zh-CN" altLang="en-US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8060" y="1585595"/>
            <a:ext cx="1409700" cy="2476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635" y="5371465"/>
            <a:ext cx="3667125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课后练习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请使用</a:t>
            </a:r>
            <a:r>
              <a:rPr lang="en-US" altLang="zh-CN"/>
              <a:t>echo</a:t>
            </a:r>
            <a:r>
              <a:rPr lang="zh-CN" altLang="en-US"/>
              <a:t>并配合反引号，输出内容：我当前的工作目录是：</a:t>
            </a:r>
            <a:r>
              <a:rPr lang="en-US" altLang="zh-CN"/>
              <a:t>`</a:t>
            </a:r>
            <a:r>
              <a:rPr lang="zh-CN" altLang="en-US"/>
              <a:t>具体的工作目录路径</a:t>
            </a:r>
            <a:r>
              <a:rPr lang="en-US" altLang="zh-CN"/>
              <a:t>`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并结合重定向符，将输出结果</a:t>
            </a:r>
            <a:r>
              <a:rPr lang="zh-CN" altLang="en-US">
                <a:solidFill>
                  <a:srgbClr val="FF0000"/>
                </a:solidFill>
              </a:rPr>
              <a:t>覆盖</a:t>
            </a:r>
            <a:r>
              <a:rPr lang="zh-CN" altLang="en-US"/>
              <a:t>写入</a:t>
            </a:r>
            <a:r>
              <a:rPr lang="en-US" altLang="zh-CN"/>
              <a:t>work.txt</a:t>
            </a:r>
            <a:r>
              <a:rPr lang="zh-CN" altLang="en-US"/>
              <a:t>文件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t>echo "我当前的工作目录是：`pwd`"</a:t>
            </a:r>
            <a:r>
              <a:rPr lang="en-US"/>
              <a:t> &gt; work.txt</a:t>
            </a:r>
            <a:endParaRPr lang="en-US"/>
          </a:p>
          <a:p>
            <a:pPr>
              <a:buFont typeface="Arial" panose="020B0604020202020204" pitchFamily="34" charset="0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请使用</a:t>
            </a:r>
            <a:r>
              <a:rPr lang="en-US" altLang="zh-CN">
                <a:sym typeface="+mn-ea"/>
              </a:rPr>
              <a:t>echo</a:t>
            </a:r>
            <a:r>
              <a:rPr lang="zh-CN" altLang="en-US">
                <a:sym typeface="+mn-ea"/>
              </a:rPr>
              <a:t>输出任意内容并追加到</a:t>
            </a:r>
            <a:r>
              <a:rPr lang="en-US" altLang="zh-CN">
                <a:sym typeface="+mn-ea"/>
              </a:rPr>
              <a:t>work.txt</a:t>
            </a:r>
            <a:r>
              <a:rPr lang="zh-CN" altLang="en-US">
                <a:sym typeface="+mn-ea"/>
              </a:rPr>
              <a:t>文件</a:t>
            </a:r>
            <a:r>
              <a:rPr lang="zh-CN" altLang="en-US">
                <a:sym typeface="+mn-ea"/>
              </a:rPr>
              <a:t>中</a:t>
            </a: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通过</a:t>
            </a:r>
            <a:r>
              <a:rPr lang="en-US" altLang="zh-CN">
                <a:sym typeface="+mn-ea"/>
              </a:rPr>
              <a:t>tail</a:t>
            </a:r>
            <a:r>
              <a:rPr lang="zh-CN" altLang="en-US">
                <a:sym typeface="+mn-ea"/>
              </a:rPr>
              <a:t>命令持续跟踪文件内容</a:t>
            </a:r>
            <a:r>
              <a:rPr lang="zh-CN" altLang="en-US">
                <a:sym typeface="+mn-ea"/>
              </a:rPr>
              <a:t>更改</a:t>
            </a:r>
            <a:endParaRPr lang="zh-CN" altLang="en-US"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echo </a:t>
            </a:r>
            <a:r>
              <a:rPr>
                <a:sym typeface="+mn-ea"/>
              </a:rPr>
              <a:t>"</a:t>
            </a:r>
            <a:r>
              <a:rPr lang="zh-CN" altLang="en-US">
                <a:sym typeface="+mn-ea"/>
              </a:rPr>
              <a:t>内容</a:t>
            </a:r>
            <a:r>
              <a:rPr>
                <a:sym typeface="+mn-ea"/>
              </a:rPr>
              <a:t>"</a:t>
            </a:r>
            <a:r>
              <a:rPr lang="en-US" altLang="zh-CN">
                <a:sym typeface="+mn-ea"/>
              </a:rPr>
              <a:t> &gt;&gt; work.txt</a:t>
            </a:r>
            <a:endParaRPr lang="en-US" altLang="zh-CN"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en-US" altLang="zh-CN">
                <a:sym typeface="+mn-ea"/>
              </a:rPr>
              <a:t>tail -f work.txt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27930" y="1029335"/>
            <a:ext cx="5973445" cy="4631055"/>
          </a:xfrm>
        </p:spPr>
        <p:txBody>
          <a:bodyPr/>
          <a:lstStyle/>
          <a:p>
            <a:pPr algn="l"/>
            <a:r>
              <a:rPr kumimoji="1" lang="en-US" altLang="zh-CN" sz="1600" dirty="0">
                <a:sym typeface="+mn-ea"/>
              </a:rPr>
              <a:t>Linux的目录结构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Linux命令入门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目录切换相关命令(cd/pwd)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相对路径、绝对路径和特殊路径符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创建目录命令(mkdir)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文件操作命令</a:t>
            </a:r>
            <a:r>
              <a:rPr kumimoji="1" lang="en-US" altLang="zh-CN" sz="1600" dirty="0">
                <a:sym typeface="+mn-ea"/>
              </a:rPr>
              <a:t>part1(touch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cat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more</a:t>
            </a:r>
            <a:r>
              <a:rPr kumimoji="1" lang="zh-CN" altLang="en-US" sz="1600" dirty="0">
                <a:sym typeface="+mn-ea"/>
              </a:rPr>
              <a:t>）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文件操作命令part2(cp、mv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rm）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查找命令(which、find）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grep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wc</a:t>
            </a:r>
            <a:r>
              <a:rPr kumimoji="1" lang="zh-CN" altLang="en-US" sz="1600" dirty="0">
                <a:sym typeface="+mn-ea"/>
              </a:rPr>
              <a:t>和管道符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echo</a:t>
            </a:r>
            <a:r>
              <a:rPr kumimoji="1" lang="zh-CN" altLang="en-US" sz="1600" dirty="0">
                <a:sym typeface="+mn-ea"/>
              </a:rPr>
              <a:t>、</a:t>
            </a:r>
            <a:r>
              <a:rPr kumimoji="1" lang="en-US" altLang="zh-CN" sz="1600" dirty="0">
                <a:sym typeface="+mn-ea"/>
              </a:rPr>
              <a:t>tail</a:t>
            </a:r>
            <a:r>
              <a:rPr kumimoji="1" lang="zh-CN" altLang="en-US" sz="1600" dirty="0">
                <a:sym typeface="+mn-ea"/>
              </a:rPr>
              <a:t>和重定向符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rgbClr val="FF0000"/>
                </a:solidFill>
                <a:sym typeface="+mn-ea"/>
              </a:rPr>
              <a:t>vi</a:t>
            </a:r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编辑器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5887085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r>
              <a:rPr lang="zh-CN">
                <a:solidFill>
                  <a:srgbClr val="FF0000"/>
                </a:solidFill>
              </a:rPr>
              <a:t>掌握使用</a:t>
            </a:r>
            <a:r>
              <a:rPr lang="en-US" altLang="zh-CN">
                <a:solidFill>
                  <a:srgbClr val="FF0000"/>
                </a:solidFill>
              </a:rPr>
              <a:t>VI\VIM</a:t>
            </a:r>
            <a:r>
              <a:rPr lang="zh-CN" altLang="en-US">
                <a:solidFill>
                  <a:srgbClr val="FF0000"/>
                </a:solidFill>
              </a:rPr>
              <a:t>编辑器完成文件编辑工作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vi</a:t>
            </a:r>
            <a:r>
              <a:rPr lang="en-US" altLang="zh-CN">
                <a:sym typeface="+mn-ea"/>
              </a:rPr>
              <a:t>\vim</a:t>
            </a:r>
            <a:r>
              <a:rPr lang="zh-CN" altLang="en-US"/>
              <a:t>编辑器介绍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vi</a:t>
            </a:r>
            <a:r>
              <a:rPr lang="en-US" altLang="zh-CN"/>
              <a:t>\vim</a:t>
            </a:r>
            <a:r>
              <a:rPr lang="zh-CN" altLang="en-US"/>
              <a:t>是visual interface的简称, 是Linux中最经典的文本编辑器</a:t>
            </a:r>
            <a:endParaRPr lang="zh-CN" altLang="en-US"/>
          </a:p>
          <a:p>
            <a:r>
              <a:rPr lang="zh-CN" altLang="en-US"/>
              <a:t>同图形化界面中的</a:t>
            </a:r>
            <a:r>
              <a:rPr lang="en-US" altLang="zh-CN"/>
              <a:t> </a:t>
            </a:r>
            <a:r>
              <a:rPr lang="zh-CN" altLang="en-US"/>
              <a:t>文本编辑器一样，</a:t>
            </a:r>
            <a:r>
              <a:rPr lang="en-US" altLang="zh-CN"/>
              <a:t>vi</a:t>
            </a:r>
            <a:r>
              <a:rPr lang="zh-CN" altLang="en-US"/>
              <a:t>是命令行下对文本文件进行编辑的绝佳选择。</a:t>
            </a:r>
            <a:endParaRPr lang="zh-CN" altLang="en-US"/>
          </a:p>
          <a:p>
            <a:r>
              <a:rPr lang="en-US">
                <a:solidFill>
                  <a:schemeClr val="accent2"/>
                </a:solidFill>
              </a:rPr>
              <a:t>vim</a:t>
            </a:r>
            <a:r>
              <a:rPr>
                <a:solidFill>
                  <a:schemeClr val="accent2"/>
                </a:solidFill>
              </a:rPr>
              <a:t> 是 vi 的加强版本，兼容 vi 的所有指令，不仅能编辑文本，而且还具有 shell 程序编辑的功能，可以不同颜色的字体来辨别语法的正确性，极大方便了程序的设计和编辑性。</a:t>
            </a:r>
            <a:endParaRPr>
              <a:solidFill>
                <a:schemeClr val="accent2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06450" y="3465830"/>
            <a:ext cx="4524375" cy="24098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135" y="3441700"/>
            <a:ext cx="5534025" cy="2458085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vi</a:t>
            </a:r>
            <a:r>
              <a:rPr lang="en-US" altLang="zh-CN">
                <a:sym typeface="+mn-ea"/>
              </a:rPr>
              <a:t>\vim</a:t>
            </a:r>
            <a:r>
              <a:t>编辑器的三种工作模式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 dirty="0">
                <a:solidFill>
                  <a:srgbClr val="AD2B26"/>
                </a:solidFill>
                <a:sym typeface="+mn-ea"/>
              </a:rPr>
              <a:t>命令</a:t>
            </a:r>
            <a:r>
              <a:rPr lang="zh-CN" altLang="en-US" dirty="0">
                <a:sym typeface="+mn-ea"/>
              </a:rPr>
              <a:t>模式（</a:t>
            </a:r>
            <a:r>
              <a:rPr lang="en-US" altLang="zh-CN" dirty="0">
                <a:sym typeface="+mn-ea"/>
              </a:rPr>
              <a:t>Command mode</a:t>
            </a:r>
            <a:r>
              <a:rPr lang="zh-CN" altLang="en-US" dirty="0" smtClean="0">
                <a:sym typeface="+mn-ea"/>
              </a:rPr>
              <a:t>）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>
                <a:sym typeface="+mn-ea"/>
              </a:rPr>
              <a:t>	</a:t>
            </a:r>
            <a:r>
              <a:rPr lang="zh-CN" altLang="en-US" dirty="0" smtClean="0">
                <a:sym typeface="+mn-ea"/>
              </a:rPr>
              <a:t>命令模式下</a:t>
            </a:r>
            <a:r>
              <a:rPr lang="zh-CN" altLang="en-US" dirty="0">
                <a:sym typeface="+mn-ea"/>
              </a:rPr>
              <a:t>，所敲的</a:t>
            </a:r>
            <a:r>
              <a:rPr lang="zh-CN" altLang="en-US" dirty="0" smtClean="0">
                <a:sym typeface="+mn-ea"/>
              </a:rPr>
              <a:t>按键编辑器都</a:t>
            </a:r>
            <a:r>
              <a:rPr lang="zh-CN" altLang="en-US" dirty="0">
                <a:sym typeface="+mn-ea"/>
              </a:rPr>
              <a:t>理解为</a:t>
            </a:r>
            <a:r>
              <a:rPr lang="zh-CN" altLang="en-US" dirty="0" smtClean="0">
                <a:sym typeface="+mn-ea"/>
              </a:rPr>
              <a:t>命令，以</a:t>
            </a:r>
            <a:r>
              <a:rPr lang="zh-CN" altLang="en-US" dirty="0">
                <a:sym typeface="+mn-ea"/>
              </a:rPr>
              <a:t>命令驱动执行不同的</a:t>
            </a:r>
            <a:r>
              <a:rPr lang="zh-CN" altLang="en-US" dirty="0" smtClean="0">
                <a:sym typeface="+mn-ea"/>
              </a:rPr>
              <a:t>功能。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	</a:t>
            </a:r>
            <a:r>
              <a:rPr lang="zh-CN" altLang="en-US" dirty="0" smtClean="0">
                <a:sym typeface="+mn-ea"/>
              </a:rPr>
              <a:t>此</a:t>
            </a:r>
            <a:r>
              <a:rPr lang="zh-CN" altLang="en-US" dirty="0">
                <a:sym typeface="+mn-ea"/>
              </a:rPr>
              <a:t>模型下，不能自由进行</a:t>
            </a:r>
            <a:r>
              <a:rPr lang="zh-CN" altLang="en-US" dirty="0" smtClean="0">
                <a:sym typeface="+mn-ea"/>
              </a:rPr>
              <a:t>文本编辑。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AD2B26"/>
                </a:solidFill>
                <a:sym typeface="+mn-ea"/>
              </a:rPr>
              <a:t>输入</a:t>
            </a:r>
            <a:r>
              <a:rPr lang="zh-CN" altLang="en-US" dirty="0">
                <a:sym typeface="+mn-ea"/>
              </a:rPr>
              <a:t>模式（</a:t>
            </a:r>
            <a:r>
              <a:rPr lang="en-US" altLang="zh-CN" dirty="0">
                <a:sym typeface="+mn-ea"/>
              </a:rPr>
              <a:t>Insert mode</a:t>
            </a:r>
            <a:r>
              <a:rPr lang="zh-CN" altLang="en-US" dirty="0" smtClean="0">
                <a:sym typeface="+mn-ea"/>
              </a:rPr>
              <a:t>）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	</a:t>
            </a:r>
            <a:r>
              <a:rPr lang="zh-CN" altLang="en-US" dirty="0" smtClean="0">
                <a:sym typeface="+mn-ea"/>
              </a:rPr>
              <a:t>也就是所谓的编辑模式、插入模式。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>
                <a:sym typeface="+mn-ea"/>
              </a:rPr>
              <a:t>	</a:t>
            </a:r>
            <a:r>
              <a:rPr lang="zh-CN" altLang="en-US" dirty="0" smtClean="0">
                <a:sym typeface="+mn-ea"/>
              </a:rPr>
              <a:t>此模式下，可以对文件内容进行自由编辑。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AD2B26"/>
                </a:solidFill>
                <a:sym typeface="+mn-ea"/>
              </a:rPr>
              <a:t>底线</a:t>
            </a:r>
            <a:r>
              <a:rPr lang="zh-CN" altLang="en-US" dirty="0">
                <a:solidFill>
                  <a:srgbClr val="AD2B26"/>
                </a:solidFill>
                <a:sym typeface="+mn-ea"/>
              </a:rPr>
              <a:t>命令</a:t>
            </a:r>
            <a:r>
              <a:rPr lang="zh-CN" altLang="en-US" dirty="0">
                <a:sym typeface="+mn-ea"/>
              </a:rPr>
              <a:t>模式（</a:t>
            </a:r>
            <a:r>
              <a:rPr lang="en-US" altLang="zh-CN" dirty="0">
                <a:sym typeface="+mn-ea"/>
              </a:rPr>
              <a:t>Last line mode</a:t>
            </a:r>
            <a:r>
              <a:rPr lang="zh-CN" altLang="en-US" dirty="0" smtClean="0">
                <a:sym typeface="+mn-ea"/>
              </a:rPr>
              <a:t>）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	</a:t>
            </a:r>
            <a:r>
              <a:rPr lang="zh-CN" altLang="en-US" dirty="0" smtClean="0">
                <a:sym typeface="+mn-ea"/>
              </a:rPr>
              <a:t>以：开始，通常用于文件的保存、退出。</a:t>
            </a:r>
            <a:endParaRPr lang="zh-CN" altLang="en-US" dirty="0"/>
          </a:p>
          <a:p>
            <a:endParaRPr lang="zh-CN" altLang="en-US"/>
          </a:p>
        </p:txBody>
      </p:sp>
      <p:pic>
        <p:nvPicPr>
          <p:cNvPr id="22530" name="Picture 2" descr="https://www.runoob.com/wp-content/uploads/2014/07/vim-vi-workmodel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7274" y="2855222"/>
            <a:ext cx="4476888" cy="3020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命令模式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如果需要通过</a:t>
            </a:r>
            <a:r>
              <a:rPr lang="en-US" altLang="zh-CN"/>
              <a:t>vi/vim</a:t>
            </a:r>
            <a:r>
              <a:rPr lang="zh-CN" altLang="en-US"/>
              <a:t>编辑器编辑文件，请通过如下命令：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vim</a:t>
            </a:r>
            <a:r>
              <a:rPr lang="zh-CN" altLang="en-US"/>
              <a:t>兼容全部的</a:t>
            </a:r>
            <a:r>
              <a:rPr lang="en-US" altLang="zh-CN"/>
              <a:t>vi</a:t>
            </a:r>
            <a:r>
              <a:rPr lang="zh-CN" altLang="en-US"/>
              <a:t>功能，后续全部使用</a:t>
            </a:r>
            <a:r>
              <a:rPr lang="en-US" altLang="zh-CN"/>
              <a:t>vim</a:t>
            </a:r>
            <a:r>
              <a:rPr lang="zh-CN" altLang="en-US"/>
              <a:t>命令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如果文件路径表示的文件</a:t>
            </a:r>
            <a:r>
              <a:rPr lang="zh-CN" altLang="en-US">
                <a:solidFill>
                  <a:schemeClr val="accent2"/>
                </a:solidFill>
              </a:rPr>
              <a:t>不存在</a:t>
            </a:r>
            <a:r>
              <a:rPr lang="zh-CN" altLang="en-US"/>
              <a:t>，那么此命令会用于</a:t>
            </a:r>
            <a:r>
              <a:rPr lang="zh-CN" altLang="en-US">
                <a:solidFill>
                  <a:schemeClr val="accent2"/>
                </a:solidFill>
              </a:rPr>
              <a:t>编辑新文件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如果文件路径表示的文件</a:t>
            </a:r>
            <a:r>
              <a:rPr lang="zh-CN" altLang="en-US">
                <a:solidFill>
                  <a:schemeClr val="accent2"/>
                </a:solidFill>
              </a:rPr>
              <a:t>存在</a:t>
            </a:r>
            <a:r>
              <a:rPr lang="zh-CN" altLang="en-US"/>
              <a:t>，那么此命令用于</a:t>
            </a:r>
            <a:r>
              <a:rPr lang="zh-CN" altLang="en-US">
                <a:solidFill>
                  <a:schemeClr val="accent2"/>
                </a:solidFill>
              </a:rPr>
              <a:t>编辑已有文件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685" y="2126615"/>
            <a:ext cx="1133475" cy="466725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vi</a:t>
            </a:r>
            <a:r>
              <a:t>编辑器的快速体验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通过</a:t>
            </a:r>
            <a:r>
              <a:rPr lang="en-US" altLang="zh-CN"/>
              <a:t>vi/vim</a:t>
            </a:r>
            <a:r>
              <a:rPr lang="zh-CN" altLang="en-US"/>
              <a:t>命令编辑文件，会打开一个新的窗口，此时这个窗口就是：命令模式窗口</a:t>
            </a:r>
            <a:endParaRPr lang="zh-CN" altLang="en-US"/>
          </a:p>
          <a:p>
            <a:r>
              <a:rPr lang="zh-CN" altLang="en-US"/>
              <a:t>命令模式是</a:t>
            </a:r>
            <a:r>
              <a:rPr lang="en-US" altLang="zh-CN"/>
              <a:t>vi</a:t>
            </a:r>
            <a:r>
              <a:rPr lang="zh-CN" altLang="en-US"/>
              <a:t>编辑器的入口和出口，如右图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进入</a:t>
            </a:r>
            <a:r>
              <a:rPr lang="en-US" altLang="zh-CN"/>
              <a:t>vi</a:t>
            </a:r>
            <a:r>
              <a:rPr lang="zh-CN" altLang="en-US"/>
              <a:t>编辑器会进入命令模式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通过命令模式输入键盘指令，可以进入输入模式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输入模式需要退回到命令模式，然后通过命令可以进入底线命令模式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 sz="1400"/>
          </a:p>
          <a:p>
            <a:pPr>
              <a:buFont typeface="Arial" panose="020B0604020202020204" pitchFamily="34" charset="0"/>
            </a:pPr>
            <a:r>
              <a:rPr lang="zh-CN" altLang="en-US" sz="1400"/>
              <a:t>快速体验</a:t>
            </a:r>
            <a:endParaRPr lang="zh-CN" altLang="en-US" sz="1400"/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zh-CN" altLang="en-US" sz="1400"/>
              <a:t>使用：</a:t>
            </a:r>
            <a:r>
              <a:rPr lang="en-US" altLang="zh-CN" sz="1400"/>
              <a:t>vim hello.txt</a:t>
            </a:r>
            <a:r>
              <a:rPr lang="zh-CN" altLang="en-US" sz="1400"/>
              <a:t>，编辑一个新文件，执行后进入的是命令模式</a:t>
            </a:r>
            <a:endParaRPr lang="zh-CN" altLang="en-US" sz="1400"/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zh-CN" altLang="en-US" sz="1400"/>
              <a:t>在命令模式内，按键盘</a:t>
            </a:r>
            <a:r>
              <a:rPr lang="en-US" altLang="zh-CN" sz="1400"/>
              <a:t> i </a:t>
            </a:r>
            <a:r>
              <a:rPr lang="zh-CN" altLang="en-US" sz="1400"/>
              <a:t>，进入输入模式</a:t>
            </a:r>
            <a:endParaRPr lang="zh-CN" altLang="en-US" sz="1400"/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zh-CN" altLang="en-US" sz="1400"/>
              <a:t>在输入模式内输入：</a:t>
            </a:r>
            <a:r>
              <a:rPr lang="en-US" altLang="zh-CN" sz="1400"/>
              <a:t>itheima and itcast.</a:t>
            </a:r>
            <a:endParaRPr lang="en-US" altLang="zh-CN" sz="1400"/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zh-CN" altLang="en-US" sz="1400"/>
              <a:t>输入完成后，按</a:t>
            </a:r>
            <a:r>
              <a:rPr lang="en-US" altLang="zh-CN" sz="1400"/>
              <a:t>esc</a:t>
            </a:r>
            <a:r>
              <a:rPr lang="zh-CN" altLang="en-US" sz="1400"/>
              <a:t>回退会命令模式</a:t>
            </a:r>
            <a:endParaRPr lang="zh-CN" altLang="en-US" sz="1400"/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zh-CN" altLang="en-US" sz="1400"/>
              <a:t>在命令模式内，按键盘</a:t>
            </a:r>
            <a:r>
              <a:rPr lang="en-US" altLang="zh-CN" sz="1400"/>
              <a:t> : </a:t>
            </a:r>
            <a:r>
              <a:rPr lang="zh-CN" altLang="en-US" sz="1400"/>
              <a:t>，进入底线命令模式</a:t>
            </a:r>
            <a:endParaRPr lang="zh-CN" altLang="en-US" sz="1400"/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zh-CN" altLang="en-US" sz="1400"/>
              <a:t>在底线命令内输入：</a:t>
            </a:r>
            <a:r>
              <a:rPr lang="en-US" altLang="zh-CN" sz="1400"/>
              <a:t>wq</a:t>
            </a:r>
            <a:r>
              <a:rPr lang="zh-CN" altLang="en-US" sz="1400"/>
              <a:t>，保存文件并退出</a:t>
            </a:r>
            <a:r>
              <a:rPr lang="en-US" altLang="zh-CN" sz="1400"/>
              <a:t>vi</a:t>
            </a:r>
            <a:r>
              <a:rPr lang="zh-CN" altLang="en-US" sz="1400"/>
              <a:t>编辑器</a:t>
            </a:r>
            <a:endParaRPr lang="zh-CN" altLang="en-US" sz="1400"/>
          </a:p>
        </p:txBody>
      </p:sp>
      <p:pic>
        <p:nvPicPr>
          <p:cNvPr id="22530" name="Picture 2" descr="https://www.runoob.com/wp-content/uploads/2014/07/vim-vi-workmodel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514" y="2363732"/>
            <a:ext cx="4476888" cy="3020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命令模式快捷键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经过刚刚的快速体验，想必同学们对于</a:t>
            </a:r>
            <a:r>
              <a:rPr lang="en-US" altLang="zh-CN"/>
              <a:t>3</a:t>
            </a:r>
            <a:r>
              <a:rPr lang="zh-CN" altLang="en-US"/>
              <a:t>种模式的切换有了一定的了解。</a:t>
            </a:r>
            <a:endParaRPr lang="zh-CN" altLang="en-US"/>
          </a:p>
          <a:p>
            <a:r>
              <a:rPr lang="zh-CN" altLang="en-US"/>
              <a:t>现在我们来看一下，在命令模式下的一些常见快捷键。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970" y="2646680"/>
            <a:ext cx="6657975" cy="3228975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命令模式快捷键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806440" y="1656715"/>
            <a:ext cx="4261485" cy="35439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65" y="1656715"/>
            <a:ext cx="4428490" cy="3245485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底线命令模式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编辑模式没有什么特殊的，进入编辑模式后，任何快捷键都没有作用，就是正常输入文本而已。</a:t>
            </a:r>
            <a:endParaRPr lang="zh-CN" altLang="en-US"/>
          </a:p>
          <a:p>
            <a:r>
              <a:rPr lang="zh-CN" altLang="en-US"/>
              <a:t>唯一大家需要记住的，就是：通过</a:t>
            </a:r>
            <a:r>
              <a:rPr lang="en-US" altLang="zh-CN"/>
              <a:t>esc</a:t>
            </a:r>
            <a:r>
              <a:rPr lang="zh-CN" altLang="en-US"/>
              <a:t>，可以退回到命令模式中即可。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在命令模式内，输入</a:t>
            </a:r>
            <a:r>
              <a:rPr lang="en-US" altLang="zh-CN"/>
              <a:t>: </a:t>
            </a:r>
            <a:r>
              <a:rPr lang="zh-CN" altLang="en-US"/>
              <a:t>，即可进入底线命令模式，支持如下命令：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255" y="3390900"/>
            <a:ext cx="4610100" cy="2390775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355" y="1463040"/>
            <a:ext cx="6474460" cy="4511040"/>
          </a:xfrm>
        </p:spPr>
        <p:txBody>
          <a:bodyPr/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/>
              <a:t>1. </a:t>
            </a:r>
            <a:r>
              <a:rPr lang="zh-CN" altLang="en-US"/>
              <a:t>什么是</a:t>
            </a:r>
            <a:r>
              <a:rPr lang="en-US" altLang="zh-CN"/>
              <a:t>vi/vim</a:t>
            </a:r>
            <a:r>
              <a:rPr lang="zh-CN" altLang="en-US"/>
              <a:t>编辑器</a:t>
            </a:r>
            <a:endParaRPr lang="zh-CN" altLang="en-US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400"/>
              <a:t>vi\vim</a:t>
            </a:r>
            <a:r>
              <a:rPr lang="zh-CN" altLang="en-US" sz="1400"/>
              <a:t>编辑器，就是命令行模式下的文本编辑器，用来编辑文件</a:t>
            </a:r>
            <a:endParaRPr lang="zh-CN" altLang="en-US" sz="14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400"/>
              <a:t>vim</a:t>
            </a:r>
            <a:r>
              <a:rPr lang="zh-CN" altLang="en-US" sz="1400"/>
              <a:t>是</a:t>
            </a:r>
            <a:r>
              <a:rPr lang="en-US" altLang="zh-CN" sz="1400"/>
              <a:t>vi</a:t>
            </a:r>
            <a:r>
              <a:rPr lang="zh-CN" altLang="en-US" sz="1400"/>
              <a:t>的升级版，一般用</a:t>
            </a:r>
            <a:r>
              <a:rPr lang="en-US" altLang="zh-CN" sz="1400"/>
              <a:t>vim</a:t>
            </a:r>
            <a:r>
              <a:rPr lang="zh-CN" altLang="en-US" sz="1400"/>
              <a:t>即可，包含全部</a:t>
            </a:r>
            <a:r>
              <a:rPr lang="en-US" altLang="zh-CN" sz="1400"/>
              <a:t>vi</a:t>
            </a:r>
            <a:r>
              <a:rPr lang="zh-CN" altLang="en-US" sz="1400"/>
              <a:t>功能</a:t>
            </a:r>
            <a:endParaRPr lang="zh-CN" altLang="en-US" sz="1400"/>
          </a:p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2. </a:t>
            </a:r>
            <a:r>
              <a:rPr lang="zh-CN" altLang="en-US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基础命令</a:t>
            </a:r>
            <a:endParaRPr lang="zh-CN" altLang="en-US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zh-CN" altLang="en-US" sz="1400"/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zh-CN" altLang="en-US" sz="1400"/>
          </a:p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3. </a:t>
            </a:r>
            <a:r>
              <a:rPr lang="zh-CN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运行模式</a:t>
            </a:r>
            <a:endParaRPr lang="zh-CN" altLang="en-US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命令模式，默认的模式，可以通过键盘快捷键控制文件内容</a:t>
            </a:r>
            <a:endParaRPr lang="zh-CN" altLang="en-US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输入模式，通过命令模式进入，可以输入内容进行编辑，按</a:t>
            </a: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esc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退回命令模式</a:t>
            </a:r>
            <a:endParaRPr lang="zh-CN" altLang="en-US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底线命令模式，通过命令模式进入，可以对文件进行保存、关闭等操作</a:t>
            </a:r>
            <a:endParaRPr lang="en-US" altLang="zh-CN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0520" y="3338830"/>
            <a:ext cx="1133475" cy="466725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 descr="7b0a20202020227461726765744d6f64756c65223a202270726f636573734f6e6c696e65466f6e7473220a7d0a"/>
          <p:cNvSpPr txBox="1"/>
          <p:nvPr/>
        </p:nvSpPr>
        <p:spPr>
          <a:xfrm>
            <a:off x="1356995" y="2967990"/>
            <a:ext cx="9478645" cy="101473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60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sym typeface="汉仪粗黑简" panose="02010600000101010101" charset="-122"/>
              </a:rPr>
              <a:t>补充：关于命令选项</a:t>
            </a:r>
            <a:r>
              <a:rPr lang="zh-CN" altLang="en-US" sz="60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sym typeface="汉仪粗黑简" panose="02010600000101010101" charset="-122"/>
              </a:rPr>
              <a:t>的</a:t>
            </a:r>
            <a:r>
              <a:rPr lang="zh-CN" altLang="en-US" sz="60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sym typeface="汉仪粗黑简" panose="02010600000101010101" charset="-122"/>
              </a:rPr>
              <a:t>说明</a:t>
            </a:r>
            <a:endParaRPr lang="zh-CN" altLang="en-US" sz="60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sym typeface="汉仪粗黑简" panose="02010600000101010101" charset="-122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命令的选项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我们学习的一系列</a:t>
            </a:r>
            <a:r>
              <a:rPr lang="en-US" altLang="zh-CN"/>
              <a:t>Linux</a:t>
            </a:r>
            <a:r>
              <a:rPr lang="zh-CN" altLang="en-US"/>
              <a:t>命令，它们所拥有的选项都是非常多的。</a:t>
            </a:r>
            <a:endParaRPr lang="zh-CN" altLang="en-US"/>
          </a:p>
          <a:p>
            <a:r>
              <a:rPr lang="zh-CN" altLang="en-US"/>
              <a:t>比如，简单的</a:t>
            </a:r>
            <a:r>
              <a:rPr lang="en-US" altLang="zh-CN"/>
              <a:t>ls</a:t>
            </a:r>
            <a:r>
              <a:rPr lang="zh-CN" altLang="en-US"/>
              <a:t>命令就有：</a:t>
            </a:r>
            <a:endParaRPr lang="zh-CN" altLang="en-US"/>
          </a:p>
          <a:p>
            <a:r>
              <a:rPr lang="en-US" altLang="zh-CN"/>
              <a:t>-a -A -b -c -C -d -D -f -F -g -G -h -H -i -I -k -l -L -m -n -N -o -p -q -Q -r-R -s -S -t -T -u -U -v -w -x -X -1</a:t>
            </a:r>
            <a:endParaRPr lang="en-US" altLang="zh-CN"/>
          </a:p>
          <a:p>
            <a:r>
              <a:rPr lang="zh-CN" altLang="en-US"/>
              <a:t>等选项，可以发现选项是极其多的。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课程中，</a:t>
            </a:r>
            <a:r>
              <a:rPr lang="en-US" altLang="zh-CN"/>
              <a:t> </a:t>
            </a:r>
            <a:r>
              <a:rPr lang="zh-CN" altLang="en-US"/>
              <a:t>并不会将全部的选项都进行讲解，否则，一个</a:t>
            </a:r>
            <a:r>
              <a:rPr lang="en-US" altLang="zh-CN"/>
              <a:t>ls</a:t>
            </a:r>
            <a:r>
              <a:rPr lang="zh-CN" altLang="en-US"/>
              <a:t>命令就可能讲解</a:t>
            </a:r>
            <a:r>
              <a:rPr lang="en-US" altLang="zh-CN"/>
              <a:t>2</a:t>
            </a:r>
            <a:r>
              <a:rPr lang="zh-CN" altLang="en-US"/>
              <a:t>小时之久。</a:t>
            </a:r>
            <a:endParaRPr lang="zh-CN" altLang="en-US"/>
          </a:p>
          <a:p>
            <a:r>
              <a:rPr lang="zh-CN" altLang="en-US"/>
              <a:t>课程中，会对常见的选项进行讲解，</a:t>
            </a:r>
            <a:r>
              <a:rPr lang="en-US" altLang="zh-CN"/>
              <a:t> </a:t>
            </a:r>
            <a:r>
              <a:rPr lang="zh-CN" altLang="en-US"/>
              <a:t>足够满足绝大多数的学习、工作场景。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14" name="图片 13" descr="01 (99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5170" y="5368290"/>
            <a:ext cx="1489710" cy="148971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查看命令帮助和手册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如果想要对命令的其它选项进行查阅，可以通过如下方式：</a:t>
            </a:r>
            <a:endParaRPr lang="zh-CN" altLang="en-US"/>
          </a:p>
          <a:p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任何命令都支持：</a:t>
            </a:r>
            <a:r>
              <a:rPr lang="en-US" altLang="zh-CN"/>
              <a:t>--help </a:t>
            </a:r>
            <a:r>
              <a:rPr lang="zh-CN" altLang="en-US"/>
              <a:t>选项，</a:t>
            </a:r>
            <a:r>
              <a:rPr lang="en-US" altLang="zh-CN"/>
              <a:t> </a:t>
            </a:r>
            <a:r>
              <a:rPr lang="zh-CN" altLang="en-US"/>
              <a:t>可以通过这个选项，查看命令的帮助。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如：</a:t>
            </a:r>
            <a:r>
              <a:rPr lang="en-US" altLang="zh-CN"/>
              <a:t>ls --help</a:t>
            </a:r>
            <a:r>
              <a:rPr lang="zh-CN" altLang="en-US"/>
              <a:t>，</a:t>
            </a:r>
            <a:r>
              <a:rPr lang="en-US" altLang="zh-CN"/>
              <a:t> </a:t>
            </a:r>
            <a:r>
              <a:rPr lang="zh-CN" altLang="en-US"/>
              <a:t>会列出</a:t>
            </a:r>
            <a:r>
              <a:rPr lang="en-US" altLang="zh-CN"/>
              <a:t>ls</a:t>
            </a:r>
            <a:r>
              <a:rPr lang="zh-CN" altLang="en-US"/>
              <a:t>命令的帮助文档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帮助文档会简单的对命令的使用方式进行说明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21690" y="3334385"/>
            <a:ext cx="4870450" cy="1727200"/>
          </a:xfrm>
          <a:prstGeom prst="rect">
            <a:avLst/>
          </a:prstGeom>
        </p:spPr>
      </p:pic>
      <p:pic>
        <p:nvPicPr>
          <p:cNvPr id="5" name="图片 4" descr="01 (108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2975" y="5431790"/>
            <a:ext cx="1180465" cy="1180465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查看命令帮助和手册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如果想要查看命令的详细手册，可以通过</a:t>
            </a:r>
            <a:r>
              <a:rPr lang="en-US" altLang="zh-CN"/>
              <a:t>man</a:t>
            </a:r>
            <a:r>
              <a:rPr lang="zh-CN" altLang="en-US"/>
              <a:t>（</a:t>
            </a:r>
            <a:r>
              <a:rPr lang="en-US" altLang="zh-CN"/>
              <a:t>manual</a:t>
            </a:r>
            <a:r>
              <a:rPr lang="zh-CN" altLang="en-US"/>
              <a:t>，</a:t>
            </a:r>
            <a:r>
              <a:rPr lang="en-US" altLang="zh-CN"/>
              <a:t> </a:t>
            </a:r>
            <a:r>
              <a:rPr lang="zh-CN" altLang="en-US"/>
              <a:t>手册）命令查看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比如：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man ls</a:t>
            </a:r>
            <a:r>
              <a:rPr lang="zh-CN" altLang="en-US"/>
              <a:t>，就是查看</a:t>
            </a:r>
            <a:r>
              <a:rPr lang="en-US" altLang="zh-CN"/>
              <a:t>ls</a:t>
            </a:r>
            <a:r>
              <a:rPr lang="zh-CN" altLang="en-US"/>
              <a:t>命令的详细手册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man cd</a:t>
            </a:r>
            <a:r>
              <a:rPr lang="zh-CN" altLang="en-US"/>
              <a:t>，就是查看</a:t>
            </a:r>
            <a:r>
              <a:rPr lang="en-US" altLang="zh-CN"/>
              <a:t>cd</a:t>
            </a:r>
            <a:r>
              <a:rPr lang="zh-CN" altLang="en-US"/>
              <a:t>命令的详细手册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大多数手册都是全英文的，如果阅读吃力，可以通过重定向符：</a:t>
            </a:r>
            <a:r>
              <a:rPr lang="en-US" altLang="zh-CN"/>
              <a:t>man ls &gt; ls-man.txt</a:t>
            </a:r>
            <a:r>
              <a:rPr lang="zh-CN" altLang="en-US"/>
              <a:t>，输出手册到文件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然后通过翻译软件翻译内容查看哦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885" y="3342640"/>
            <a:ext cx="6762750" cy="2368550"/>
          </a:xfrm>
          <a:prstGeom prst="rect">
            <a:avLst/>
          </a:prstGeom>
        </p:spPr>
      </p:pic>
      <p:pic>
        <p:nvPicPr>
          <p:cNvPr id="7" name="图片 6" descr="01 (10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4705" y="5180965"/>
            <a:ext cx="1433195" cy="1433195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355" y="1463040"/>
            <a:ext cx="6474460" cy="4511040"/>
          </a:xfrm>
        </p:spPr>
        <p:txBody>
          <a:bodyPr/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1. </a:t>
            </a:r>
            <a:r>
              <a:rPr lang="zh-CN" altLang="en-US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命令的选项非常多，</a:t>
            </a:r>
            <a:r>
              <a:rPr lang="en-US" altLang="zh-CN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 </a:t>
            </a:r>
            <a:r>
              <a:rPr lang="zh-CN" altLang="en-US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课程中仅仅讲解常见的，</a:t>
            </a:r>
            <a:r>
              <a:rPr lang="en-US" altLang="zh-CN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 </a:t>
            </a:r>
            <a:r>
              <a:rPr lang="zh-CN" altLang="en-US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满足绝大多数使用场景</a:t>
            </a:r>
            <a:endParaRPr lang="zh-CN" altLang="en-US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2. </a:t>
            </a:r>
            <a:r>
              <a:rPr lang="zh-CN" altLang="en-US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如需详细的命令说明，</a:t>
            </a:r>
            <a:r>
              <a:rPr lang="en-US" altLang="zh-CN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 </a:t>
            </a:r>
            <a:r>
              <a:rPr lang="zh-CN" altLang="en-US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可以：</a:t>
            </a:r>
            <a:endParaRPr lang="zh-CN" altLang="en-US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查看命令帮助，</a:t>
            </a: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 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通过</a:t>
            </a: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--help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选项</a:t>
            </a:r>
            <a:endParaRPr lang="zh-CN" altLang="en-US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查看命令手册，</a:t>
            </a: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 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通过</a:t>
            </a: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man 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命令</a:t>
            </a:r>
            <a:endParaRPr lang="zh-CN" altLang="en-US" sz="1400" b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10800,&quot;width&quot;:10800}"/>
</p:tagLst>
</file>

<file path=ppt/tags/tag2.xml><?xml version="1.0" encoding="utf-8"?>
<p:tagLst xmlns:p="http://schemas.openxmlformats.org/presentationml/2006/main">
  <p:tag name="KSO_WM_UNIT_PLACING_PICTURE_USER_VIEWPORT" val="{&quot;height&quot;:10800,&quot;width&quot;:10800}"/>
</p:tagLst>
</file>

<file path=ppt/tags/tag3.xml><?xml version="1.0" encoding="utf-8"?>
<p:tagLst xmlns:p="http://schemas.openxmlformats.org/presentationml/2006/main">
  <p:tag name="KSO_WM_UNIT_PLACING_PICTURE_USER_VIEWPORT" val="{&quot;height&quot;:435,&quot;width&quot;:5025}"/>
</p:tagLst>
</file>

<file path=ppt/tags/tag4.xml><?xml version="1.0" encoding="utf-8"?>
<p:tagLst xmlns:p="http://schemas.openxmlformats.org/presentationml/2006/main">
  <p:tag name="KSO_WM_UNIT_PLACING_PICTURE_USER_VIEWPORT" val="{&quot;height&quot;:435,&quot;width&quot;:5025}"/>
</p:tagLst>
</file>

<file path=ppt/tags/tag5.xml><?xml version="1.0" encoding="utf-8"?>
<p:tagLst xmlns:p="http://schemas.openxmlformats.org/presentationml/2006/main">
  <p:tag name="KSO_WM_UNIT_PLACING_PICTURE_USER_VIEWPORT" val="{&quot;height&quot;:435,&quot;width&quot;:5025}"/>
</p:tagLst>
</file>

<file path=ppt/tags/tag6.xml><?xml version="1.0" encoding="utf-8"?>
<p:tagLst xmlns:p="http://schemas.openxmlformats.org/presentationml/2006/main">
  <p:tag name="KSO_WM_UNIT_PLACING_PICTURE_USER_VIEWPORT" val="{&quot;height&quot;:5880,&quot;width&quot;:11040}"/>
</p:tagLst>
</file>

<file path=ppt/tags/tag7.xml><?xml version="1.0" encoding="utf-8"?>
<p:tagLst xmlns:p="http://schemas.openxmlformats.org/presentationml/2006/main">
  <p:tag name="KSO_WM_UNIT_PLACING_PICTURE_USER_VIEWPORT" val="{&quot;height&quot;:5581,&quot;width&quot;:6711}"/>
</p:tagLst>
</file>

<file path=ppt/tags/tag8.xml><?xml version="1.0" encoding="utf-8"?>
<p:tagLst xmlns:p="http://schemas.openxmlformats.org/presentationml/2006/main">
  <p:tag name="KSO_WM_UNIT_PLACING_PICTURE_USER_VIEWPORT" val="{&quot;height&quot;:2720,&quot;width&quot;:7670}"/>
</p:tagLst>
</file>

<file path=ppt/tags/tag9.xml><?xml version="1.0" encoding="utf-8"?>
<p:tagLst xmlns:p="http://schemas.openxmlformats.org/presentationml/2006/main">
  <p:tag name="COMMONDATA" val="eyJoZGlkIjoiMDAzZmIwZjU2YjM3ZmIyZjYxNWQ1NTViMjdhYzBlM2EifQ=="/>
  <p:tag name="KSO_WPP_MARK_KEY" val="a19b803a-04f7-49ad-a517-4f4615f57881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1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2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2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2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2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2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2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2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2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2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3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3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3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3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3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3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6.xml><?xml version="1.0" encoding="utf-8"?>
<a:theme xmlns:a="http://schemas.openxmlformats.org/drawingml/2006/main" name="3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7.xml><?xml version="1.0" encoding="utf-8"?>
<a:theme xmlns:a="http://schemas.openxmlformats.org/drawingml/2006/main" name="3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8.xml><?xml version="1.0" encoding="utf-8"?>
<a:theme xmlns:a="http://schemas.openxmlformats.org/drawingml/2006/main" name="3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9.xml><?xml version="1.0" encoding="utf-8"?>
<a:theme xmlns:a="http://schemas.openxmlformats.org/drawingml/2006/main" name="3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0.xml><?xml version="1.0" encoding="utf-8"?>
<a:theme xmlns:a="http://schemas.openxmlformats.org/drawingml/2006/main" name="4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1.xml><?xml version="1.0" encoding="utf-8"?>
<a:theme xmlns:a="http://schemas.openxmlformats.org/drawingml/2006/main" name="4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2.xml><?xml version="1.0" encoding="utf-8"?>
<a:theme xmlns:a="http://schemas.openxmlformats.org/drawingml/2006/main" name="4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3.xml><?xml version="1.0" encoding="utf-8"?>
<a:theme xmlns:a="http://schemas.openxmlformats.org/drawingml/2006/main" name="4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4.xml><?xml version="1.0" encoding="utf-8"?>
<a:theme xmlns:a="http://schemas.openxmlformats.org/drawingml/2006/main" name="4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5.xml><?xml version="1.0" encoding="utf-8"?>
<a:theme xmlns:a="http://schemas.openxmlformats.org/drawingml/2006/main" name="4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6.xml><?xml version="1.0" encoding="utf-8"?>
<a:theme xmlns:a="http://schemas.openxmlformats.org/drawingml/2006/main" name="4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7.xml><?xml version="1.0" encoding="utf-8"?>
<a:theme xmlns:a="http://schemas.openxmlformats.org/drawingml/2006/main" name="4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8.xml><?xml version="1.0" encoding="utf-8"?>
<a:theme xmlns:a="http://schemas.openxmlformats.org/drawingml/2006/main" name="4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9.xml><?xml version="1.0" encoding="utf-8"?>
<a:theme xmlns:a="http://schemas.openxmlformats.org/drawingml/2006/main" name="4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0.xml><?xml version="1.0" encoding="utf-8"?>
<a:theme xmlns:a="http://schemas.openxmlformats.org/drawingml/2006/main" name="5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1.xml><?xml version="1.0" encoding="utf-8"?>
<a:theme xmlns:a="http://schemas.openxmlformats.org/drawingml/2006/main" name="5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2.xml><?xml version="1.0" encoding="utf-8"?>
<a:theme xmlns:a="http://schemas.openxmlformats.org/drawingml/2006/main" name="5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3.xml><?xml version="1.0" encoding="utf-8"?>
<a:theme xmlns:a="http://schemas.openxmlformats.org/drawingml/2006/main" name="5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4.xml><?xml version="1.0" encoding="utf-8"?>
<a:theme xmlns:a="http://schemas.openxmlformats.org/drawingml/2006/main" name="5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5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6.xml><?xml version="1.0" encoding="utf-8"?>
<a:theme xmlns:a="http://schemas.openxmlformats.org/drawingml/2006/main" name="5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13148</Words>
  <Application>WPS 演示</Application>
  <PresentationFormat>宽屏</PresentationFormat>
  <Paragraphs>1032</Paragraphs>
  <Slides>104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66</vt:i4>
      </vt:variant>
      <vt:variant>
        <vt:lpstr>幻灯片标题</vt:lpstr>
      </vt:variant>
      <vt:variant>
        <vt:i4>104</vt:i4>
      </vt:variant>
    </vt:vector>
  </HeadingPairs>
  <TitlesOfParts>
    <vt:vector size="193" baseType="lpstr">
      <vt:lpstr>Arial</vt:lpstr>
      <vt:lpstr>宋体</vt:lpstr>
      <vt:lpstr>Wingdings</vt:lpstr>
      <vt:lpstr>Calibri</vt:lpstr>
      <vt:lpstr>黑体</vt:lpstr>
      <vt:lpstr>Alibaba PuHuiTi B</vt:lpstr>
      <vt:lpstr>Alibaba PuHuiTi R</vt:lpstr>
      <vt:lpstr>Segoe UI</vt:lpstr>
      <vt:lpstr>微软雅黑</vt:lpstr>
      <vt:lpstr>Verdana</vt:lpstr>
      <vt:lpstr>阿里巴巴普惠体</vt:lpstr>
      <vt:lpstr>Alibaba PuHuiTi M</vt:lpstr>
      <vt:lpstr>Segoe UI Light</vt:lpstr>
      <vt:lpstr>微软雅黑 Light</vt:lpstr>
      <vt:lpstr>华文楷体</vt:lpstr>
      <vt:lpstr>纤黑体</vt:lpstr>
      <vt:lpstr>Alibaba PuHuiTi Bold</vt:lpstr>
      <vt:lpstr>等线</vt:lpstr>
      <vt:lpstr>Arial Unicode MS</vt:lpstr>
      <vt:lpstr>汉仪粗黑简</vt:lpstr>
      <vt:lpstr>华文新魏</vt:lpstr>
      <vt:lpstr>华文琥珀</vt:lpstr>
      <vt:lpstr>华文细黑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2_学习目标</vt:lpstr>
      <vt:lpstr>3_学习目标</vt:lpstr>
      <vt:lpstr>4_学习目标</vt:lpstr>
      <vt:lpstr>5_学习目标</vt:lpstr>
      <vt:lpstr>6_学习目标</vt:lpstr>
      <vt:lpstr>7_学习目标</vt:lpstr>
      <vt:lpstr>1_正文设计方案</vt:lpstr>
      <vt:lpstr>8_学习目标</vt:lpstr>
      <vt:lpstr>9_学习目标</vt:lpstr>
      <vt:lpstr>10_学习目标</vt:lpstr>
      <vt:lpstr>2_正文设计方案</vt:lpstr>
      <vt:lpstr>11_学习目标</vt:lpstr>
      <vt:lpstr>12_学习目标</vt:lpstr>
      <vt:lpstr>13_学习目标</vt:lpstr>
      <vt:lpstr>14_学习目标</vt:lpstr>
      <vt:lpstr>15_学习目标</vt:lpstr>
      <vt:lpstr>3_正文设计方案</vt:lpstr>
      <vt:lpstr>16_学习目标</vt:lpstr>
      <vt:lpstr>17_学习目标</vt:lpstr>
      <vt:lpstr>18_学习目标</vt:lpstr>
      <vt:lpstr>19_学习目标</vt:lpstr>
      <vt:lpstr>20_学习目标</vt:lpstr>
      <vt:lpstr>21_学习目标</vt:lpstr>
      <vt:lpstr>22_学习目标</vt:lpstr>
      <vt:lpstr>23_学习目标</vt:lpstr>
      <vt:lpstr>24_学习目标</vt:lpstr>
      <vt:lpstr>25_学习目标</vt:lpstr>
      <vt:lpstr>26_学习目标</vt:lpstr>
      <vt:lpstr>27_学习目标</vt:lpstr>
      <vt:lpstr>28_学习目标</vt:lpstr>
      <vt:lpstr>29_学习目标</vt:lpstr>
      <vt:lpstr>30_学习目标</vt:lpstr>
      <vt:lpstr>31_学习目标</vt:lpstr>
      <vt:lpstr>32_学习目标</vt:lpstr>
      <vt:lpstr>33_学习目标</vt:lpstr>
      <vt:lpstr>34_学习目标</vt:lpstr>
      <vt:lpstr>35_学习目标</vt:lpstr>
      <vt:lpstr>36_学习目标</vt:lpstr>
      <vt:lpstr>37_学习目标</vt:lpstr>
      <vt:lpstr>38_学习目标</vt:lpstr>
      <vt:lpstr>39_学习目标</vt:lpstr>
      <vt:lpstr>40_学习目标</vt:lpstr>
      <vt:lpstr>41_学习目标</vt:lpstr>
      <vt:lpstr>42_学习目标</vt:lpstr>
      <vt:lpstr>43_学习目标</vt:lpstr>
      <vt:lpstr>44_学习目标</vt:lpstr>
      <vt:lpstr>45_学习目标</vt:lpstr>
      <vt:lpstr>46_学习目标</vt:lpstr>
      <vt:lpstr>47_学习目标</vt:lpstr>
      <vt:lpstr>48_学习目标</vt:lpstr>
      <vt:lpstr>49_学习目标</vt:lpstr>
      <vt:lpstr>50_学习目标</vt:lpstr>
      <vt:lpstr>51_学习目标</vt:lpstr>
      <vt:lpstr>52_学习目标</vt:lpstr>
      <vt:lpstr>53_学习目标</vt:lpstr>
      <vt:lpstr>54_学习目标</vt:lpstr>
      <vt:lpstr>4_正文设计方案</vt:lpstr>
      <vt:lpstr>55_学习目标</vt:lpstr>
      <vt:lpstr>Linux基础命令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OS</cp:lastModifiedBy>
  <cp:revision>2010</cp:revision>
  <dcterms:created xsi:type="dcterms:W3CDTF">2022-10-02T08:11:00Z</dcterms:created>
  <dcterms:modified xsi:type="dcterms:W3CDTF">2022-10-23T02:55:10Z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8F3BE0D789E24AA8A6562930946781AC</vt:lpwstr>
  </property>
  <property fmtid="{D5CDD505-2E9C-101B-9397-08002B2CF9AE}" pid="3" name="KSOProductBuildVer">
    <vt:lpwstr>2052-11.1.0.12598</vt:lpwstr>
  </property>
  <property fmtid="{D5CDD505-2E9C-101B-9397-08002B2CF9AE}" pid="4" name="commondata">
    <vt:lpwstr>eyJoZGlkIjoiMDAzZmIwZjU2YjM3ZmIyZjYxNWQ1NTViMjdhYzBlM2EifQ==</vt:lpwstr>
  </property>
</Properties>
</file>