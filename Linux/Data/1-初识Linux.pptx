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3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theme/theme36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39.xml" ContentType="application/vnd.openxmlformats-officedocument.theme+xml"/>
  <Override PartName="/ppt/theme/theme4.xml" ContentType="application/vnd.openxmlformats-officedocument.theme+xml"/>
  <Override PartName="/ppt/theme/theme40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60" r:id="rId4"/>
    <p:sldMasterId id="2147483664" r:id="rId5"/>
    <p:sldMasterId id="2147483666" r:id="rId6"/>
    <p:sldMasterId id="2147483669" r:id="rId7"/>
    <p:sldMasterId id="2147483688" r:id="rId8"/>
    <p:sldMasterId id="2147483690" r:id="rId9"/>
    <p:sldMasterId id="2147483693" r:id="rId10"/>
    <p:sldMasterId id="2147483696" r:id="rId11"/>
    <p:sldMasterId id="2147483699" r:id="rId12"/>
    <p:sldMasterId id="2147483702" r:id="rId13"/>
    <p:sldMasterId id="2147483705" r:id="rId14"/>
    <p:sldMasterId id="2147483708" r:id="rId15"/>
    <p:sldMasterId id="2147483711" r:id="rId16"/>
    <p:sldMasterId id="2147483730" r:id="rId17"/>
    <p:sldMasterId id="2147483733" r:id="rId18"/>
    <p:sldMasterId id="2147483736" r:id="rId19"/>
    <p:sldMasterId id="2147483739" r:id="rId20"/>
    <p:sldMasterId id="2147483758" r:id="rId21"/>
    <p:sldMasterId id="2147483761" r:id="rId22"/>
    <p:sldMasterId id="2147483764" r:id="rId23"/>
    <p:sldMasterId id="2147483767" r:id="rId24"/>
    <p:sldMasterId id="2147483770" r:id="rId25"/>
    <p:sldMasterId id="2147483773" r:id="rId26"/>
    <p:sldMasterId id="2147483792" r:id="rId27"/>
    <p:sldMasterId id="2147483795" r:id="rId28"/>
    <p:sldMasterId id="2147483798" r:id="rId29"/>
    <p:sldMasterId id="2147483801" r:id="rId30"/>
    <p:sldMasterId id="2147483804" r:id="rId31"/>
    <p:sldMasterId id="2147483808" r:id="rId32"/>
    <p:sldMasterId id="2147483812" r:id="rId33"/>
    <p:sldMasterId id="2147483816" r:id="rId34"/>
    <p:sldMasterId id="2147483820" r:id="rId35"/>
    <p:sldMasterId id="2147483824" r:id="rId36"/>
    <p:sldMasterId id="2147483828" r:id="rId37"/>
    <p:sldMasterId id="2147483833" r:id="rId38"/>
    <p:sldMasterId id="2147483837" r:id="rId39"/>
  </p:sldMasterIdLst>
  <p:notesMasterIdLst>
    <p:notesMasterId r:id="rId41"/>
  </p:notesMasterIdLst>
  <p:handoutMasterIdLst>
    <p:handoutMasterId r:id="rId127"/>
  </p:handoutMasterIdLst>
  <p:sldIdLst>
    <p:sldId id="462" r:id="rId40"/>
    <p:sldId id="479" r:id="rId42"/>
    <p:sldId id="1568" r:id="rId43"/>
    <p:sldId id="1819" r:id="rId44"/>
    <p:sldId id="1820" r:id="rId45"/>
    <p:sldId id="1821" r:id="rId46"/>
    <p:sldId id="1822" r:id="rId47"/>
    <p:sldId id="1823" r:id="rId48"/>
    <p:sldId id="1824" r:id="rId49"/>
    <p:sldId id="1825" r:id="rId50"/>
    <p:sldId id="1826" r:id="rId51"/>
    <p:sldId id="1827" r:id="rId52"/>
    <p:sldId id="1828" r:id="rId53"/>
    <p:sldId id="1829" r:id="rId54"/>
    <p:sldId id="1830" r:id="rId55"/>
    <p:sldId id="1831" r:id="rId56"/>
    <p:sldId id="1833" r:id="rId57"/>
    <p:sldId id="1834" r:id="rId58"/>
    <p:sldId id="1835" r:id="rId59"/>
    <p:sldId id="1837" r:id="rId60"/>
    <p:sldId id="1838" r:id="rId61"/>
    <p:sldId id="1839" r:id="rId62"/>
    <p:sldId id="1840" r:id="rId63"/>
    <p:sldId id="1841" r:id="rId64"/>
    <p:sldId id="1842" r:id="rId65"/>
    <p:sldId id="1844" r:id="rId66"/>
    <p:sldId id="1845" r:id="rId67"/>
    <p:sldId id="1846" r:id="rId68"/>
    <p:sldId id="1849" r:id="rId69"/>
    <p:sldId id="1851" r:id="rId70"/>
    <p:sldId id="1852" r:id="rId71"/>
    <p:sldId id="1853" r:id="rId72"/>
    <p:sldId id="1854" r:id="rId73"/>
    <p:sldId id="1863" r:id="rId74"/>
    <p:sldId id="1855" r:id="rId75"/>
    <p:sldId id="1856" r:id="rId76"/>
    <p:sldId id="1864" r:id="rId77"/>
    <p:sldId id="1924" r:id="rId78"/>
    <p:sldId id="1925" r:id="rId79"/>
    <p:sldId id="1926" r:id="rId80"/>
    <p:sldId id="1927" r:id="rId81"/>
    <p:sldId id="1965" r:id="rId82"/>
    <p:sldId id="1964" r:id="rId83"/>
    <p:sldId id="1858" r:id="rId84"/>
    <p:sldId id="1859" r:id="rId85"/>
    <p:sldId id="1886" r:id="rId86"/>
    <p:sldId id="1887" r:id="rId87"/>
    <p:sldId id="1888" r:id="rId88"/>
    <p:sldId id="1889" r:id="rId89"/>
    <p:sldId id="1891" r:id="rId90"/>
    <p:sldId id="1892" r:id="rId91"/>
    <p:sldId id="1893" r:id="rId92"/>
    <p:sldId id="1894" r:id="rId93"/>
    <p:sldId id="1897" r:id="rId94"/>
    <p:sldId id="1895" r:id="rId95"/>
    <p:sldId id="1896" r:id="rId96"/>
    <p:sldId id="1898" r:id="rId97"/>
    <p:sldId id="1899" r:id="rId98"/>
    <p:sldId id="1900" r:id="rId99"/>
    <p:sldId id="1890" r:id="rId100"/>
    <p:sldId id="1901" r:id="rId101"/>
    <p:sldId id="1860" r:id="rId102"/>
    <p:sldId id="1861" r:id="rId103"/>
    <p:sldId id="2008" r:id="rId104"/>
    <p:sldId id="1862" r:id="rId105"/>
    <p:sldId id="1867" r:id="rId106"/>
    <p:sldId id="1868" r:id="rId107"/>
    <p:sldId id="1869" r:id="rId108"/>
    <p:sldId id="1870" r:id="rId109"/>
    <p:sldId id="1871" r:id="rId110"/>
    <p:sldId id="1872" r:id="rId111"/>
    <p:sldId id="1873" r:id="rId112"/>
    <p:sldId id="1874" r:id="rId113"/>
    <p:sldId id="1875" r:id="rId114"/>
    <p:sldId id="1876" r:id="rId115"/>
    <p:sldId id="1877" r:id="rId116"/>
    <p:sldId id="1902" r:id="rId117"/>
    <p:sldId id="1903" r:id="rId118"/>
    <p:sldId id="1922" r:id="rId119"/>
    <p:sldId id="1966" r:id="rId120"/>
    <p:sldId id="1967" r:id="rId121"/>
    <p:sldId id="1969" r:id="rId122"/>
    <p:sldId id="1970" r:id="rId123"/>
    <p:sldId id="1971" r:id="rId124"/>
    <p:sldId id="2030" r:id="rId125"/>
    <p:sldId id="264" r:id="rId126"/>
  </p:sldIdLst>
  <p:sldSz cx="12192000" cy="6858000"/>
  <p:notesSz cx="6858000" cy="9144000"/>
  <p:custDataLst>
    <p:tags r:id="rId1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NGJIAN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D2A26"/>
    <a:srgbClr val="AD2B26"/>
    <a:srgbClr val="49504F"/>
    <a:srgbClr val="B60206"/>
    <a:srgbClr val="B70006"/>
    <a:srgbClr val="FFFFE4"/>
    <a:srgbClr val="919191"/>
    <a:srgbClr val="333333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43" autoAdjust="0"/>
    <p:restoredTop sz="95344" autoAdjust="0"/>
  </p:normalViewPr>
  <p:slideViewPr>
    <p:cSldViewPr snapToGrid="0">
      <p:cViewPr varScale="1">
        <p:scale>
          <a:sx n="93" d="100"/>
          <a:sy n="93" d="100"/>
        </p:scale>
        <p:origin x="216" y="520"/>
      </p:cViewPr>
      <p:guideLst>
        <p:guide orient="horz" pos="592"/>
        <p:guide pos="367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3416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59.xml"/><Relationship Id="rId98" Type="http://schemas.openxmlformats.org/officeDocument/2006/relationships/slide" Target="slides/slide58.xml"/><Relationship Id="rId97" Type="http://schemas.openxmlformats.org/officeDocument/2006/relationships/slide" Target="slides/slide57.xml"/><Relationship Id="rId96" Type="http://schemas.openxmlformats.org/officeDocument/2006/relationships/slide" Target="slides/slide56.xml"/><Relationship Id="rId95" Type="http://schemas.openxmlformats.org/officeDocument/2006/relationships/slide" Target="slides/slide55.xml"/><Relationship Id="rId94" Type="http://schemas.openxmlformats.org/officeDocument/2006/relationships/slide" Target="slides/slide54.xml"/><Relationship Id="rId93" Type="http://schemas.openxmlformats.org/officeDocument/2006/relationships/slide" Target="slides/slide53.xml"/><Relationship Id="rId92" Type="http://schemas.openxmlformats.org/officeDocument/2006/relationships/slide" Target="slides/slide52.xml"/><Relationship Id="rId91" Type="http://schemas.openxmlformats.org/officeDocument/2006/relationships/slide" Target="slides/slide51.xml"/><Relationship Id="rId90" Type="http://schemas.openxmlformats.org/officeDocument/2006/relationships/slide" Target="slides/slide50.xml"/><Relationship Id="rId9" Type="http://schemas.openxmlformats.org/officeDocument/2006/relationships/slideMaster" Target="slideMasters/slideMaster8.xml"/><Relationship Id="rId89" Type="http://schemas.openxmlformats.org/officeDocument/2006/relationships/slide" Target="slides/slide49.xml"/><Relationship Id="rId88" Type="http://schemas.openxmlformats.org/officeDocument/2006/relationships/slide" Target="slides/slide48.xml"/><Relationship Id="rId87" Type="http://schemas.openxmlformats.org/officeDocument/2006/relationships/slide" Target="slides/slide47.xml"/><Relationship Id="rId86" Type="http://schemas.openxmlformats.org/officeDocument/2006/relationships/slide" Target="slides/slide46.xml"/><Relationship Id="rId85" Type="http://schemas.openxmlformats.org/officeDocument/2006/relationships/slide" Target="slides/slide45.xml"/><Relationship Id="rId84" Type="http://schemas.openxmlformats.org/officeDocument/2006/relationships/slide" Target="slides/slide44.xml"/><Relationship Id="rId83" Type="http://schemas.openxmlformats.org/officeDocument/2006/relationships/slide" Target="slides/slide43.xml"/><Relationship Id="rId82" Type="http://schemas.openxmlformats.org/officeDocument/2006/relationships/slide" Target="slides/slide42.xml"/><Relationship Id="rId81" Type="http://schemas.openxmlformats.org/officeDocument/2006/relationships/slide" Target="slides/slide41.xml"/><Relationship Id="rId80" Type="http://schemas.openxmlformats.org/officeDocument/2006/relationships/slide" Target="slides/slide40.xml"/><Relationship Id="rId8" Type="http://schemas.openxmlformats.org/officeDocument/2006/relationships/slideMaster" Target="slideMasters/slideMaster7.xml"/><Relationship Id="rId79" Type="http://schemas.openxmlformats.org/officeDocument/2006/relationships/slide" Target="slides/slide39.xml"/><Relationship Id="rId78" Type="http://schemas.openxmlformats.org/officeDocument/2006/relationships/slide" Target="slides/slide38.xml"/><Relationship Id="rId77" Type="http://schemas.openxmlformats.org/officeDocument/2006/relationships/slide" Target="slides/slide37.xml"/><Relationship Id="rId76" Type="http://schemas.openxmlformats.org/officeDocument/2006/relationships/slide" Target="slides/slide36.xml"/><Relationship Id="rId75" Type="http://schemas.openxmlformats.org/officeDocument/2006/relationships/slide" Target="slides/slide35.xml"/><Relationship Id="rId74" Type="http://schemas.openxmlformats.org/officeDocument/2006/relationships/slide" Target="slides/slide34.xml"/><Relationship Id="rId73" Type="http://schemas.openxmlformats.org/officeDocument/2006/relationships/slide" Target="slides/slide33.xml"/><Relationship Id="rId72" Type="http://schemas.openxmlformats.org/officeDocument/2006/relationships/slide" Target="slides/slide32.xml"/><Relationship Id="rId71" Type="http://schemas.openxmlformats.org/officeDocument/2006/relationships/slide" Target="slides/slide31.xml"/><Relationship Id="rId70" Type="http://schemas.openxmlformats.org/officeDocument/2006/relationships/slide" Target="slides/slide30.xml"/><Relationship Id="rId7" Type="http://schemas.openxmlformats.org/officeDocument/2006/relationships/slideMaster" Target="slideMasters/slideMaster6.xml"/><Relationship Id="rId69" Type="http://schemas.openxmlformats.org/officeDocument/2006/relationships/slide" Target="slides/slide29.xml"/><Relationship Id="rId68" Type="http://schemas.openxmlformats.org/officeDocument/2006/relationships/slide" Target="slides/slide28.xml"/><Relationship Id="rId67" Type="http://schemas.openxmlformats.org/officeDocument/2006/relationships/slide" Target="slides/slide27.xml"/><Relationship Id="rId66" Type="http://schemas.openxmlformats.org/officeDocument/2006/relationships/slide" Target="slides/slide26.xml"/><Relationship Id="rId65" Type="http://schemas.openxmlformats.org/officeDocument/2006/relationships/slide" Target="slides/slide25.xml"/><Relationship Id="rId64" Type="http://schemas.openxmlformats.org/officeDocument/2006/relationships/slide" Target="slides/slide24.xml"/><Relationship Id="rId63" Type="http://schemas.openxmlformats.org/officeDocument/2006/relationships/slide" Target="slides/slide23.xml"/><Relationship Id="rId62" Type="http://schemas.openxmlformats.org/officeDocument/2006/relationships/slide" Target="slides/slide22.xml"/><Relationship Id="rId61" Type="http://schemas.openxmlformats.org/officeDocument/2006/relationships/slide" Target="slides/slide21.xml"/><Relationship Id="rId60" Type="http://schemas.openxmlformats.org/officeDocument/2006/relationships/slide" Target="slides/slide20.xml"/><Relationship Id="rId6" Type="http://schemas.openxmlformats.org/officeDocument/2006/relationships/slideMaster" Target="slideMasters/slideMaster5.xml"/><Relationship Id="rId59" Type="http://schemas.openxmlformats.org/officeDocument/2006/relationships/slide" Target="slides/slide19.xml"/><Relationship Id="rId58" Type="http://schemas.openxmlformats.org/officeDocument/2006/relationships/slide" Target="slides/slide18.xml"/><Relationship Id="rId57" Type="http://schemas.openxmlformats.org/officeDocument/2006/relationships/slide" Target="slides/slide17.xml"/><Relationship Id="rId56" Type="http://schemas.openxmlformats.org/officeDocument/2006/relationships/slide" Target="slides/slide16.xml"/><Relationship Id="rId55" Type="http://schemas.openxmlformats.org/officeDocument/2006/relationships/slide" Target="slides/slide15.xml"/><Relationship Id="rId54" Type="http://schemas.openxmlformats.org/officeDocument/2006/relationships/slide" Target="slides/slide14.xml"/><Relationship Id="rId53" Type="http://schemas.openxmlformats.org/officeDocument/2006/relationships/slide" Target="slides/slide13.xml"/><Relationship Id="rId52" Type="http://schemas.openxmlformats.org/officeDocument/2006/relationships/slide" Target="slides/slide12.xml"/><Relationship Id="rId51" Type="http://schemas.openxmlformats.org/officeDocument/2006/relationships/slide" Target="slides/slide11.xml"/><Relationship Id="rId50" Type="http://schemas.openxmlformats.org/officeDocument/2006/relationships/slide" Target="slides/slide10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9.xml"/><Relationship Id="rId48" Type="http://schemas.openxmlformats.org/officeDocument/2006/relationships/slide" Target="slides/slide8.xml"/><Relationship Id="rId47" Type="http://schemas.openxmlformats.org/officeDocument/2006/relationships/slide" Target="slides/slide7.xml"/><Relationship Id="rId46" Type="http://schemas.openxmlformats.org/officeDocument/2006/relationships/slide" Target="slides/slide6.xml"/><Relationship Id="rId45" Type="http://schemas.openxmlformats.org/officeDocument/2006/relationships/slide" Target="slides/slide5.xml"/><Relationship Id="rId44" Type="http://schemas.openxmlformats.org/officeDocument/2006/relationships/slide" Target="slides/slide4.xml"/><Relationship Id="rId43" Type="http://schemas.openxmlformats.org/officeDocument/2006/relationships/slide" Target="slides/slide3.xml"/><Relationship Id="rId42" Type="http://schemas.openxmlformats.org/officeDocument/2006/relationships/slide" Target="slides/slide2.xml"/><Relationship Id="rId41" Type="http://schemas.openxmlformats.org/officeDocument/2006/relationships/notesMaster" Target="notesMasters/notesMaster1.xml"/><Relationship Id="rId40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9" Type="http://schemas.openxmlformats.org/officeDocument/2006/relationships/slideMaster" Target="slideMasters/slideMaster38.xml"/><Relationship Id="rId38" Type="http://schemas.openxmlformats.org/officeDocument/2006/relationships/slideMaster" Target="slideMasters/slideMaster37.xml"/><Relationship Id="rId37" Type="http://schemas.openxmlformats.org/officeDocument/2006/relationships/slideMaster" Target="slideMasters/slideMaster36.xml"/><Relationship Id="rId36" Type="http://schemas.openxmlformats.org/officeDocument/2006/relationships/slideMaster" Target="slideMasters/slideMaster35.xml"/><Relationship Id="rId35" Type="http://schemas.openxmlformats.org/officeDocument/2006/relationships/slideMaster" Target="slideMasters/slideMaster34.xml"/><Relationship Id="rId34" Type="http://schemas.openxmlformats.org/officeDocument/2006/relationships/slideMaster" Target="slideMasters/slideMaster33.xml"/><Relationship Id="rId33" Type="http://schemas.openxmlformats.org/officeDocument/2006/relationships/slideMaster" Target="slideMasters/slideMaster32.xml"/><Relationship Id="rId32" Type="http://schemas.openxmlformats.org/officeDocument/2006/relationships/slideMaster" Target="slideMasters/slideMaster31.xml"/><Relationship Id="rId31" Type="http://schemas.openxmlformats.org/officeDocument/2006/relationships/slideMaster" Target="slideMasters/slideMaster30.xml"/><Relationship Id="rId30" Type="http://schemas.openxmlformats.org/officeDocument/2006/relationships/slideMaster" Target="slideMasters/slideMaster29.xml"/><Relationship Id="rId3" Type="http://schemas.openxmlformats.org/officeDocument/2006/relationships/slideMaster" Target="slideMasters/slideMaster2.xml"/><Relationship Id="rId29" Type="http://schemas.openxmlformats.org/officeDocument/2006/relationships/slideMaster" Target="slideMasters/slideMaster28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2" Type="http://schemas.openxmlformats.org/officeDocument/2006/relationships/tags" Target="tags/tag4.xml"/><Relationship Id="rId131" Type="http://schemas.openxmlformats.org/officeDocument/2006/relationships/commentAuthors" Target="commentAuthors.xml"/><Relationship Id="rId130" Type="http://schemas.openxmlformats.org/officeDocument/2006/relationships/tableStyles" Target="tableStyles.xml"/><Relationship Id="rId13" Type="http://schemas.openxmlformats.org/officeDocument/2006/relationships/slideMaster" Target="slideMasters/slideMaster12.xml"/><Relationship Id="rId129" Type="http://schemas.openxmlformats.org/officeDocument/2006/relationships/viewProps" Target="viewProps.xml"/><Relationship Id="rId128" Type="http://schemas.openxmlformats.org/officeDocument/2006/relationships/presProps" Target="presProps.xml"/><Relationship Id="rId127" Type="http://schemas.openxmlformats.org/officeDocument/2006/relationships/handoutMaster" Target="handoutMasters/handoutMaster1.xml"/><Relationship Id="rId126" Type="http://schemas.openxmlformats.org/officeDocument/2006/relationships/slide" Target="slides/slide86.xml"/><Relationship Id="rId125" Type="http://schemas.openxmlformats.org/officeDocument/2006/relationships/slide" Target="slides/slide85.xml"/><Relationship Id="rId124" Type="http://schemas.openxmlformats.org/officeDocument/2006/relationships/slide" Target="slides/slide84.xml"/><Relationship Id="rId123" Type="http://schemas.openxmlformats.org/officeDocument/2006/relationships/slide" Target="slides/slide83.xml"/><Relationship Id="rId122" Type="http://schemas.openxmlformats.org/officeDocument/2006/relationships/slide" Target="slides/slide82.xml"/><Relationship Id="rId121" Type="http://schemas.openxmlformats.org/officeDocument/2006/relationships/slide" Target="slides/slide81.xml"/><Relationship Id="rId120" Type="http://schemas.openxmlformats.org/officeDocument/2006/relationships/slide" Target="slides/slide80.xml"/><Relationship Id="rId12" Type="http://schemas.openxmlformats.org/officeDocument/2006/relationships/slideMaster" Target="slideMasters/slideMaster11.xml"/><Relationship Id="rId119" Type="http://schemas.openxmlformats.org/officeDocument/2006/relationships/slide" Target="slides/slide79.xml"/><Relationship Id="rId118" Type="http://schemas.openxmlformats.org/officeDocument/2006/relationships/slide" Target="slides/slide78.xml"/><Relationship Id="rId117" Type="http://schemas.openxmlformats.org/officeDocument/2006/relationships/slide" Target="slides/slide77.xml"/><Relationship Id="rId116" Type="http://schemas.openxmlformats.org/officeDocument/2006/relationships/slide" Target="slides/slide76.xml"/><Relationship Id="rId115" Type="http://schemas.openxmlformats.org/officeDocument/2006/relationships/slide" Target="slides/slide75.xml"/><Relationship Id="rId114" Type="http://schemas.openxmlformats.org/officeDocument/2006/relationships/slide" Target="slides/slide74.xml"/><Relationship Id="rId113" Type="http://schemas.openxmlformats.org/officeDocument/2006/relationships/slide" Target="slides/slide73.xml"/><Relationship Id="rId112" Type="http://schemas.openxmlformats.org/officeDocument/2006/relationships/slide" Target="slides/slide72.xml"/><Relationship Id="rId111" Type="http://schemas.openxmlformats.org/officeDocument/2006/relationships/slide" Target="slides/slide71.xml"/><Relationship Id="rId110" Type="http://schemas.openxmlformats.org/officeDocument/2006/relationships/slide" Target="slides/slide70.xml"/><Relationship Id="rId11" Type="http://schemas.openxmlformats.org/officeDocument/2006/relationships/slideMaster" Target="slideMasters/slideMaster10.xml"/><Relationship Id="rId109" Type="http://schemas.openxmlformats.org/officeDocument/2006/relationships/slide" Target="slides/slide69.xml"/><Relationship Id="rId108" Type="http://schemas.openxmlformats.org/officeDocument/2006/relationships/slide" Target="slides/slide68.xml"/><Relationship Id="rId107" Type="http://schemas.openxmlformats.org/officeDocument/2006/relationships/slide" Target="slides/slide67.xml"/><Relationship Id="rId106" Type="http://schemas.openxmlformats.org/officeDocument/2006/relationships/slide" Target="slides/slide66.xml"/><Relationship Id="rId105" Type="http://schemas.openxmlformats.org/officeDocument/2006/relationships/slide" Target="slides/slide65.xml"/><Relationship Id="rId104" Type="http://schemas.openxmlformats.org/officeDocument/2006/relationships/slide" Target="slides/slide64.xml"/><Relationship Id="rId103" Type="http://schemas.openxmlformats.org/officeDocument/2006/relationships/slide" Target="slides/slide63.xml"/><Relationship Id="rId102" Type="http://schemas.openxmlformats.org/officeDocument/2006/relationships/slide" Target="slides/slide62.xml"/><Relationship Id="rId101" Type="http://schemas.openxmlformats.org/officeDocument/2006/relationships/slide" Target="slides/slide61.xml"/><Relationship Id="rId100" Type="http://schemas.openxmlformats.org/officeDocument/2006/relationships/slide" Target="slides/slide6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5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5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6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7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步骤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互动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拓展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  <a:endParaRPr lang="zh-CN" altLang="en-US" sz="40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  <a:endParaRPr lang="zh-CN" altLang="en-US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  <a:endPara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theme" Target="../theme/theme2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9.xml"/><Relationship Id="rId20" Type="http://schemas.openxmlformats.org/officeDocument/2006/relationships/theme" Target="../theme/theme6.xml"/><Relationship Id="rId2" Type="http://schemas.openxmlformats.org/officeDocument/2006/relationships/slideLayout" Target="../slideLayouts/slideLayout18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" Type="http://schemas.openxmlformats.org/officeDocument/2006/relationships/slideLayout" Target="../slideLayouts/slideLayout1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5.xml"/></Relationships>
</file>

<file path=ppt/slideMasters/_rels/slideMaster8.xml.rels><?xml version="1.0" encoding="UTF-8" standalone="yes"?>
<Relationships xmlns="http://schemas.openxmlformats.org/package/2006/relationships"><Relationship Id="rId5" Type="http://schemas.openxmlformats.org/officeDocument/2006/relationships/theme" Target="../theme/theme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/Relationships>
</file>

<file path=ppt/slideMasters/_rels/slideMaster9.xml.rels><?xml version="1.0" encoding="UTF-8" standalone="yes"?>
<Relationships xmlns="http://schemas.openxmlformats.org/package/2006/relationships"><Relationship Id="rId5" Type="http://schemas.openxmlformats.org/officeDocument/2006/relationships/theme" Target="../theme/theme9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/Relationships>
</file>

<file path=ppt/slideMasters/_rels/slideMaster10.xml.rels><?xml version="1.0" encoding="UTF-8" standalone="yes"?>
<Relationships xmlns="http://schemas.openxmlformats.org/package/2006/relationships"><Relationship Id="rId5" Type="http://schemas.openxmlformats.org/officeDocument/2006/relationships/theme" Target="../theme/theme10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/Relationships>
</file>

<file path=ppt/slideMasters/_rels/slideMaster1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/Relationships>
</file>

<file path=ppt/slideMasters/_rels/slideMaster12.xml.rels><?xml version="1.0" encoding="UTF-8" standalone="yes"?>
<Relationships xmlns="http://schemas.openxmlformats.org/package/2006/relationships"><Relationship Id="rId5" Type="http://schemas.openxmlformats.org/officeDocument/2006/relationships/theme" Target="../theme/theme12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5.xml"/><Relationship Id="rId1" Type="http://schemas.openxmlformats.org/officeDocument/2006/relationships/slideLayout" Target="../slideLayouts/slideLayout44.xml"/></Relationships>
</file>

<file path=ppt/slideMasters/_rels/slideMaster13.xml.rels><?xml version="1.0" encoding="UTF-8" standalone="yes"?>
<Relationships xmlns="http://schemas.openxmlformats.org/package/2006/relationships"><Relationship Id="rId5" Type="http://schemas.openxmlformats.org/officeDocument/2006/relationships/theme" Target="../theme/theme1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/Relationships>
</file>

<file path=ppt/slideMasters/_rels/slideMaster14.xml.rels><?xml version="1.0" encoding="UTF-8" standalone="yes"?>
<Relationships xmlns="http://schemas.openxmlformats.org/package/2006/relationships"><Relationship Id="rId5" Type="http://schemas.openxmlformats.org/officeDocument/2006/relationships/theme" Target="../theme/theme14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/Relationships>
</file>

<file path=ppt/slideMasters/_rels/slideMaster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8.xml"/><Relationship Id="rId8" Type="http://schemas.openxmlformats.org/officeDocument/2006/relationships/slideLayout" Target="../slideLayouts/slideLayout57.xml"/><Relationship Id="rId7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2.xml"/><Relationship Id="rId20" Type="http://schemas.openxmlformats.org/officeDocument/2006/relationships/theme" Target="../theme/theme15.xml"/><Relationship Id="rId2" Type="http://schemas.openxmlformats.org/officeDocument/2006/relationships/slideLayout" Target="../slideLayouts/slideLayout51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0.xml"/></Relationships>
</file>

<file path=ppt/slideMasters/_rels/slideMaster16.xml.rels><?xml version="1.0" encoding="UTF-8" standalone="yes"?>
<Relationships xmlns="http://schemas.openxmlformats.org/package/2006/relationships"><Relationship Id="rId5" Type="http://schemas.openxmlformats.org/officeDocument/2006/relationships/theme" Target="../theme/theme16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69.xml"/><Relationship Id="rId1" Type="http://schemas.openxmlformats.org/officeDocument/2006/relationships/slideLayout" Target="../slideLayouts/slideLayout68.xml"/></Relationships>
</file>

<file path=ppt/slideMasters/_rels/slideMaster17.xml.rels><?xml version="1.0" encoding="UTF-8" standalone="yes"?>
<Relationships xmlns="http://schemas.openxmlformats.org/package/2006/relationships"><Relationship Id="rId5" Type="http://schemas.openxmlformats.org/officeDocument/2006/relationships/theme" Target="../theme/theme17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1.xml"/><Relationship Id="rId1" Type="http://schemas.openxmlformats.org/officeDocument/2006/relationships/slideLayout" Target="../slideLayouts/slideLayout70.xml"/></Relationships>
</file>

<file path=ppt/slideMasters/_rels/slideMaster18.xml.rels><?xml version="1.0" encoding="UTF-8" standalone="yes"?>
<Relationships xmlns="http://schemas.openxmlformats.org/package/2006/relationships"><Relationship Id="rId5" Type="http://schemas.openxmlformats.org/officeDocument/2006/relationships/theme" Target="../theme/theme1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72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82.xml"/><Relationship Id="rId8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0.xml"/><Relationship Id="rId6" Type="http://schemas.openxmlformats.org/officeDocument/2006/relationships/slideLayout" Target="../slideLayouts/slideLayout79.xml"/><Relationship Id="rId5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7.xml"/><Relationship Id="rId3" Type="http://schemas.openxmlformats.org/officeDocument/2006/relationships/slideLayout" Target="../slideLayouts/slideLayout76.xml"/><Relationship Id="rId20" Type="http://schemas.openxmlformats.org/officeDocument/2006/relationships/theme" Target="../theme/theme19.xml"/><Relationship Id="rId2" Type="http://schemas.openxmlformats.org/officeDocument/2006/relationships/slideLayout" Target="../slideLayouts/slideLayout75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91.xml"/><Relationship Id="rId17" Type="http://schemas.openxmlformats.org/officeDocument/2006/relationships/slideLayout" Target="../slideLayouts/slideLayout90.xml"/><Relationship Id="rId16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88.xml"/><Relationship Id="rId14" Type="http://schemas.openxmlformats.org/officeDocument/2006/relationships/slideLayout" Target="../slideLayouts/slideLayout87.xml"/><Relationship Id="rId13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3.xml"/><Relationship Id="rId1" Type="http://schemas.openxmlformats.org/officeDocument/2006/relationships/slideLayout" Target="../slideLayouts/slideLayout74.xml"/></Relationships>
</file>

<file path=ppt/slideMasters/_rels/slideMaster20.xml.rels><?xml version="1.0" encoding="UTF-8" standalone="yes"?>
<Relationships xmlns="http://schemas.openxmlformats.org/package/2006/relationships"><Relationship Id="rId5" Type="http://schemas.openxmlformats.org/officeDocument/2006/relationships/theme" Target="../theme/theme20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3.xml"/><Relationship Id="rId1" Type="http://schemas.openxmlformats.org/officeDocument/2006/relationships/slideLayout" Target="../slideLayouts/slideLayout92.xml"/></Relationships>
</file>

<file path=ppt/slideMasters/_rels/slideMaster21.xml.rels><?xml version="1.0" encoding="UTF-8" standalone="yes"?>
<Relationships xmlns="http://schemas.openxmlformats.org/package/2006/relationships"><Relationship Id="rId5" Type="http://schemas.openxmlformats.org/officeDocument/2006/relationships/theme" Target="../theme/theme21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5.xml"/><Relationship Id="rId1" Type="http://schemas.openxmlformats.org/officeDocument/2006/relationships/slideLayout" Target="../slideLayouts/slideLayout94.xml"/></Relationships>
</file>

<file path=ppt/slideMasters/_rels/slideMaster2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2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7.xml"/><Relationship Id="rId1" Type="http://schemas.openxmlformats.org/officeDocument/2006/relationships/slideLayout" Target="../slideLayouts/slideLayout96.xml"/></Relationships>
</file>

<file path=ppt/slideMasters/_rels/slideMaster23.xml.rels><?xml version="1.0" encoding="UTF-8" standalone="yes"?>
<Relationships xmlns="http://schemas.openxmlformats.org/package/2006/relationships"><Relationship Id="rId5" Type="http://schemas.openxmlformats.org/officeDocument/2006/relationships/theme" Target="../theme/theme23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99.xml"/><Relationship Id="rId1" Type="http://schemas.openxmlformats.org/officeDocument/2006/relationships/slideLayout" Target="../slideLayouts/slideLayout98.xml"/></Relationships>
</file>

<file path=ppt/slideMasters/_rels/slideMaster24.xml.rels><?xml version="1.0" encoding="UTF-8" standalone="yes"?>
<Relationships xmlns="http://schemas.openxmlformats.org/package/2006/relationships"><Relationship Id="rId5" Type="http://schemas.openxmlformats.org/officeDocument/2006/relationships/theme" Target="../theme/theme24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/Relationships>
</file>

<file path=ppt/slideMasters/_rels/slideMaster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0.xml"/><Relationship Id="rId8" Type="http://schemas.openxmlformats.org/officeDocument/2006/relationships/slideLayout" Target="../slideLayouts/slideLayout109.xml"/><Relationship Id="rId7" Type="http://schemas.openxmlformats.org/officeDocument/2006/relationships/slideLayout" Target="../slideLayouts/slideLayout108.xml"/><Relationship Id="rId6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5.xml"/><Relationship Id="rId3" Type="http://schemas.openxmlformats.org/officeDocument/2006/relationships/slideLayout" Target="../slideLayouts/slideLayout104.xml"/><Relationship Id="rId20" Type="http://schemas.openxmlformats.org/officeDocument/2006/relationships/theme" Target="../theme/theme25.xml"/><Relationship Id="rId2" Type="http://schemas.openxmlformats.org/officeDocument/2006/relationships/slideLayout" Target="../slideLayouts/slideLayout103.xml"/><Relationship Id="rId19" Type="http://schemas.openxmlformats.org/officeDocument/2006/relationships/image" Target="../media/image6.png"/><Relationship Id="rId18" Type="http://schemas.openxmlformats.org/officeDocument/2006/relationships/slideLayout" Target="../slideLayouts/slideLayout119.xml"/><Relationship Id="rId17" Type="http://schemas.openxmlformats.org/officeDocument/2006/relationships/slideLayout" Target="../slideLayouts/slideLayout118.xml"/><Relationship Id="rId16" Type="http://schemas.openxmlformats.org/officeDocument/2006/relationships/slideLayout" Target="../slideLayouts/slideLayout117.xml"/><Relationship Id="rId15" Type="http://schemas.openxmlformats.org/officeDocument/2006/relationships/slideLayout" Target="../slideLayouts/slideLayout116.xml"/><Relationship Id="rId14" Type="http://schemas.openxmlformats.org/officeDocument/2006/relationships/slideLayout" Target="../slideLayouts/slideLayout115.xml"/><Relationship Id="rId13" Type="http://schemas.openxmlformats.org/officeDocument/2006/relationships/slideLayout" Target="../slideLayouts/slideLayout114.xml"/><Relationship Id="rId12" Type="http://schemas.openxmlformats.org/officeDocument/2006/relationships/slideLayout" Target="../slideLayouts/slideLayout113.xml"/><Relationship Id="rId11" Type="http://schemas.openxmlformats.org/officeDocument/2006/relationships/slideLayout" Target="../slideLayouts/slideLayout112.xml"/><Relationship Id="rId10" Type="http://schemas.openxmlformats.org/officeDocument/2006/relationships/slideLayout" Target="../slideLayouts/slideLayout111.xml"/><Relationship Id="rId1" Type="http://schemas.openxmlformats.org/officeDocument/2006/relationships/slideLayout" Target="../slideLayouts/slideLayout102.xml"/></Relationships>
</file>

<file path=ppt/slideMasters/_rels/slideMaster26.xml.rels><?xml version="1.0" encoding="UTF-8" standalone="yes"?>
<Relationships xmlns="http://schemas.openxmlformats.org/package/2006/relationships"><Relationship Id="rId5" Type="http://schemas.openxmlformats.org/officeDocument/2006/relationships/theme" Target="../theme/theme26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1.xml"/><Relationship Id="rId1" Type="http://schemas.openxmlformats.org/officeDocument/2006/relationships/slideLayout" Target="../slideLayouts/slideLayout120.xml"/></Relationships>
</file>

<file path=ppt/slideMasters/_rels/slideMaster27.xml.rels><?xml version="1.0" encoding="UTF-8" standalone="yes"?>
<Relationships xmlns="http://schemas.openxmlformats.org/package/2006/relationships"><Relationship Id="rId5" Type="http://schemas.openxmlformats.org/officeDocument/2006/relationships/theme" Target="../theme/theme27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122.xml"/></Relationships>
</file>

<file path=ppt/slideMasters/_rels/slideMaster28.xml.rels><?xml version="1.0" encoding="UTF-8" standalone="yes"?>
<Relationships xmlns="http://schemas.openxmlformats.org/package/2006/relationships"><Relationship Id="rId5" Type="http://schemas.openxmlformats.org/officeDocument/2006/relationships/theme" Target="../theme/theme28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5.xml"/><Relationship Id="rId1" Type="http://schemas.openxmlformats.org/officeDocument/2006/relationships/slideLayout" Target="../slideLayouts/slideLayout124.xml"/></Relationships>
</file>

<file path=ppt/slideMasters/_rels/slideMaster29.xml.rels><?xml version="1.0" encoding="UTF-8" standalone="yes"?>
<Relationships xmlns="http://schemas.openxmlformats.org/package/2006/relationships"><Relationship Id="rId5" Type="http://schemas.openxmlformats.org/officeDocument/2006/relationships/theme" Target="../theme/theme29.xml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27.xml"/><Relationship Id="rId1" Type="http://schemas.openxmlformats.org/officeDocument/2006/relationships/slideLayout" Target="../slideLayouts/slideLayout126.xml"/></Relationships>
</file>

<file path=ppt/slideMasters/_rels/slideMaster30.xml.rels><?xml version="1.0" encoding="UTF-8" standalone="yes"?>
<Relationships xmlns="http://schemas.openxmlformats.org/package/2006/relationships"><Relationship Id="rId6" Type="http://schemas.openxmlformats.org/officeDocument/2006/relationships/theme" Target="../theme/theme30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30.xml"/><Relationship Id="rId2" Type="http://schemas.openxmlformats.org/officeDocument/2006/relationships/slideLayout" Target="../slideLayouts/slideLayout129.xml"/><Relationship Id="rId1" Type="http://schemas.openxmlformats.org/officeDocument/2006/relationships/slideLayout" Target="../slideLayouts/slideLayout128.xml"/></Relationships>
</file>

<file path=ppt/slideMasters/_rels/slideMaster31.xml.rels><?xml version="1.0" encoding="UTF-8" standalone="yes"?>
<Relationships xmlns="http://schemas.openxmlformats.org/package/2006/relationships"><Relationship Id="rId6" Type="http://schemas.openxmlformats.org/officeDocument/2006/relationships/theme" Target="../theme/theme31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33.xml"/><Relationship Id="rId2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131.xml"/></Relationships>
</file>

<file path=ppt/slideMasters/_rels/slideMaster32.xml.rels><?xml version="1.0" encoding="UTF-8" standalone="yes"?>
<Relationships xmlns="http://schemas.openxmlformats.org/package/2006/relationships"><Relationship Id="rId6" Type="http://schemas.openxmlformats.org/officeDocument/2006/relationships/theme" Target="../theme/theme32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36.xml"/><Relationship Id="rId2" Type="http://schemas.openxmlformats.org/officeDocument/2006/relationships/slideLayout" Target="../slideLayouts/slideLayout135.xml"/><Relationship Id="rId1" Type="http://schemas.openxmlformats.org/officeDocument/2006/relationships/slideLayout" Target="../slideLayouts/slideLayout134.xml"/></Relationships>
</file>

<file path=ppt/slideMasters/_rels/slideMaster3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3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39.xml"/><Relationship Id="rId2" Type="http://schemas.openxmlformats.org/officeDocument/2006/relationships/slideLayout" Target="../slideLayouts/slideLayout138.xml"/><Relationship Id="rId1" Type="http://schemas.openxmlformats.org/officeDocument/2006/relationships/slideLayout" Target="../slideLayouts/slideLayout137.xml"/></Relationships>
</file>

<file path=ppt/slideMasters/_rels/slideMaster34.xml.rels><?xml version="1.0" encoding="UTF-8" standalone="yes"?>
<Relationships xmlns="http://schemas.openxmlformats.org/package/2006/relationships"><Relationship Id="rId6" Type="http://schemas.openxmlformats.org/officeDocument/2006/relationships/theme" Target="../theme/theme34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42.xml"/><Relationship Id="rId2" Type="http://schemas.openxmlformats.org/officeDocument/2006/relationships/slideLayout" Target="../slideLayouts/slideLayout141.xml"/><Relationship Id="rId1" Type="http://schemas.openxmlformats.org/officeDocument/2006/relationships/slideLayout" Target="../slideLayouts/slideLayout140.xml"/></Relationships>
</file>

<file path=ppt/slideMasters/_rels/slideMaster35.xml.rels><?xml version="1.0" encoding="UTF-8" standalone="yes"?>
<Relationships xmlns="http://schemas.openxmlformats.org/package/2006/relationships"><Relationship Id="rId6" Type="http://schemas.openxmlformats.org/officeDocument/2006/relationships/theme" Target="../theme/theme35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45.xml"/><Relationship Id="rId2" Type="http://schemas.openxmlformats.org/officeDocument/2006/relationships/slideLayout" Target="../slideLayouts/slideLayout144.xml"/><Relationship Id="rId1" Type="http://schemas.openxmlformats.org/officeDocument/2006/relationships/slideLayout" Target="../slideLayouts/slideLayout143.xml"/></Relationships>
</file>

<file path=ppt/slideMasters/_rels/slideMaster36.xml.rels><?xml version="1.0" encoding="UTF-8" standalone="yes"?>
<Relationships xmlns="http://schemas.openxmlformats.org/package/2006/relationships"><Relationship Id="rId7" Type="http://schemas.openxmlformats.org/officeDocument/2006/relationships/theme" Target="../theme/theme36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slideLayout" Target="../slideLayouts/slideLayout149.xml"/><Relationship Id="rId3" Type="http://schemas.openxmlformats.org/officeDocument/2006/relationships/slideLayout" Target="../slideLayouts/slideLayout148.xml"/><Relationship Id="rId2" Type="http://schemas.openxmlformats.org/officeDocument/2006/relationships/slideLayout" Target="../slideLayouts/slideLayout147.xml"/><Relationship Id="rId1" Type="http://schemas.openxmlformats.org/officeDocument/2006/relationships/slideLayout" Target="../slideLayouts/slideLayout146.xml"/></Relationships>
</file>

<file path=ppt/slideMasters/_rels/slideMaster37.xml.rels><?xml version="1.0" encoding="UTF-8" standalone="yes"?>
<Relationships xmlns="http://schemas.openxmlformats.org/package/2006/relationships"><Relationship Id="rId6" Type="http://schemas.openxmlformats.org/officeDocument/2006/relationships/theme" Target="../theme/theme37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52.xml"/><Relationship Id="rId2" Type="http://schemas.openxmlformats.org/officeDocument/2006/relationships/slideLayout" Target="../slideLayouts/slideLayout151.xml"/><Relationship Id="rId1" Type="http://schemas.openxmlformats.org/officeDocument/2006/relationships/slideLayout" Target="../slideLayouts/slideLayout150.xml"/></Relationships>
</file>

<file path=ppt/slideMasters/_rels/slideMaster38.xml.rels><?xml version="1.0" encoding="UTF-8" standalone="yes"?>
<Relationships xmlns="http://schemas.openxmlformats.org/package/2006/relationships"><Relationship Id="rId6" Type="http://schemas.openxmlformats.org/officeDocument/2006/relationships/theme" Target="../theme/theme38.xml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3" Type="http://schemas.openxmlformats.org/officeDocument/2006/relationships/slideLayout" Target="../slideLayouts/slideLayout155.xml"/><Relationship Id="rId2" Type="http://schemas.openxmlformats.org/officeDocument/2006/relationships/slideLayout" Target="../slideLayouts/slideLayout154.xml"/><Relationship Id="rId1" Type="http://schemas.openxmlformats.org/officeDocument/2006/relationships/slideLayout" Target="../slideLayouts/slideLayout1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7383" y="1223746"/>
              <a:ext cx="1249680" cy="7372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i="0" dirty="0">
                  <a:latin typeface="阿里巴巴普惠体" panose="00020600040101010101" charset="-122"/>
                  <a:ea typeface="阿里巴巴普惠体" panose="00020600040101010101" charset="-122"/>
                  <a:cs typeface="Alibaba PuHuiTi B" pitchFamily="18" charset="-122"/>
                </a:rPr>
                <a:t>目录</a:t>
              </a:r>
              <a:endParaRPr lang="zh-CN" altLang="en-US" sz="4200" i="0" dirty="0"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28120" y="2333175"/>
            <a:ext cx="2316480" cy="7372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i="0" dirty="0"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rPr>
              <a:t>学习目标</a:t>
            </a:r>
            <a:endParaRPr lang="zh-CN" altLang="en-US" sz="4200" i="0" dirty="0">
              <a:latin typeface="阿里巴巴普惠体" panose="00020600040101010101" charset="-122"/>
              <a:ea typeface="阿里巴巴普惠体" panose="00020600040101010101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</a:t>
            </a:r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最短时间，教会更实用的技术！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28120" y="2333175"/>
            <a:ext cx="2316480" cy="7372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i="0" dirty="0"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rPr>
              <a:t>学习目标</a:t>
            </a:r>
            <a:endParaRPr lang="zh-CN" altLang="en-US" sz="4200" i="0" dirty="0">
              <a:latin typeface="阿里巴巴普惠体" panose="00020600040101010101" charset="-122"/>
              <a:ea typeface="阿里巴巴普惠体" panose="00020600040101010101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28120" y="2333175"/>
            <a:ext cx="2316480" cy="7372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i="0" dirty="0"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rPr>
              <a:t>学习目标</a:t>
            </a:r>
            <a:endParaRPr lang="zh-CN" altLang="en-US" sz="4200" i="0" dirty="0">
              <a:latin typeface="阿里巴巴普惠体" panose="00020600040101010101" charset="-122"/>
              <a:ea typeface="阿里巴巴普惠体" panose="00020600040101010101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28120" y="2333175"/>
            <a:ext cx="2316480" cy="7372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i="0" dirty="0"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rPr>
              <a:t>学习目标</a:t>
            </a:r>
            <a:endParaRPr lang="zh-CN" altLang="en-US" sz="4200" i="0" dirty="0">
              <a:latin typeface="阿里巴巴普惠体" panose="00020600040101010101" charset="-122"/>
              <a:ea typeface="阿里巴巴普惠体" panose="00020600040101010101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28120" y="2333175"/>
            <a:ext cx="2316480" cy="7372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i="0" dirty="0"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rPr>
              <a:t>学习目标</a:t>
            </a:r>
            <a:endParaRPr lang="zh-CN" altLang="en-US" sz="4200" i="0" dirty="0">
              <a:latin typeface="阿里巴巴普惠体" panose="00020600040101010101" charset="-122"/>
              <a:ea typeface="阿里巴巴普惠体" panose="00020600040101010101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28120" y="2333175"/>
            <a:ext cx="2316480" cy="7372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i="0" dirty="0"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rPr>
              <a:t>学习目标</a:t>
            </a:r>
            <a:endParaRPr lang="zh-CN" altLang="en-US" sz="4200" i="0" dirty="0">
              <a:latin typeface="阿里巴巴普惠体" panose="00020600040101010101" charset="-122"/>
              <a:ea typeface="阿里巴巴普惠体" panose="00020600040101010101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28120" y="2333175"/>
            <a:ext cx="2316480" cy="7372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dirty="0"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rPr>
              <a:t>学习目标</a:t>
            </a:r>
            <a:endParaRPr lang="zh-CN" altLang="en-US" sz="4200" dirty="0">
              <a:latin typeface="阿里巴巴普惠体" panose="00020600040101010101" charset="-122"/>
              <a:ea typeface="阿里巴巴普惠体" panose="00020600040101010101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28120" y="2333175"/>
            <a:ext cx="2316480" cy="7372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i="0" dirty="0"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rPr>
              <a:t>学习目标</a:t>
            </a:r>
            <a:endParaRPr lang="zh-CN" altLang="en-US" sz="4200" i="0" dirty="0">
              <a:latin typeface="阿里巴巴普惠体" panose="00020600040101010101" charset="-122"/>
              <a:ea typeface="阿里巴巴普惠体" panose="00020600040101010101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多一句没有，少一句不行，用最短时间，教会最实用的技术！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28120" y="2333175"/>
            <a:ext cx="2316480" cy="7372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i="0" dirty="0"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rPr>
              <a:t>学习目标</a:t>
            </a:r>
            <a:endParaRPr lang="zh-CN" altLang="en-US" sz="4200" i="0" dirty="0">
              <a:latin typeface="阿里巴巴普惠体" panose="00020600040101010101" charset="-122"/>
              <a:ea typeface="阿里巴巴普惠体" panose="00020600040101010101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28120" y="2333175"/>
            <a:ext cx="2316480" cy="7372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i="0" dirty="0"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rPr>
              <a:t>学习目标</a:t>
            </a:r>
            <a:endParaRPr lang="zh-CN" altLang="en-US" sz="4200" i="0" dirty="0">
              <a:latin typeface="阿里巴巴普惠体" panose="00020600040101010101" charset="-122"/>
              <a:ea typeface="阿里巴巴普惠体" panose="00020600040101010101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28120" y="2333175"/>
            <a:ext cx="2316480" cy="7372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i="0" dirty="0"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rPr>
              <a:t>学习目标</a:t>
            </a:r>
            <a:endParaRPr lang="zh-CN" altLang="en-US" sz="4200" i="0" dirty="0">
              <a:latin typeface="阿里巴巴普惠体" panose="00020600040101010101" charset="-122"/>
              <a:ea typeface="阿里巴巴普惠体" panose="00020600040101010101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多一句没有，少一句不行，用最短时间，教会最实用的技术！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  <p:sldLayoutId id="2147483754" r:id="rId15"/>
    <p:sldLayoutId id="2147483755" r:id="rId16"/>
    <p:sldLayoutId id="2147483756" r:id="rId17"/>
    <p:sldLayoutId id="2147483757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28120" y="2333175"/>
            <a:ext cx="2316480" cy="7372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i="0" dirty="0"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rPr>
              <a:t>学习目标</a:t>
            </a:r>
            <a:endParaRPr lang="zh-CN" altLang="en-US" sz="4200" i="0" dirty="0">
              <a:latin typeface="阿里巴巴普惠体" panose="00020600040101010101" charset="-122"/>
              <a:ea typeface="阿里巴巴普惠体" panose="00020600040101010101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28120" y="2333175"/>
            <a:ext cx="2316480" cy="7372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i="0" dirty="0"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rPr>
              <a:t>学习目标</a:t>
            </a:r>
            <a:endParaRPr lang="zh-CN" altLang="en-US" sz="4200" i="0" dirty="0">
              <a:latin typeface="阿里巴巴普惠体" panose="00020600040101010101" charset="-122"/>
              <a:ea typeface="阿里巴巴普惠体" panose="00020600040101010101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28120" y="2333175"/>
            <a:ext cx="2316480" cy="7372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i="0" dirty="0"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rPr>
              <a:t>学习目标</a:t>
            </a:r>
            <a:endParaRPr lang="zh-CN" altLang="en-US" sz="4200" i="0" dirty="0">
              <a:latin typeface="阿里巴巴普惠体" panose="00020600040101010101" charset="-122"/>
              <a:ea typeface="阿里巴巴普惠体" panose="00020600040101010101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 userDrawn="1"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728120" y="2333175"/>
            <a:ext cx="2316480" cy="7372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ctr"/>
            <a:r>
              <a:rPr lang="zh-CN" altLang="en-US" sz="4200" i="0" dirty="0"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rPr>
              <a:t>学习目标</a:t>
            </a:r>
            <a:endParaRPr lang="zh-CN" altLang="en-US" sz="4200" i="0" dirty="0">
              <a:latin typeface="阿里巴巴普惠体" panose="00020600040101010101" charset="-122"/>
              <a:ea typeface="阿里巴巴普惠体" panose="00020600040101010101" charset="-122"/>
              <a:cs typeface="Alibaba PuHuiTi B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 userDrawn="1"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728120" y="2333175"/>
            <a:ext cx="2316480" cy="7372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i="0" dirty="0"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rPr>
              <a:t>学习目标</a:t>
            </a:r>
            <a:endParaRPr lang="zh-CN" altLang="en-US" sz="4200" i="0" dirty="0">
              <a:latin typeface="阿里巴巴普惠体" panose="00020600040101010101" charset="-122"/>
              <a:ea typeface="阿里巴巴普惠体" panose="00020600040101010101" charset="-122"/>
              <a:cs typeface="Alibaba PuHuiTi B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多一句没有，少一句不行，用最短时间，教会最实用的技术！</a:t>
            </a:r>
            <a:endParaRPr lang="zh-CN" altLang="en-US" sz="2100" dirty="0">
              <a:solidFill>
                <a:srgbClr val="49504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高级软件人才培训专家</a:t>
            </a:r>
            <a:endParaRPr lang="zh-CN" altLang="en-US" sz="1600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阿里巴巴普惠体" panose="0002060004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4" r:id="rId1"/>
    <p:sldLayoutId id="2147483775" r:id="rId2"/>
    <p:sldLayoutId id="2147483776" r:id="rId3"/>
    <p:sldLayoutId id="2147483777" r:id="rId4"/>
    <p:sldLayoutId id="2147483778" r:id="rId5"/>
    <p:sldLayoutId id="2147483779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 userDrawn="1"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728120" y="2333175"/>
            <a:ext cx="2316480" cy="7372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i="0" dirty="0"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rPr>
              <a:t>学习目标</a:t>
            </a:r>
            <a:endParaRPr lang="zh-CN" altLang="en-US" sz="4200" i="0" dirty="0">
              <a:latin typeface="阿里巴巴普惠体" panose="00020600040101010101" charset="-122"/>
              <a:ea typeface="阿里巴巴普惠体" panose="00020600040101010101" charset="-122"/>
              <a:cs typeface="Alibaba PuHuiTi B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 userDrawn="1"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728120" y="2333175"/>
            <a:ext cx="2316480" cy="7372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i="0" dirty="0"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rPr>
              <a:t>学习目标</a:t>
            </a:r>
            <a:endParaRPr lang="zh-CN" altLang="en-US" sz="4200" i="0" dirty="0">
              <a:latin typeface="阿里巴巴普惠体" panose="00020600040101010101" charset="-122"/>
              <a:ea typeface="阿里巴巴普惠体" panose="00020600040101010101" charset="-122"/>
              <a:cs typeface="Alibaba PuHuiTi B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 userDrawn="1"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728120" y="2333175"/>
            <a:ext cx="2316480" cy="7372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i="0" dirty="0"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rPr>
              <a:t>学习目标</a:t>
            </a:r>
            <a:endParaRPr lang="zh-CN" altLang="en-US" sz="4200" i="0" dirty="0">
              <a:latin typeface="阿里巴巴普惠体" panose="00020600040101010101" charset="-122"/>
              <a:ea typeface="阿里巴巴普惠体" panose="00020600040101010101" charset="-122"/>
              <a:cs typeface="Alibaba PuHuiTi B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 userDrawn="1"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728120" y="2333175"/>
            <a:ext cx="2316480" cy="7372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i="0" dirty="0"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rPr>
              <a:t>学习目标</a:t>
            </a:r>
            <a:endParaRPr lang="zh-CN" altLang="en-US" sz="4200" i="0" dirty="0">
              <a:latin typeface="阿里巴巴普惠体" panose="00020600040101010101" charset="-122"/>
              <a:ea typeface="阿里巴巴普惠体" panose="00020600040101010101" charset="-122"/>
              <a:cs typeface="Alibaba PuHuiTi B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 userDrawn="1"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728120" y="2333175"/>
            <a:ext cx="2316480" cy="7372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p>
            <a:pPr algn="ctr"/>
            <a:r>
              <a:rPr lang="zh-CN" altLang="en-US" sz="4200" i="0" dirty="0"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rPr>
              <a:t>学习目标</a:t>
            </a:r>
            <a:endParaRPr lang="zh-CN" altLang="en-US" sz="4200" i="0" dirty="0">
              <a:latin typeface="阿里巴巴普惠体" panose="00020600040101010101" charset="-122"/>
              <a:ea typeface="阿里巴巴普惠体" panose="00020600040101010101" charset="-122"/>
              <a:cs typeface="Alibaba PuHuiTi B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 userDrawn="1"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728120" y="2333175"/>
            <a:ext cx="2316480" cy="7372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i="0" dirty="0"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rPr>
              <a:t>学习目标</a:t>
            </a:r>
            <a:endParaRPr lang="zh-CN" altLang="en-US" sz="4200" i="0" dirty="0">
              <a:latin typeface="阿里巴巴普惠体" panose="00020600040101010101" charset="-122"/>
              <a:ea typeface="阿里巴巴普惠体" panose="00020600040101010101" charset="-122"/>
              <a:cs typeface="Alibaba PuHuiTi B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10" r:id="rId2"/>
    <p:sldLayoutId id="2147483811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 userDrawn="1"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728120" y="2333175"/>
            <a:ext cx="2316480" cy="7372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i="0" dirty="0"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rPr>
              <a:t>学习目标</a:t>
            </a:r>
            <a:endParaRPr lang="zh-CN" altLang="en-US" sz="4200" i="0" dirty="0">
              <a:latin typeface="阿里巴巴普惠体" panose="00020600040101010101" charset="-122"/>
              <a:ea typeface="阿里巴巴普惠体" panose="00020600040101010101" charset="-122"/>
              <a:cs typeface="Alibaba PuHuiTi B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 userDrawn="1"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728120" y="2333175"/>
            <a:ext cx="2316480" cy="7372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i="0" dirty="0"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rPr>
              <a:t>学习目标</a:t>
            </a:r>
            <a:endParaRPr lang="zh-CN" altLang="en-US" sz="4200" i="0" dirty="0">
              <a:latin typeface="阿里巴巴普惠体" panose="00020600040101010101" charset="-122"/>
              <a:ea typeface="阿里巴巴普惠体" panose="00020600040101010101" charset="-122"/>
              <a:cs typeface="Alibaba PuHuiTi B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 userDrawn="1"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728120" y="2333175"/>
            <a:ext cx="2316480" cy="7372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i="0" dirty="0"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rPr>
              <a:t>学习目标</a:t>
            </a:r>
            <a:endParaRPr lang="zh-CN" altLang="en-US" sz="4200" i="0" dirty="0">
              <a:latin typeface="阿里巴巴普惠体" panose="00020600040101010101" charset="-122"/>
              <a:ea typeface="阿里巴巴普惠体" panose="00020600040101010101" charset="-122"/>
              <a:cs typeface="Alibaba PuHuiTi B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 userDrawn="1"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728120" y="2333175"/>
            <a:ext cx="2316480" cy="7372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i="0" dirty="0"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rPr>
              <a:t>学习目标</a:t>
            </a:r>
            <a:endParaRPr lang="zh-CN" altLang="en-US" sz="4200" i="0" dirty="0">
              <a:latin typeface="阿里巴巴普惠体" panose="00020600040101010101" charset="-122"/>
              <a:ea typeface="阿里巴巴普惠体" panose="00020600040101010101" charset="-122"/>
              <a:cs typeface="Alibaba PuHuiTi B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 userDrawn="1"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728120" y="2333175"/>
            <a:ext cx="2316480" cy="7372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i="0" dirty="0"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rPr>
              <a:t>学习目标</a:t>
            </a:r>
            <a:endParaRPr lang="zh-CN" altLang="en-US" sz="4200" i="0" dirty="0">
              <a:latin typeface="阿里巴巴普惠体" panose="00020600040101010101" charset="-122"/>
              <a:ea typeface="阿里巴巴普惠体" panose="00020600040101010101" charset="-122"/>
              <a:cs typeface="Alibaba PuHuiTi B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 userDrawn="1"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728120" y="2333175"/>
            <a:ext cx="2316480" cy="73723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i="0" dirty="0">
                <a:latin typeface="阿里巴巴普惠体" panose="00020600040101010101" charset="-122"/>
                <a:ea typeface="阿里巴巴普惠体" panose="00020600040101010101" charset="-122"/>
                <a:cs typeface="Alibaba PuHuiTi B" pitchFamily="18" charset="-122"/>
              </a:rPr>
              <a:t>学习目标</a:t>
            </a:r>
            <a:endParaRPr lang="zh-CN" altLang="en-US" sz="4200" i="0" dirty="0">
              <a:latin typeface="阿里巴巴普惠体" panose="00020600040101010101" charset="-122"/>
              <a:ea typeface="阿里巴巴普惠体" panose="00020600040101010101" charset="-122"/>
              <a:cs typeface="Alibaba PuHuiTi B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7" Type="http://schemas.openxmlformats.org/officeDocument/2006/relationships/image" Target="../media/image17.png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jpeg"/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8.png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jpeg"/><Relationship Id="rId4" Type="http://schemas.openxmlformats.org/officeDocument/2006/relationships/image" Target="../media/image28.jpeg"/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4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0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jpeg"/><Relationship Id="rId1" Type="http://schemas.openxmlformats.org/officeDocument/2006/relationships/image" Target="../media/image47.jpe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24.png"/><Relationship Id="rId2" Type="http://schemas.openxmlformats.org/officeDocument/2006/relationships/image" Target="../media/image52.png"/><Relationship Id="rId1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png"/><Relationship Id="rId8" Type="http://schemas.openxmlformats.org/officeDocument/2006/relationships/image" Target="../media/image60.png"/><Relationship Id="rId7" Type="http://schemas.openxmlformats.org/officeDocument/2006/relationships/image" Target="../media/image59.png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1" Type="http://schemas.openxmlformats.org/officeDocument/2006/relationships/slideLayout" Target="../slideLayouts/slideLayout17.xml"/><Relationship Id="rId10" Type="http://schemas.openxmlformats.org/officeDocument/2006/relationships/image" Target="../media/image62.png"/><Relationship Id="rId1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6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67.png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75.png"/><Relationship Id="rId1" Type="http://schemas.openxmlformats.org/officeDocument/2006/relationships/image" Target="../media/image7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77.png"/><Relationship Id="rId1" Type="http://schemas.openxmlformats.org/officeDocument/2006/relationships/image" Target="../media/image7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79.png"/><Relationship Id="rId1" Type="http://schemas.openxmlformats.org/officeDocument/2006/relationships/image" Target="../media/image7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80.png"/><Relationship Id="rId1" Type="http://schemas.openxmlformats.org/officeDocument/2006/relationships/image" Target="../media/image24.png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8.png"/><Relationship Id="rId8" Type="http://schemas.openxmlformats.org/officeDocument/2006/relationships/image" Target="../media/image87.png"/><Relationship Id="rId7" Type="http://schemas.openxmlformats.org/officeDocument/2006/relationships/image" Target="../media/image86.png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0" Type="http://schemas.openxmlformats.org/officeDocument/2006/relationships/slideLayout" Target="../slideLayouts/slideLayout17.xml"/><Relationship Id="rId1" Type="http://schemas.openxmlformats.org/officeDocument/2006/relationships/image" Target="../media/image6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66.png"/></Relationships>
</file>

<file path=ppt/slides/_rels/slide4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7.png"/><Relationship Id="rId8" Type="http://schemas.openxmlformats.org/officeDocument/2006/relationships/image" Target="../media/image96.png"/><Relationship Id="rId7" Type="http://schemas.openxmlformats.org/officeDocument/2006/relationships/image" Target="../media/image95.png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1" Type="http://schemas.openxmlformats.org/officeDocument/2006/relationships/slideLayout" Target="../slideLayouts/slideLayout17.xml"/><Relationship Id="rId10" Type="http://schemas.openxmlformats.org/officeDocument/2006/relationships/image" Target="../media/image98.png"/><Relationship Id="rId1" Type="http://schemas.openxmlformats.org/officeDocument/2006/relationships/image" Target="../media/image8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99.png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image" Target="../media/image100.png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image" Target="../media/image103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06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07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08.png"/></Relationships>
</file>

<file path=ppt/slides/_rels/slide5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7.png"/><Relationship Id="rId8" Type="http://schemas.openxmlformats.org/officeDocument/2006/relationships/image" Target="../media/image116.png"/><Relationship Id="rId7" Type="http://schemas.openxmlformats.org/officeDocument/2006/relationships/image" Target="../media/image115.png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3" Type="http://schemas.openxmlformats.org/officeDocument/2006/relationships/slideLayout" Target="../slideLayouts/slideLayout17.xml"/><Relationship Id="rId12" Type="http://schemas.openxmlformats.org/officeDocument/2006/relationships/image" Target="../media/image120.png"/><Relationship Id="rId11" Type="http://schemas.openxmlformats.org/officeDocument/2006/relationships/image" Target="../media/image119.png"/><Relationship Id="rId10" Type="http://schemas.openxmlformats.org/officeDocument/2006/relationships/image" Target="../media/image118.png"/><Relationship Id="rId1" Type="http://schemas.openxmlformats.org/officeDocument/2006/relationships/image" Target="../media/image109.png"/></Relationships>
</file>

<file path=ppt/slides/_rels/slide5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image" Target="../media/image128.png"/><Relationship Id="rId7" Type="http://schemas.openxmlformats.org/officeDocument/2006/relationships/image" Target="../media/image127.png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4" Type="http://schemas.openxmlformats.org/officeDocument/2006/relationships/image" Target="../media/image124.png"/><Relationship Id="rId3" Type="http://schemas.openxmlformats.org/officeDocument/2006/relationships/image" Target="../media/image123.png"/><Relationship Id="rId2" Type="http://schemas.openxmlformats.org/officeDocument/2006/relationships/image" Target="../media/image122.png"/><Relationship Id="rId1" Type="http://schemas.openxmlformats.org/officeDocument/2006/relationships/image" Target="../media/image121.png"/></Relationships>
</file>

<file path=ppt/slides/_rels/slide5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image" Target="../media/image133.png"/><Relationship Id="rId4" Type="http://schemas.openxmlformats.org/officeDocument/2006/relationships/image" Target="../media/image132.png"/><Relationship Id="rId3" Type="http://schemas.openxmlformats.org/officeDocument/2006/relationships/image" Target="../media/image131.png"/><Relationship Id="rId2" Type="http://schemas.openxmlformats.org/officeDocument/2006/relationships/image" Target="../media/image130.png"/><Relationship Id="rId1" Type="http://schemas.openxmlformats.org/officeDocument/2006/relationships/image" Target="../media/image129.pn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image" Target="../media/image13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38.png"/><Relationship Id="rId1" Type="http://schemas.openxmlformats.org/officeDocument/2006/relationships/image" Target="../media/image137.png"/></Relationships>
</file>

<file path=ppt/slides/_rels/slide5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140.png"/><Relationship Id="rId2" Type="http://schemas.openxmlformats.org/officeDocument/2006/relationships/image" Target="../media/image134.png"/><Relationship Id="rId1" Type="http://schemas.openxmlformats.org/officeDocument/2006/relationships/image" Target="../media/image13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42.png"/><Relationship Id="rId1" Type="http://schemas.openxmlformats.org/officeDocument/2006/relationships/image" Target="../media/image14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44.png"/><Relationship Id="rId1" Type="http://schemas.openxmlformats.org/officeDocument/2006/relationships/image" Target="../media/image143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0.xml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145.png"/><Relationship Id="rId2" Type="http://schemas.openxmlformats.org/officeDocument/2006/relationships/image" Target="../media/image43.png"/><Relationship Id="rId1" Type="http://schemas.openxmlformats.org/officeDocument/2006/relationships/tags" Target="../tags/tag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4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48.png"/><Relationship Id="rId1" Type="http://schemas.openxmlformats.org/officeDocument/2006/relationships/image" Target="../media/image147.png"/></Relationships>
</file>

<file path=ppt/slides/_rels/slide6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image" Target="../media/image153.png"/><Relationship Id="rId4" Type="http://schemas.openxmlformats.org/officeDocument/2006/relationships/image" Target="../media/image152.png"/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image" Target="../media/image149.png"/></Relationships>
</file>

<file path=ppt/slides/_rels/slide6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157.png"/><Relationship Id="rId3" Type="http://schemas.openxmlformats.org/officeDocument/2006/relationships/image" Target="../media/image156.png"/><Relationship Id="rId2" Type="http://schemas.openxmlformats.org/officeDocument/2006/relationships/image" Target="../media/image155.png"/><Relationship Id="rId1" Type="http://schemas.openxmlformats.org/officeDocument/2006/relationships/image" Target="../media/image154.png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image" Target="../media/image158.png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163.png"/><Relationship Id="rId2" Type="http://schemas.openxmlformats.org/officeDocument/2006/relationships/image" Target="../media/image162.png"/><Relationship Id="rId1" Type="http://schemas.openxmlformats.org/officeDocument/2006/relationships/image" Target="../media/image161.png"/></Relationships>
</file>

<file path=ppt/slides/_rels/slide7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65.png"/><Relationship Id="rId1" Type="http://schemas.openxmlformats.org/officeDocument/2006/relationships/image" Target="../media/image164.png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168.png"/><Relationship Id="rId2" Type="http://schemas.openxmlformats.org/officeDocument/2006/relationships/image" Target="../media/image167.png"/><Relationship Id="rId1" Type="http://schemas.openxmlformats.org/officeDocument/2006/relationships/image" Target="../media/image166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64.png"/><Relationship Id="rId1" Type="http://schemas.openxmlformats.org/officeDocument/2006/relationships/image" Target="../media/image169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71.png"/><Relationship Id="rId1" Type="http://schemas.openxmlformats.org/officeDocument/2006/relationships/image" Target="../media/image170.png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62.png"/><Relationship Id="rId2" Type="http://schemas.openxmlformats.org/officeDocument/2006/relationships/image" Target="../media/image173.png"/><Relationship Id="rId1" Type="http://schemas.openxmlformats.org/officeDocument/2006/relationships/image" Target="../media/image17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17.png"/><Relationship Id="rId1" Type="http://schemas.openxmlformats.org/officeDocument/2006/relationships/image" Target="../media/image174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75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.xml"/><Relationship Id="rId1" Type="http://schemas.openxmlformats.org/officeDocument/2006/relationships/image" Target="../media/image176.png"/></Relationships>
</file>

<file path=ppt/slides/_rels/slide8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7.xml"/><Relationship Id="rId6" Type="http://schemas.openxmlformats.org/officeDocument/2006/relationships/image" Target="../media/image181.png"/><Relationship Id="rId5" Type="http://schemas.openxmlformats.org/officeDocument/2006/relationships/image" Target="../media/image180.png"/><Relationship Id="rId4" Type="http://schemas.openxmlformats.org/officeDocument/2006/relationships/image" Target="../media/image179.png"/><Relationship Id="rId3" Type="http://schemas.openxmlformats.org/officeDocument/2006/relationships/image" Target="../media/image178.png"/><Relationship Id="rId2" Type="http://schemas.openxmlformats.org/officeDocument/2006/relationships/image" Target="../media/image177.png"/><Relationship Id="rId1" Type="http://schemas.openxmlformats.org/officeDocument/2006/relationships/tags" Target="../tags/tag3.xml"/></Relationships>
</file>

<file path=ppt/slides/_rels/slide8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7.xml"/><Relationship Id="rId5" Type="http://schemas.openxmlformats.org/officeDocument/2006/relationships/image" Target="../media/image186.png"/><Relationship Id="rId4" Type="http://schemas.openxmlformats.org/officeDocument/2006/relationships/image" Target="../media/image185.png"/><Relationship Id="rId3" Type="http://schemas.openxmlformats.org/officeDocument/2006/relationships/image" Target="../media/image184.png"/><Relationship Id="rId2" Type="http://schemas.openxmlformats.org/officeDocument/2006/relationships/image" Target="../media/image183.png"/><Relationship Id="rId1" Type="http://schemas.openxmlformats.org/officeDocument/2006/relationships/image" Target="../media/image182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25500" y="2158365"/>
            <a:ext cx="10541000" cy="1158875"/>
          </a:xfrm>
        </p:spPr>
        <p:txBody>
          <a:bodyPr/>
          <a:p>
            <a:r>
              <a:rPr lang="zh-CN" altLang="en-US" sz="6600" dirty="0">
                <a:solidFill>
                  <a:schemeClr val="tx2"/>
                </a:solidFill>
                <a:latin typeface="阿里巴巴普惠体" panose="00020600040101010101" charset="-122"/>
                <a:ea typeface="阿里巴巴普惠体" panose="00020600040101010101" charset="-122"/>
                <a:sym typeface="+mn-ea"/>
              </a:rPr>
              <a:t>初识</a:t>
            </a:r>
            <a:r>
              <a:rPr lang="en-US" sz="6600" dirty="0">
                <a:solidFill>
                  <a:schemeClr val="accent3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L</a:t>
            </a:r>
            <a:r>
              <a:rPr lang="en-US" sz="6600" dirty="0">
                <a:solidFill>
                  <a:schemeClr val="accent4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i</a:t>
            </a:r>
            <a:r>
              <a:rPr lang="en-US" sz="6600" dirty="0">
                <a:solidFill>
                  <a:schemeClr val="accent5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n</a:t>
            </a:r>
            <a:r>
              <a:rPr lang="en-US" sz="6600" dirty="0">
                <a:solidFill>
                  <a:schemeClr val="accent6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u</a:t>
            </a:r>
            <a:r>
              <a:rPr lang="en-US" sz="6600" dirty="0">
                <a:solidFill>
                  <a:schemeClr val="tx2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x</a:t>
            </a:r>
            <a:endParaRPr lang="zh-CN" altLang="en-US" sz="6600" dirty="0">
              <a:solidFill>
                <a:schemeClr val="tx2"/>
              </a:solidFill>
              <a:latin typeface="阿里巴巴普惠体" panose="00020600040101010101" charset="-122"/>
              <a:ea typeface="阿里巴巴普惠体" panose="00020600040101010101" charset="-122"/>
            </a:endParaRPr>
          </a:p>
        </p:txBody>
      </p:sp>
      <p:pic>
        <p:nvPicPr>
          <p:cNvPr id="6" name="图片 5" descr="01 (14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6720" y="4218305"/>
            <a:ext cx="1179195" cy="11791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19675" y="1029335"/>
            <a:ext cx="5973445" cy="4004945"/>
          </a:xfrm>
        </p:spPr>
        <p:txBody>
          <a:bodyPr/>
          <a:lstStyle/>
          <a:p>
            <a:pPr algn="l"/>
            <a:r>
              <a:rPr kumimoji="1" lang="zh-CN" sz="1600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操作系统概述</a:t>
            </a:r>
            <a:endParaRPr kumimoji="1" lang="zh-CN" sz="1600" dirty="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  <a:p>
            <a:pPr algn="l"/>
            <a:r>
              <a:rPr kumimoji="1" lang="zh-CN" altLang="en-US" sz="1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初识</a:t>
            </a:r>
            <a:r>
              <a:rPr kumimoji="1" lang="en-US" altLang="zh-CN" sz="1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Linux</a:t>
            </a:r>
            <a:endParaRPr kumimoji="1" lang="en-US" altLang="zh-CN" sz="1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  <a:p>
            <a:pPr algn="l"/>
            <a:r>
              <a:rPr kumimoji="1" lang="zh-CN" altLang="en-US" sz="1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虚拟机介绍</a:t>
            </a:r>
            <a:endParaRPr kumimoji="1" lang="zh-CN" altLang="en-US" sz="1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  <a:p>
            <a:pPr algn="l"/>
            <a:r>
              <a:rPr kumimoji="1" lang="en-US" altLang="zh-CN" sz="1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VMware WorkStation</a:t>
            </a:r>
            <a:r>
              <a:rPr kumimoji="1" lang="zh-CN" altLang="en-US" sz="1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安装</a:t>
            </a:r>
            <a:endParaRPr kumimoji="1" lang="zh-CN" altLang="en-US" sz="1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  <a:p>
            <a:pPr algn="l"/>
            <a:r>
              <a:rPr kumimoji="1" lang="zh-CN" altLang="en-US" sz="1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在</a:t>
            </a:r>
            <a:r>
              <a:rPr kumimoji="1" lang="en-US" altLang="zh-CN" sz="1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VMware</a:t>
            </a:r>
            <a:r>
              <a:rPr kumimoji="1" lang="zh-CN" altLang="en-US" sz="1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上安装</a:t>
            </a:r>
            <a:r>
              <a:rPr kumimoji="1" lang="en-US" altLang="zh-CN" sz="1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Linux</a:t>
            </a:r>
            <a:endParaRPr kumimoji="1" lang="en-US" altLang="zh-CN" sz="1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  <a:p>
            <a:pPr algn="l"/>
            <a:r>
              <a:rPr kumimoji="1" lang="en-US" altLang="zh-CN" sz="1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Mac</a:t>
            </a:r>
            <a:r>
              <a:rPr kumimoji="1" lang="zh-CN" altLang="en-US" sz="1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系统</a:t>
            </a:r>
            <a:r>
              <a:rPr kumimoji="1" lang="en-US" altLang="zh-CN" sz="1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Linux</a:t>
            </a:r>
            <a:r>
              <a:rPr kumimoji="1" lang="zh-CN" altLang="en-US" sz="1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环境</a:t>
            </a:r>
            <a:endParaRPr kumimoji="1" lang="zh-CN" altLang="en-US" sz="1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  <a:p>
            <a:pPr algn="l"/>
            <a:r>
              <a:rPr kumimoji="1" lang="zh-CN" altLang="en-US" sz="1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远程连接</a:t>
            </a:r>
            <a:r>
              <a:rPr kumimoji="1" lang="en-US" altLang="zh-CN" sz="1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Linux</a:t>
            </a:r>
            <a:r>
              <a:rPr kumimoji="1" lang="zh-CN" altLang="en-US" sz="1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系统</a:t>
            </a:r>
            <a:endParaRPr kumimoji="1" lang="zh-CN" altLang="en-US" sz="1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  <a:p>
            <a:pPr algn="l"/>
            <a:r>
              <a:rPr kumimoji="1" lang="zh-CN" altLang="en-US" sz="1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拓展：</a:t>
            </a:r>
            <a:r>
              <a:rPr kumimoji="1" lang="en-US" altLang="zh-CN" sz="1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WSL</a:t>
            </a:r>
            <a:r>
              <a:rPr kumimoji="1" lang="zh-CN" altLang="en-US" sz="1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（</a:t>
            </a:r>
            <a:r>
              <a:rPr kumimoji="1" lang="en-US" altLang="zh-CN" sz="1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Windows Subsystem for Linux</a:t>
            </a:r>
            <a:r>
              <a:rPr kumimoji="1" lang="zh-CN" altLang="en-US" sz="1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）</a:t>
            </a:r>
            <a:endParaRPr kumimoji="1" lang="zh-CN" altLang="en-US" sz="1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  <a:p>
            <a:pPr algn="l"/>
            <a:r>
              <a:rPr kumimoji="1" lang="zh-CN" altLang="en-US" sz="1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扩展：虚拟机快照</a:t>
            </a:r>
            <a:endParaRPr kumimoji="1" lang="zh-CN" altLang="en-US" sz="1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09465" y="73723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了解操作系统的</a:t>
            </a:r>
            <a:r>
              <a:rPr lang="zh-CN" altLang="en-US">
                <a:solidFill>
                  <a:srgbClr val="FF0000"/>
                </a:solidFill>
              </a:rPr>
              <a:t>作用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了解常见的操作</a:t>
            </a:r>
            <a:r>
              <a:rPr lang="zh-CN" altLang="en-US">
                <a:solidFill>
                  <a:srgbClr val="FF0000"/>
                </a:solidFill>
              </a:rPr>
              <a:t>系统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硬件和</a:t>
            </a:r>
            <a:r>
              <a:rPr lang="zh-CN" altLang="en-US"/>
              <a:t>软件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我们所熟知的计算机是由：硬件和软件所</a:t>
            </a:r>
            <a:r>
              <a:rPr lang="zh-CN" altLang="en-US"/>
              <a:t>组成。</a:t>
            </a:r>
            <a:endParaRPr lang="zh-CN" altLang="en-US"/>
          </a:p>
          <a:p>
            <a:r>
              <a:rPr lang="zh-CN" altLang="en-US"/>
              <a:t>硬件：计算机系统中由电子，机械和光电元件等组成的各种物理装置的总称。</a:t>
            </a:r>
            <a:endParaRPr lang="en-US" altLang="zh-CN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936625" y="2689225"/>
            <a:ext cx="2980690" cy="14795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4989195" y="2734310"/>
            <a:ext cx="2214245" cy="16135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4" name="图片 103"/>
          <p:cNvPicPr/>
          <p:nvPr/>
        </p:nvPicPr>
        <p:blipFill>
          <a:blip r:embed="rId3"/>
          <a:stretch>
            <a:fillRect/>
          </a:stretch>
        </p:blipFill>
        <p:spPr>
          <a:xfrm>
            <a:off x="8822055" y="2638425"/>
            <a:ext cx="1981835" cy="180530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5" name="图片 104"/>
          <p:cNvPicPr/>
          <p:nvPr/>
        </p:nvPicPr>
        <p:blipFill>
          <a:blip r:embed="rId4"/>
          <a:stretch>
            <a:fillRect/>
          </a:stretch>
        </p:blipFill>
        <p:spPr>
          <a:xfrm>
            <a:off x="1188720" y="4881245"/>
            <a:ext cx="2223770" cy="14839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6" name="图片 105"/>
          <p:cNvPicPr/>
          <p:nvPr/>
        </p:nvPicPr>
        <p:blipFill>
          <a:blip r:embed="rId5"/>
          <a:stretch>
            <a:fillRect/>
          </a:stretch>
        </p:blipFill>
        <p:spPr>
          <a:xfrm>
            <a:off x="4199890" y="4799330"/>
            <a:ext cx="3720465" cy="15379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" name="图片 4" descr="无标题"/>
          <p:cNvPicPr>
            <a:picLocks noChangeAspect="1"/>
          </p:cNvPicPr>
          <p:nvPr/>
        </p:nvPicPr>
        <p:blipFill>
          <a:blip r:embed="rId6"/>
          <a:srcRect l="904" r="72820" b="72519"/>
          <a:stretch>
            <a:fillRect/>
          </a:stretch>
        </p:blipFill>
        <p:spPr>
          <a:xfrm>
            <a:off x="8822055" y="4846320"/>
            <a:ext cx="1946910" cy="1553845"/>
          </a:xfrm>
          <a:prstGeom prst="rect">
            <a:avLst/>
          </a:prstGeom>
        </p:spPr>
      </p:pic>
      <p:pic>
        <p:nvPicPr>
          <p:cNvPr id="4" name="图片 3" descr="01 (96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94415" y="5453380"/>
            <a:ext cx="1159510" cy="11595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硬件和</a:t>
            </a:r>
            <a:r>
              <a:rPr lang="zh-CN" altLang="en-US"/>
              <a:t>软件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软件：是用户和计算机硬件之间的接口和桥梁，用户通过软件与计算机进行</a:t>
            </a:r>
            <a:r>
              <a:rPr lang="zh-CN" altLang="en-US"/>
              <a:t>交流。</a:t>
            </a:r>
            <a:endParaRPr lang="zh-CN" altLang="en-US"/>
          </a:p>
          <a:p>
            <a:r>
              <a:rPr lang="zh-CN" altLang="en-US"/>
              <a:t>而操作系统，就是软件的</a:t>
            </a:r>
            <a:r>
              <a:rPr lang="zh-CN" altLang="en-US"/>
              <a:t>一类。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一个完整的</a:t>
            </a:r>
            <a:r>
              <a:rPr lang="zh-CN" altLang="en-US"/>
              <a:t>计算机：</a:t>
            </a:r>
            <a:endParaRPr lang="zh-CN" altLang="en-US"/>
          </a:p>
          <a:p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1044575" y="3761740"/>
            <a:ext cx="2796540" cy="1822450"/>
            <a:chOff x="1645" y="5924"/>
            <a:chExt cx="4404" cy="2870"/>
          </a:xfrm>
        </p:grpSpPr>
        <p:sp>
          <p:nvSpPr>
            <p:cNvPr id="4" name="矩形 3"/>
            <p:cNvSpPr/>
            <p:nvPr/>
          </p:nvSpPr>
          <p:spPr>
            <a:xfrm>
              <a:off x="1645" y="5924"/>
              <a:ext cx="4404" cy="23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2159" y="7355"/>
              <a:ext cx="3377" cy="707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硬件</a:t>
              </a:r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2158" y="6121"/>
              <a:ext cx="3377" cy="70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操作</a:t>
              </a:r>
              <a:r>
                <a:rPr lang="zh-CN" altLang="en-US"/>
                <a:t>系统</a:t>
              </a:r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3282" y="8312"/>
              <a:ext cx="1128" cy="48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p>
              <a:pPr fontAlgn="auto">
                <a:spcBef>
                  <a:spcPts val="0"/>
                </a:spcBef>
                <a:spcAft>
                  <a:spcPts val="0"/>
                </a:spcAft>
              </a:pPr>
              <a:r>
                <a:rPr lang="zh-CN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" panose="00020600040101010101" charset="-122"/>
                  <a:ea typeface="阿里巴巴普惠体" panose="00020600040101010101" charset="-122"/>
                </a:rPr>
                <a:t>计算机</a:t>
              </a:r>
              <a:endPara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</a:endParaRPr>
            </a:p>
          </p:txBody>
        </p:sp>
      </p:grpSp>
      <p:pic>
        <p:nvPicPr>
          <p:cNvPr id="7" name="图片 6" descr="01 (97)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0612755" y="5187315"/>
            <a:ext cx="1579245" cy="15792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操作</a:t>
            </a:r>
            <a:r>
              <a:rPr lang="zh-CN" altLang="en-US"/>
              <a:t>系统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操作系统是计算机软件的一种，它主要负责：</a:t>
            </a:r>
            <a:endParaRPr lang="zh-CN" altLang="en-US"/>
          </a:p>
          <a:p>
            <a:r>
              <a:rPr lang="zh-CN" altLang="en-US"/>
              <a:t>作为用户和计算机硬件之间的桥梁，</a:t>
            </a:r>
            <a:r>
              <a:rPr lang="zh-CN" altLang="en-US"/>
              <a:t>调度和管理计算机硬件</a:t>
            </a:r>
            <a:r>
              <a:rPr lang="zh-CN" altLang="en-US"/>
              <a:t>进行工作。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而计算机，如果没有操作系统，就是一堆无法使用的塑料</a:t>
            </a:r>
            <a:r>
              <a:rPr lang="zh-CN" altLang="en-US"/>
              <a:t>而已。</a:t>
            </a: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830" y="3454400"/>
            <a:ext cx="4018915" cy="194881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文本框 3"/>
          <p:cNvSpPr txBox="1"/>
          <p:nvPr/>
        </p:nvSpPr>
        <p:spPr>
          <a:xfrm>
            <a:off x="5050155" y="3372485"/>
            <a:ext cx="6066155" cy="240220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l" eaLnBrk="0" fontAlgn="base" hangingPunct="0">
              <a:lnSpc>
                <a:spcPct val="10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当计算机拥有了操作系统，就相当于拥有了灵魂，操作系统可以：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调度CPU进行工作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调度内存进行工作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调度硬盘进行数据存储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调度网卡进行网络通讯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调度音响发出声音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调度打印机打印内容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......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pic>
        <p:nvPicPr>
          <p:cNvPr id="5" name="图片 4" descr="01 (98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763885" y="5003800"/>
            <a:ext cx="1616075" cy="1616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操作</a:t>
            </a:r>
            <a:r>
              <a:t>系统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771525" y="1466215"/>
            <a:ext cx="5835650" cy="1097915"/>
            <a:chOff x="1215" y="2309"/>
            <a:chExt cx="9190" cy="1729"/>
          </a:xfrm>
        </p:grpSpPr>
        <p:pic>
          <p:nvPicPr>
            <p:cNvPr id="111" name="图片 110"/>
            <p:cNvPicPr/>
            <p:nvPr/>
          </p:nvPicPr>
          <p:blipFill>
            <a:blip r:embed="rId1"/>
            <a:srcRect l="28634" t="26026" r="29408" b="24288"/>
            <a:stretch>
              <a:fillRect/>
            </a:stretch>
          </p:blipFill>
          <p:spPr>
            <a:xfrm>
              <a:off x="1215" y="3010"/>
              <a:ext cx="1247" cy="102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3" name="图片 12"/>
            <p:cNvPicPr/>
            <p:nvPr/>
          </p:nvPicPr>
          <p:blipFill>
            <a:blip r:embed="rId1"/>
            <a:srcRect l="28634" t="26026" r="29408" b="24288"/>
            <a:stretch>
              <a:fillRect/>
            </a:stretch>
          </p:blipFill>
          <p:spPr>
            <a:xfrm>
              <a:off x="7311" y="3010"/>
              <a:ext cx="1247" cy="1029"/>
            </a:xfrm>
            <a:prstGeom prst="rect">
              <a:avLst/>
            </a:prstGeom>
            <a:noFill/>
            <a:ln w="9525">
              <a:noFill/>
            </a:ln>
          </p:spPr>
        </p:pic>
        <p:cxnSp>
          <p:nvCxnSpPr>
            <p:cNvPr id="15" name="直接箭头连接符 14"/>
            <p:cNvCxnSpPr>
              <a:stCxn id="111" idx="3"/>
              <a:endCxn id="13" idx="1"/>
            </p:cNvCxnSpPr>
            <p:nvPr/>
          </p:nvCxnSpPr>
          <p:spPr>
            <a:xfrm>
              <a:off x="2462" y="3525"/>
              <a:ext cx="4849" cy="0"/>
            </a:xfrm>
            <a:prstGeom prst="straightConnector1">
              <a:avLst/>
            </a:prstGeom>
            <a:ln w="34925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圆角矩形标注 15"/>
            <p:cNvSpPr/>
            <p:nvPr/>
          </p:nvSpPr>
          <p:spPr>
            <a:xfrm>
              <a:off x="2047" y="2309"/>
              <a:ext cx="2215" cy="575"/>
            </a:xfrm>
            <a:prstGeom prst="wedgeRoundRectCallout">
              <a:avLst>
                <a:gd name="adj1" fmla="val -32753"/>
                <a:gd name="adj2" fmla="val 75043"/>
                <a:gd name="adj3" fmla="val 16667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我喜欢</a:t>
              </a:r>
              <a:r>
                <a:rPr lang="zh-CN" altLang="en-US"/>
                <a:t>你</a:t>
              </a:r>
              <a:endParaRPr lang="zh-CN" altLang="en-US"/>
            </a:p>
          </p:txBody>
        </p:sp>
        <p:sp>
          <p:nvSpPr>
            <p:cNvPr id="17" name="圆角矩形标注 16"/>
            <p:cNvSpPr/>
            <p:nvPr/>
          </p:nvSpPr>
          <p:spPr>
            <a:xfrm>
              <a:off x="8191" y="2309"/>
              <a:ext cx="2215" cy="575"/>
            </a:xfrm>
            <a:prstGeom prst="wedgeRoundRectCallout">
              <a:avLst>
                <a:gd name="adj1" fmla="val -32753"/>
                <a:gd name="adj2" fmla="val 75043"/>
                <a:gd name="adj3" fmla="val 1666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/>
                <a:t>你是个</a:t>
              </a:r>
              <a:r>
                <a:rPr lang="zh-CN" altLang="en-US"/>
                <a:t>好人</a:t>
              </a:r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7049770" y="3458845"/>
            <a:ext cx="4673600" cy="1703705"/>
            <a:chOff x="1275" y="6017"/>
            <a:chExt cx="10122" cy="3690"/>
          </a:xfrm>
        </p:grpSpPr>
        <p:sp>
          <p:nvSpPr>
            <p:cNvPr id="6" name="矩形 5"/>
            <p:cNvSpPr/>
            <p:nvPr/>
          </p:nvSpPr>
          <p:spPr>
            <a:xfrm>
              <a:off x="1275" y="7425"/>
              <a:ext cx="2515" cy="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/>
                <a:t>操作系统</a:t>
              </a:r>
              <a:endParaRPr lang="zh-CN" altLang="en-US" sz="1200"/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rcRect l="14052" t="14581" r="11293" b="12695"/>
            <a:stretch>
              <a:fillRect/>
            </a:stretch>
          </p:blipFill>
          <p:spPr>
            <a:xfrm>
              <a:off x="1275" y="7683"/>
              <a:ext cx="463" cy="452"/>
            </a:xfrm>
            <a:prstGeom prst="rect">
              <a:avLst/>
            </a:prstGeom>
          </p:spPr>
        </p:pic>
        <p:sp>
          <p:nvSpPr>
            <p:cNvPr id="8" name="左大括号 7"/>
            <p:cNvSpPr/>
            <p:nvPr/>
          </p:nvSpPr>
          <p:spPr>
            <a:xfrm>
              <a:off x="3790" y="6226"/>
              <a:ext cx="3246" cy="3367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 sz="1200"/>
            </a:p>
          </p:txBody>
        </p:sp>
        <p:sp>
          <p:nvSpPr>
            <p:cNvPr id="9" name="矩形 8"/>
            <p:cNvSpPr/>
            <p:nvPr/>
          </p:nvSpPr>
          <p:spPr>
            <a:xfrm>
              <a:off x="7193" y="6017"/>
              <a:ext cx="4204" cy="65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/>
                <a:t>调度键盘进行文字输入</a:t>
              </a:r>
              <a:endParaRPr lang="zh-CN" altLang="en-US" sz="1200"/>
            </a:p>
          </p:txBody>
        </p:sp>
        <p:sp>
          <p:nvSpPr>
            <p:cNvPr id="10" name="矩形 9"/>
            <p:cNvSpPr/>
            <p:nvPr/>
          </p:nvSpPr>
          <p:spPr>
            <a:xfrm>
              <a:off x="7193" y="6748"/>
              <a:ext cx="4204" cy="65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/>
                <a:t>调度显示器显示内容</a:t>
              </a:r>
              <a:endParaRPr lang="zh-CN" altLang="en-US" sz="1200"/>
            </a:p>
          </p:txBody>
        </p:sp>
        <p:sp>
          <p:nvSpPr>
            <p:cNvPr id="11" name="矩形 10"/>
            <p:cNvSpPr/>
            <p:nvPr/>
          </p:nvSpPr>
          <p:spPr>
            <a:xfrm>
              <a:off x="7193" y="7515"/>
              <a:ext cx="4204" cy="65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/>
                <a:t>调度</a:t>
              </a:r>
              <a:r>
                <a:rPr lang="en-US" altLang="zh-CN" sz="1200"/>
                <a:t>CPU</a:t>
              </a:r>
              <a:r>
                <a:rPr lang="zh-CN" altLang="en-US" sz="1200"/>
                <a:t>内存供微信运行</a:t>
              </a:r>
              <a:endParaRPr lang="zh-CN" altLang="en-US" sz="1200"/>
            </a:p>
          </p:txBody>
        </p:sp>
        <p:sp>
          <p:nvSpPr>
            <p:cNvPr id="12" name="矩形 11"/>
            <p:cNvSpPr/>
            <p:nvPr/>
          </p:nvSpPr>
          <p:spPr>
            <a:xfrm>
              <a:off x="7193" y="8282"/>
              <a:ext cx="4204" cy="65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/>
                <a:t>调度网卡发送信息</a:t>
              </a:r>
              <a:endParaRPr lang="zh-CN" altLang="en-US" sz="1200"/>
            </a:p>
          </p:txBody>
        </p:sp>
        <p:sp>
          <p:nvSpPr>
            <p:cNvPr id="19" name="矩形 18"/>
            <p:cNvSpPr/>
            <p:nvPr/>
          </p:nvSpPr>
          <p:spPr>
            <a:xfrm>
              <a:off x="7193" y="9049"/>
              <a:ext cx="4204" cy="65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1200"/>
                <a:t>调度网卡接收信息</a:t>
              </a:r>
              <a:endParaRPr lang="zh-CN" altLang="en-US" sz="1200"/>
            </a:p>
          </p:txBody>
        </p: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35" y="2920365"/>
            <a:ext cx="6299200" cy="28219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100705" y="6005830"/>
            <a:ext cx="5919470" cy="46037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sym typeface="纤黑体" panose="02000000000000000000" charset="-122"/>
              </a:rPr>
              <a:t>用户使用操作系统，操作系统安排硬件干活</a:t>
            </a:r>
            <a:endParaRPr lang="zh-CN" altLang="en-US" sz="24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sym typeface="纤黑体" panose="02000000000000000000" charset="-122"/>
            </a:endParaRPr>
          </a:p>
        </p:txBody>
      </p:sp>
      <p:pic>
        <p:nvPicPr>
          <p:cNvPr id="14" name="图片 13" descr="01 (99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5170" y="5368290"/>
            <a:ext cx="1489710" cy="14897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常见操作</a:t>
            </a:r>
            <a:r>
              <a:rPr lang="zh-CN" altLang="en-US"/>
              <a:t>系统</a:t>
            </a:r>
            <a:endParaRPr lang="zh-CN" altLang="en-US"/>
          </a:p>
        </p:txBody>
      </p:sp>
      <p:grpSp>
        <p:nvGrpSpPr>
          <p:cNvPr id="4" name="组合 3"/>
          <p:cNvGrpSpPr/>
          <p:nvPr/>
        </p:nvGrpSpPr>
        <p:grpSpPr>
          <a:xfrm>
            <a:off x="779145" y="1930400"/>
            <a:ext cx="3027680" cy="4144010"/>
            <a:chOff x="1119" y="3338"/>
            <a:chExt cx="4768" cy="6526"/>
          </a:xfrm>
        </p:grpSpPr>
        <p:pic>
          <p:nvPicPr>
            <p:cNvPr id="112" name="图片 111"/>
            <p:cNvPicPr/>
            <p:nvPr/>
          </p:nvPicPr>
          <p:blipFill>
            <a:blip r:embed="rId1"/>
            <a:stretch>
              <a:fillRect/>
            </a:stretch>
          </p:blipFill>
          <p:spPr>
            <a:xfrm>
              <a:off x="1119" y="3338"/>
              <a:ext cx="4767" cy="2279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13" name="图片 112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119" y="5595"/>
              <a:ext cx="4768" cy="190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14" name="图片 113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119" y="7480"/>
              <a:ext cx="4768" cy="2384"/>
            </a:xfrm>
            <a:prstGeom prst="rect">
              <a:avLst/>
            </a:prstGeom>
            <a:noFill/>
            <a:ln w="9525">
              <a:noFill/>
            </a:ln>
          </p:spPr>
        </p:pic>
      </p:grpSp>
      <p:grpSp>
        <p:nvGrpSpPr>
          <p:cNvPr id="5" name="组合 4"/>
          <p:cNvGrpSpPr/>
          <p:nvPr/>
        </p:nvGrpSpPr>
        <p:grpSpPr>
          <a:xfrm>
            <a:off x="5596255" y="1836420"/>
            <a:ext cx="2660650" cy="4303395"/>
            <a:chOff x="10909" y="3167"/>
            <a:chExt cx="4190" cy="6777"/>
          </a:xfrm>
        </p:grpSpPr>
        <p:pic>
          <p:nvPicPr>
            <p:cNvPr id="115" name="图片 114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10909" y="3167"/>
              <a:ext cx="4190" cy="2357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16" name="图片 115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10909" y="5524"/>
              <a:ext cx="4190" cy="2356"/>
            </a:xfrm>
            <a:prstGeom prst="rect">
              <a:avLst/>
            </a:prstGeom>
            <a:noFill/>
            <a:ln w="9525">
              <a:noFill/>
            </a:ln>
          </p:spPr>
        </p:pic>
        <p:pic>
          <p:nvPicPr>
            <p:cNvPr id="119" name="图片 118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10909" y="7880"/>
              <a:ext cx="4190" cy="2065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6" name="文本框 5"/>
          <p:cNvSpPr txBox="1"/>
          <p:nvPr/>
        </p:nvSpPr>
        <p:spPr>
          <a:xfrm>
            <a:off x="8517890" y="3542665"/>
            <a:ext cx="2992120" cy="107632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不管是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PC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操作系统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纤黑体" panose="02000000000000000000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还是移动操作系统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纤黑体" panose="02000000000000000000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其功能都是：调度硬件进行工作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纤黑体" panose="02000000000000000000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充当用户和硬件之间的桥梁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纤黑体" panose="02000000000000000000" charset="-122"/>
            </a:endParaRPr>
          </a:p>
        </p:txBody>
      </p:sp>
      <p:pic>
        <p:nvPicPr>
          <p:cNvPr id="3" name="图片 2" descr="01 (108)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2975" y="5431790"/>
            <a:ext cx="1180465" cy="11804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计算机由哪两个主要部分</a:t>
            </a:r>
            <a:r>
              <a:rPr lang="zh-CN" altLang="en-US"/>
              <a:t>组成？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硬件和软件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/>
              <a:t>2. </a:t>
            </a:r>
            <a:r>
              <a:rPr lang="zh-CN" altLang="en-US"/>
              <a:t>操作系统是什么？由什么</a:t>
            </a:r>
            <a:r>
              <a:rPr lang="zh-CN" altLang="en-US"/>
              <a:t>作用？</a:t>
            </a:r>
            <a:endParaRPr lang="zh-CN" altLang="en-US"/>
          </a:p>
          <a:p>
            <a:pPr marL="0" indent="0">
              <a:buNone/>
            </a:pPr>
            <a:r>
              <a:rPr lang="zh-CN" altLang="en-US" sz="1400"/>
              <a:t>操作系统是软件的一类。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主要作用是协助用户调度硬件工作，充当用户和计算机硬件之间的桥梁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/>
              <a:t>3. </a:t>
            </a:r>
            <a:r>
              <a:rPr lang="zh-CN" altLang="en-US"/>
              <a:t>常见的操作系统有</a:t>
            </a:r>
            <a:r>
              <a:rPr lang="zh-CN" altLang="en-US"/>
              <a:t>哪些？</a:t>
            </a:r>
            <a:endParaRPr lang="zh-CN" altLang="en-US"/>
          </a:p>
          <a:p>
            <a:pPr marL="0" indent="0">
              <a:buNone/>
            </a:pPr>
            <a:r>
              <a:rPr lang="en-US" altLang="zh-CN" sz="1400"/>
              <a:t>PC</a:t>
            </a:r>
            <a:r>
              <a:rPr lang="zh-CN" altLang="en-US" sz="1400"/>
              <a:t>端：</a:t>
            </a:r>
            <a:r>
              <a:rPr lang="en-US" altLang="zh-CN" sz="1400"/>
              <a:t>Windows</a:t>
            </a:r>
            <a:r>
              <a:rPr lang="zh-CN" altLang="en-US" sz="1400"/>
              <a:t>、</a:t>
            </a:r>
            <a:r>
              <a:rPr lang="en-US" altLang="zh-CN" sz="1400"/>
              <a:t>Linux</a:t>
            </a:r>
            <a:r>
              <a:rPr lang="zh-CN" altLang="en-US" sz="1400"/>
              <a:t>、</a:t>
            </a:r>
            <a:r>
              <a:rPr lang="en-US" altLang="zh-CN" sz="1400"/>
              <a:t>MacOS</a:t>
            </a:r>
            <a:endParaRPr lang="en-US" altLang="zh-CN" sz="1400"/>
          </a:p>
          <a:p>
            <a:pPr marL="0" indent="0">
              <a:buNone/>
            </a:pPr>
            <a:r>
              <a:rPr lang="zh-CN" altLang="en-US" sz="1400"/>
              <a:t>移动端：</a:t>
            </a:r>
            <a:r>
              <a:rPr lang="en-US" altLang="zh-CN" sz="1400"/>
              <a:t>Android</a:t>
            </a:r>
            <a:r>
              <a:rPr lang="zh-CN" altLang="en-US" sz="1400"/>
              <a:t>、</a:t>
            </a:r>
            <a:r>
              <a:rPr lang="en-US" altLang="zh-CN" sz="1400"/>
              <a:t>IOS</a:t>
            </a:r>
            <a:r>
              <a:rPr lang="zh-CN" altLang="en-US" sz="1400"/>
              <a:t>、鸿蒙系统</a:t>
            </a:r>
            <a:endParaRPr lang="zh-CN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609465" y="1289050"/>
            <a:ext cx="410210" cy="41021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5019675" y="1029335"/>
            <a:ext cx="5973445" cy="4004945"/>
          </a:xfrm>
        </p:spPr>
        <p:txBody>
          <a:bodyPr/>
          <a:p>
            <a:pPr algn="l"/>
            <a:r>
              <a:rPr kumimoji="1" lang="zh-CN" sz="1600" dirty="0">
                <a:sym typeface="+mn-ea"/>
              </a:rPr>
              <a:t>操作系统概述</a:t>
            </a:r>
            <a:endParaRPr kumimoji="1" 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初识</a:t>
            </a:r>
            <a:r>
              <a:rPr kumimoji="1" lang="en-US" altLang="zh-CN" sz="1600" dirty="0">
                <a:solidFill>
                  <a:srgbClr val="FF0000"/>
                </a:solidFill>
                <a:sym typeface="+mn-ea"/>
              </a:rPr>
              <a:t>Linux</a:t>
            </a:r>
            <a:endParaRPr kumimoji="1" lang="en-US" altLang="zh-CN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虚拟机介绍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VMware WorkStation</a:t>
            </a:r>
            <a:r>
              <a:rPr kumimoji="1" lang="zh-CN" altLang="en-US" sz="1600" dirty="0">
                <a:sym typeface="+mn-ea"/>
              </a:rPr>
              <a:t>安装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在</a:t>
            </a:r>
            <a:r>
              <a:rPr kumimoji="1" lang="en-US" altLang="zh-CN" sz="1600" dirty="0">
                <a:sym typeface="+mn-ea"/>
              </a:rPr>
              <a:t>VMware</a:t>
            </a:r>
            <a:r>
              <a:rPr kumimoji="1" lang="zh-CN" altLang="en-US" sz="1600" dirty="0">
                <a:sym typeface="+mn-ea"/>
              </a:rPr>
              <a:t>上安装</a:t>
            </a:r>
            <a:r>
              <a:rPr kumimoji="1" lang="en-US" altLang="zh-CN" sz="1600" dirty="0">
                <a:sym typeface="+mn-ea"/>
              </a:rPr>
              <a:t>Linux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Mac</a:t>
            </a:r>
            <a:r>
              <a:rPr kumimoji="1" lang="zh-CN" altLang="en-US" sz="1600" dirty="0">
                <a:sym typeface="+mn-ea"/>
              </a:rPr>
              <a:t>系统</a:t>
            </a:r>
            <a:r>
              <a:rPr kumimoji="1" lang="en-US" altLang="zh-CN" sz="1600" dirty="0">
                <a:sym typeface="+mn-ea"/>
              </a:rPr>
              <a:t>Linux</a:t>
            </a:r>
            <a:r>
              <a:rPr kumimoji="1" lang="zh-CN" altLang="en-US" sz="1600" dirty="0">
                <a:sym typeface="+mn-ea"/>
              </a:rPr>
              <a:t>环境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远程连接</a:t>
            </a:r>
            <a:r>
              <a:rPr kumimoji="1" lang="en-US" altLang="zh-CN" sz="1600" dirty="0">
                <a:sym typeface="+mn-ea"/>
              </a:rPr>
              <a:t>Linux</a:t>
            </a:r>
            <a:r>
              <a:rPr kumimoji="1" lang="zh-CN" altLang="en-US" sz="1600" dirty="0">
                <a:sym typeface="+mn-ea"/>
              </a:rPr>
              <a:t>系统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拓展：</a:t>
            </a:r>
            <a:r>
              <a:rPr kumimoji="1" lang="en-US" altLang="zh-CN" sz="1600" dirty="0">
                <a:sym typeface="+mn-ea"/>
              </a:rPr>
              <a:t>WSL</a:t>
            </a:r>
            <a:r>
              <a:rPr kumimoji="1" lang="zh-CN" altLang="en-US" sz="1600" dirty="0">
                <a:sym typeface="+mn-ea"/>
              </a:rPr>
              <a:t>（</a:t>
            </a:r>
            <a:r>
              <a:rPr kumimoji="1" lang="en-US" altLang="zh-CN" sz="1600" dirty="0">
                <a:sym typeface="+mn-ea"/>
              </a:rPr>
              <a:t>Windows Subsystem for Linux</a:t>
            </a:r>
            <a:r>
              <a:rPr kumimoji="1" lang="zh-CN" altLang="en-US" sz="1600" dirty="0">
                <a:sym typeface="+mn-ea"/>
              </a:rPr>
              <a:t>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扩展：虚拟机快照</a:t>
            </a:r>
            <a:endParaRPr kumimoji="1" lang="zh-CN" altLang="en-US" sz="1600" dirty="0"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了解</a:t>
            </a:r>
            <a:r>
              <a:rPr lang="en-US" altLang="zh-CN">
                <a:solidFill>
                  <a:srgbClr val="FF0000"/>
                </a:solidFill>
              </a:rPr>
              <a:t>Linux</a:t>
            </a:r>
            <a:r>
              <a:rPr lang="zh-CN" altLang="en-US">
                <a:solidFill>
                  <a:srgbClr val="FF0000"/>
                </a:solidFill>
              </a:rPr>
              <a:t>系统的</a:t>
            </a:r>
            <a:r>
              <a:rPr lang="zh-CN" altLang="en-US">
                <a:solidFill>
                  <a:srgbClr val="FF0000"/>
                </a:solidFill>
              </a:rPr>
              <a:t>诞生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了解什么是</a:t>
            </a:r>
            <a:r>
              <a:rPr lang="en-US" altLang="zh-CN">
                <a:solidFill>
                  <a:srgbClr val="FF0000"/>
                </a:solidFill>
              </a:rPr>
              <a:t>Linux</a:t>
            </a:r>
            <a:r>
              <a:rPr lang="zh-CN" altLang="en-US">
                <a:solidFill>
                  <a:srgbClr val="FF0000"/>
                </a:solidFill>
              </a:rPr>
              <a:t>内核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了解常见的</a:t>
            </a:r>
            <a:r>
              <a:rPr lang="en-US" altLang="zh-CN">
                <a:solidFill>
                  <a:srgbClr val="FF0000"/>
                </a:solidFill>
              </a:rPr>
              <a:t>Linux</a:t>
            </a:r>
            <a:r>
              <a:rPr lang="zh-CN" altLang="en-US">
                <a:solidFill>
                  <a:srgbClr val="FF0000"/>
                </a:solidFill>
              </a:rPr>
              <a:t>发行版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Linux</a:t>
            </a:r>
            <a:r>
              <a:t>的</a:t>
            </a:r>
            <a:r>
              <a:t>诞生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Linux创始人: 林纳斯 托瓦兹</a:t>
            </a:r>
            <a:endParaRPr lang="zh-CN" altLang="en-US"/>
          </a:p>
          <a:p>
            <a:r>
              <a:rPr lang="en-US" altLang="zh-CN"/>
              <a:t>L</a:t>
            </a:r>
            <a:r>
              <a:rPr lang="zh-CN" altLang="en-US"/>
              <a:t>inux 诞生于1991年，作者上大学期间</a:t>
            </a:r>
            <a:endParaRPr lang="zh-CN" altLang="en-US"/>
          </a:p>
          <a:p>
            <a:r>
              <a:rPr lang="zh-CN" altLang="en-US"/>
              <a:t>因为创始人在上大学期间经常需要浏览新闻和处理邮件，发现现有的操作系统不好用, 于是他决心自己写一个保护模式下的操作系统，这就是Linux的原型， 当时他21岁，后来经过全世界网友的支持, 现在能够兼容多种硬件，成为最为流行的服务器操作系统之一。</a:t>
            </a:r>
            <a:endParaRPr lang="zh-CN" altLang="en-US"/>
          </a:p>
        </p:txBody>
      </p:sp>
      <p:pic>
        <p:nvPicPr>
          <p:cNvPr id="16" name="图片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3695065"/>
            <a:ext cx="3761740" cy="2663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725" y="3877945"/>
            <a:ext cx="1892300" cy="22980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 descr="01 (13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2935" y="5085080"/>
            <a:ext cx="1652270" cy="16522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Linux</a:t>
            </a:r>
            <a:r>
              <a:t>内核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Linux</a:t>
            </a:r>
            <a:r>
              <a:rPr lang="zh-CN" altLang="en-US"/>
              <a:t>系统的组成</a:t>
            </a:r>
            <a:r>
              <a:rPr lang="zh-CN" altLang="en-US"/>
              <a:t>如下：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Linux</a:t>
            </a:r>
            <a:r>
              <a:rPr lang="zh-CN" altLang="en-US"/>
              <a:t>系统</a:t>
            </a:r>
            <a:r>
              <a:rPr lang="zh-CN" altLang="en-US"/>
              <a:t>内核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系统级应用</a:t>
            </a:r>
            <a:r>
              <a:rPr lang="zh-CN" altLang="en-US"/>
              <a:t>程序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两部分组成。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内核提供系统最核心的功能，如：调度</a:t>
            </a:r>
            <a:r>
              <a:rPr lang="en-US" altLang="zh-CN"/>
              <a:t>CPU</a:t>
            </a:r>
            <a:r>
              <a:rPr lang="zh-CN" altLang="en-US"/>
              <a:t>、调度内存、调度文件系统、调度网络通讯、调度</a:t>
            </a:r>
            <a:r>
              <a:rPr lang="en-US" altLang="zh-CN"/>
              <a:t>IO</a:t>
            </a:r>
            <a:r>
              <a:rPr lang="zh-CN" altLang="en-US"/>
              <a:t>等。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系统级应用程序，可以理解为出厂自带程序，可供用户快速上手操作系统，</a:t>
            </a:r>
            <a:r>
              <a:rPr lang="zh-CN" altLang="en-US"/>
              <a:t>如：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	</a:t>
            </a:r>
            <a:r>
              <a:rPr lang="zh-CN" altLang="en-US"/>
              <a:t>文件管理器、任务管理器、图片查看、音乐播放</a:t>
            </a:r>
            <a:r>
              <a:rPr lang="zh-CN" altLang="en-US"/>
              <a:t>等。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比如，播放音乐，无论用户使用自带音乐播放器或是自行安装的第三方播放器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均是由播放器程序，调用内核提供的相关功能，由内核调度</a:t>
            </a:r>
            <a:r>
              <a:rPr lang="en-US" altLang="zh-CN"/>
              <a:t>CPU</a:t>
            </a:r>
            <a:r>
              <a:rPr lang="zh-CN" altLang="en-US"/>
              <a:t>解码、音响发声</a:t>
            </a:r>
            <a:r>
              <a:rPr lang="zh-CN" altLang="en-US"/>
              <a:t>等。</a:t>
            </a:r>
            <a:endParaRPr lang="zh-CN" altLang="en-US"/>
          </a:p>
        </p:txBody>
      </p:sp>
      <p:pic>
        <p:nvPicPr>
          <p:cNvPr id="17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68725" y="1601470"/>
            <a:ext cx="1969135" cy="196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 descr="01 (1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110" y="4974590"/>
            <a:ext cx="1640840" cy="164084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265" y="1785620"/>
            <a:ext cx="4613910" cy="15976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Linux</a:t>
            </a:r>
            <a:r>
              <a:t>内核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可以看出，内核是</a:t>
            </a:r>
            <a:r>
              <a:rPr lang="en-US" altLang="zh-CN"/>
              <a:t>Linux</a:t>
            </a:r>
            <a:r>
              <a:rPr lang="zh-CN" altLang="en-US"/>
              <a:t>操作系统最核心的所在，系统级应用程序只是</a:t>
            </a:r>
            <a:r>
              <a:rPr lang="zh-CN" altLang="en-US"/>
              <a:t>锦上添花。</a:t>
            </a:r>
            <a:endParaRPr lang="zh-CN" altLang="en-US"/>
          </a:p>
          <a:p>
            <a:r>
              <a:rPr lang="en-US" altLang="zh-CN"/>
              <a:t>Linux</a:t>
            </a:r>
            <a:r>
              <a:rPr lang="zh-CN" altLang="en-US"/>
              <a:t>内核是免费开源的，任何人都可以下载内核源码并查看且</a:t>
            </a:r>
            <a:r>
              <a:rPr lang="zh-CN" altLang="en-US"/>
              <a:t>修改。</a:t>
            </a:r>
            <a:endParaRPr lang="zh-CN" altLang="en-US"/>
          </a:p>
          <a:p>
            <a:r>
              <a:rPr lang="zh-CN" altLang="en-US"/>
              <a:t>可以通过：https://www.kernel.org</a:t>
            </a:r>
            <a:r>
              <a:rPr lang="en-US" altLang="zh-CN"/>
              <a:t>   </a:t>
            </a:r>
            <a:r>
              <a:rPr lang="zh-CN" altLang="en-US"/>
              <a:t>去下载</a:t>
            </a:r>
            <a:r>
              <a:rPr lang="en-US" altLang="zh-CN"/>
              <a:t>Linux</a:t>
            </a:r>
            <a:r>
              <a:rPr lang="zh-CN" altLang="en-US"/>
              <a:t>内核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9945" y="3159760"/>
            <a:ext cx="7475220" cy="3078480"/>
          </a:xfrm>
          <a:prstGeom prst="rect">
            <a:avLst/>
          </a:prstGeom>
        </p:spPr>
      </p:pic>
      <p:pic>
        <p:nvPicPr>
          <p:cNvPr id="5" name="图片 4" descr="01 (15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005" y="5091430"/>
            <a:ext cx="1536700" cy="15367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Linux</a:t>
            </a:r>
            <a:r>
              <a:t>发行版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内核是免费、开源的，这也就代表</a:t>
            </a:r>
            <a:r>
              <a:rPr lang="zh-CN" altLang="en-US"/>
              <a:t>了：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任何人都可以获得并修改内核，并且自行集成系统级</a:t>
            </a:r>
            <a:r>
              <a:rPr lang="zh-CN" altLang="en-US"/>
              <a:t>程序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提供了内核</a:t>
            </a:r>
            <a:r>
              <a:rPr lang="en-US" altLang="zh-CN"/>
              <a:t>+</a:t>
            </a:r>
            <a:r>
              <a:rPr lang="zh-CN" altLang="en-US"/>
              <a:t>系统级程序的完整封装，称之为</a:t>
            </a:r>
            <a:r>
              <a:rPr lang="en-US" altLang="zh-CN"/>
              <a:t>Linux</a:t>
            </a:r>
            <a:r>
              <a:rPr lang="zh-CN" altLang="en-US"/>
              <a:t>发行版</a:t>
            </a:r>
            <a:endParaRPr lang="zh-CN" altLang="en-US"/>
          </a:p>
        </p:txBody>
      </p:sp>
      <p:pic>
        <p:nvPicPr>
          <p:cNvPr id="4" name="图片 3" descr="01 (1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0995" y="5012055"/>
            <a:ext cx="1882775" cy="18827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" y="3716655"/>
            <a:ext cx="3192780" cy="11963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520" y="3716020"/>
            <a:ext cx="3185160" cy="11963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Linux</a:t>
            </a:r>
            <a:r>
              <a:t>发行版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任何人都可以封装</a:t>
            </a:r>
            <a:r>
              <a:rPr lang="en-US" altLang="zh-CN"/>
              <a:t>Linux</a:t>
            </a:r>
            <a:r>
              <a:rPr lang="zh-CN" altLang="en-US"/>
              <a:t>，目前市面上由非常多的</a:t>
            </a:r>
            <a:r>
              <a:rPr lang="en-US" altLang="zh-CN"/>
              <a:t>Linux</a:t>
            </a:r>
            <a:r>
              <a:rPr lang="zh-CN" altLang="en-US"/>
              <a:t>发行版，常用的、</a:t>
            </a:r>
            <a:r>
              <a:rPr lang="zh-CN" altLang="en-US"/>
              <a:t>知名的</a:t>
            </a:r>
            <a:r>
              <a:rPr lang="zh-CN" altLang="en-US"/>
              <a:t>如下：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本次课程，我们</a:t>
            </a:r>
            <a:r>
              <a:rPr lang="zh-CN" altLang="en-US"/>
              <a:t>将基于：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主要</a:t>
            </a:r>
            <a:r>
              <a:rPr lang="zh-CN" altLang="en-US"/>
              <a:t>基于</a:t>
            </a:r>
            <a:r>
              <a:rPr lang="en-US" altLang="zh-CN"/>
              <a:t>CentOS</a:t>
            </a:r>
            <a:r>
              <a:rPr lang="zh-CN" altLang="en-US"/>
              <a:t>操作系统进行</a:t>
            </a:r>
            <a:r>
              <a:rPr lang="zh-CN" altLang="en-US"/>
              <a:t>讲解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/>
              <a:t>辅助</a:t>
            </a:r>
            <a:r>
              <a:rPr lang="zh-CN" altLang="en-US"/>
              <a:t>讲解</a:t>
            </a:r>
            <a:r>
              <a:rPr lang="en-US" altLang="zh-CN"/>
              <a:t>Ubuntu</a:t>
            </a:r>
            <a:r>
              <a:rPr lang="zh-CN" altLang="en-US"/>
              <a:t>系统的相关</a:t>
            </a:r>
            <a:r>
              <a:rPr lang="zh-CN" altLang="en-US"/>
              <a:t>知识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941060" y="3302635"/>
            <a:ext cx="309880" cy="252730"/>
          </a:xfrm>
          <a:prstGeom prst="rect">
            <a:avLst/>
          </a:prstGeom>
          <a:noFill/>
        </p:spPr>
        <p:txBody>
          <a:bodyPr wrap="none" anchor="t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5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0415" y="2137410"/>
            <a:ext cx="5692140" cy="28321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5290820" y="5217160"/>
            <a:ext cx="4403725" cy="116840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不同的发行版：</a:t>
            </a:r>
            <a:endParaRPr lang="zh-CN" altLang="en-US" sz="14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纤黑体" panose="02000000000000000000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基础命令</a:t>
            </a:r>
            <a:r>
              <a:rPr lang="en-US" altLang="zh-CN" sz="1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100%</a:t>
            </a:r>
            <a:r>
              <a:rPr lang="zh-CN" altLang="en-US" sz="1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是相同的（课程讲解内容）</a:t>
            </a:r>
            <a:endParaRPr lang="zh-CN" altLang="en-US" sz="14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纤黑体" panose="02000000000000000000" charset="-122"/>
            </a:endParaRPr>
          </a:p>
          <a:p>
            <a:pPr marL="171450" indent="-17145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部分操作不同（如软件安装）</a:t>
            </a:r>
            <a:endParaRPr lang="zh-CN" altLang="en-US" sz="14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纤黑体" panose="02000000000000000000" charset="-122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同学们不用纠结选择什么发行版</a:t>
            </a:r>
            <a:endParaRPr lang="zh-CN" altLang="en-US" sz="14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纤黑体" panose="02000000000000000000" charset="-122"/>
            </a:endParaRPr>
          </a:p>
          <a:p>
            <a:pPr indent="0" fontAlgn="auto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不论用什么发行版，都是</a:t>
            </a:r>
            <a:r>
              <a:rPr lang="en-US" altLang="zh-CN" sz="1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Linux</a:t>
            </a:r>
            <a:r>
              <a:rPr lang="zh-CN" altLang="en-US" sz="14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，学到的东西都是通用的。</a:t>
            </a:r>
            <a:endParaRPr lang="zh-CN" altLang="en-US" sz="14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纤黑体" panose="02000000000000000000" charset="-122"/>
            </a:endParaRPr>
          </a:p>
        </p:txBody>
      </p:sp>
      <p:pic>
        <p:nvPicPr>
          <p:cNvPr id="7" name="图片 6" descr="01 (17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3260" y="5045075"/>
            <a:ext cx="1649730" cy="16497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163310" cy="4511040"/>
          </a:xfrm>
        </p:spPr>
        <p:txBody>
          <a:bodyPr/>
          <a:p>
            <a:pPr marL="0" indent="0">
              <a:lnSpc>
                <a:spcPct val="190000"/>
              </a:lnSpc>
              <a:buNone/>
            </a:pPr>
            <a:r>
              <a:rPr lang="en-US" altLang="zh-CN"/>
              <a:t>1. Linux</a:t>
            </a:r>
            <a:r>
              <a:rPr lang="zh-CN" altLang="en-US"/>
              <a:t>的</a:t>
            </a:r>
            <a:r>
              <a:rPr lang="zh-CN" altLang="en-US"/>
              <a:t>诞生</a:t>
            </a:r>
            <a:endParaRPr lang="zh-CN" altLang="en-US"/>
          </a:p>
          <a:p>
            <a:pPr marL="0" indent="0">
              <a:lnSpc>
                <a:spcPct val="190000"/>
              </a:lnSpc>
              <a:buNone/>
            </a:pPr>
            <a:r>
              <a:rPr lang="en-US" altLang="zh-CN" sz="1400"/>
              <a:t>Linux</a:t>
            </a:r>
            <a:r>
              <a:rPr lang="zh-CN" altLang="en-US" sz="1400"/>
              <a:t>由</a:t>
            </a:r>
            <a:r>
              <a:rPr lang="zh-CN" altLang="en-US" sz="1400">
                <a:sym typeface="+mn-ea"/>
              </a:rPr>
              <a:t>林纳斯 托瓦兹在</a:t>
            </a:r>
            <a:r>
              <a:rPr lang="en-US" altLang="zh-CN" sz="1400">
                <a:sym typeface="+mn-ea"/>
              </a:rPr>
              <a:t>1991</a:t>
            </a:r>
            <a:r>
              <a:rPr lang="zh-CN" altLang="en-US" sz="1400">
                <a:sym typeface="+mn-ea"/>
              </a:rPr>
              <a:t>年创立并发展至今成为服务器操作系统领域的核心系统。</a:t>
            </a:r>
            <a:endParaRPr lang="zh-CN" altLang="en-US" sz="1400">
              <a:sym typeface="+mn-ea"/>
            </a:endParaRPr>
          </a:p>
          <a:p>
            <a:pPr marL="0" indent="0">
              <a:lnSpc>
                <a:spcPct val="190000"/>
              </a:lnSpc>
              <a:buNone/>
            </a:pPr>
            <a:r>
              <a:rPr lang="en-US" altLang="zh-CN">
                <a:sym typeface="+mn-ea"/>
              </a:rPr>
              <a:t>2. </a:t>
            </a:r>
            <a:r>
              <a:rPr lang="zh-CN" altLang="en-US">
                <a:sym typeface="+mn-ea"/>
              </a:rPr>
              <a:t>什么是</a:t>
            </a:r>
            <a:r>
              <a:rPr lang="en-US" altLang="zh-CN">
                <a:sym typeface="+mn-ea"/>
              </a:rPr>
              <a:t>Linux</a:t>
            </a:r>
            <a:r>
              <a:rPr lang="zh-CN" altLang="en-US">
                <a:sym typeface="+mn-ea"/>
              </a:rPr>
              <a:t>系统的</a:t>
            </a:r>
            <a:r>
              <a:rPr lang="zh-CN" altLang="en-US">
                <a:sym typeface="+mn-ea"/>
              </a:rPr>
              <a:t>内核</a:t>
            </a:r>
            <a:endParaRPr lang="zh-CN" altLang="en-US">
              <a:sym typeface="+mn-ea"/>
            </a:endParaRPr>
          </a:p>
          <a:p>
            <a:pPr marL="0" indent="0">
              <a:lnSpc>
                <a:spcPct val="190000"/>
              </a:lnSpc>
              <a:buNone/>
            </a:pPr>
            <a:r>
              <a:rPr lang="zh-CN" altLang="en-US" sz="1400">
                <a:sym typeface="+mn-ea"/>
              </a:rPr>
              <a:t>内核提供了</a:t>
            </a:r>
            <a:r>
              <a:rPr lang="en-US" altLang="zh-CN" sz="1400">
                <a:sym typeface="+mn-ea"/>
              </a:rPr>
              <a:t>Linux</a:t>
            </a:r>
            <a:r>
              <a:rPr lang="zh-CN" altLang="en-US" sz="1400">
                <a:sym typeface="+mn-ea"/>
              </a:rPr>
              <a:t>系统的主要功能，如硬件调度管理的能力。</a:t>
            </a:r>
            <a:endParaRPr lang="zh-CN" altLang="en-US" sz="1400">
              <a:sym typeface="+mn-ea"/>
            </a:endParaRPr>
          </a:p>
          <a:p>
            <a:pPr marL="0" indent="0">
              <a:lnSpc>
                <a:spcPct val="190000"/>
              </a:lnSpc>
              <a:buNone/>
            </a:pPr>
            <a:r>
              <a:rPr lang="en-US" altLang="zh-CN" sz="1400">
                <a:sym typeface="+mn-ea"/>
              </a:rPr>
              <a:t>Linux</a:t>
            </a:r>
            <a:r>
              <a:rPr lang="zh-CN" altLang="en-US" sz="1400">
                <a:sym typeface="+mn-ea"/>
              </a:rPr>
              <a:t>内核是免费开源的，任何人都可以查看内核的源代码，甚至是贡献源代码。</a:t>
            </a:r>
            <a:endParaRPr lang="zh-CN" altLang="en-US" sz="1400">
              <a:sym typeface="+mn-ea"/>
            </a:endParaRPr>
          </a:p>
          <a:p>
            <a:pPr marL="0" indent="0">
              <a:lnSpc>
                <a:spcPct val="190000"/>
              </a:lnSpc>
              <a:buNone/>
            </a:pPr>
            <a:r>
              <a:rPr lang="en-US" altLang="zh-CN">
                <a:sym typeface="+mn-ea"/>
              </a:rPr>
              <a:t>3. </a:t>
            </a:r>
            <a:r>
              <a:rPr lang="zh-CN" altLang="en-US">
                <a:sym typeface="+mn-ea"/>
              </a:rPr>
              <a:t>什么是</a:t>
            </a:r>
            <a:r>
              <a:rPr lang="en-US" altLang="zh-CN">
                <a:sym typeface="+mn-ea"/>
              </a:rPr>
              <a:t>Linux</a:t>
            </a:r>
            <a:r>
              <a:rPr lang="zh-CN" altLang="en-US">
                <a:sym typeface="+mn-ea"/>
              </a:rPr>
              <a:t>系统</a:t>
            </a:r>
            <a:r>
              <a:rPr lang="zh-CN" altLang="en-US">
                <a:sym typeface="+mn-ea"/>
              </a:rPr>
              <a:t>发行版</a:t>
            </a:r>
            <a:endParaRPr lang="zh-CN" altLang="en-US">
              <a:sym typeface="+mn-ea"/>
            </a:endParaRPr>
          </a:p>
          <a:p>
            <a:pPr marL="0" indent="0">
              <a:lnSpc>
                <a:spcPct val="190000"/>
              </a:lnSpc>
              <a:buNone/>
            </a:pPr>
            <a:r>
              <a:rPr lang="zh-CN" altLang="en-US" sz="1400">
                <a:sym typeface="+mn-ea"/>
              </a:rPr>
              <a:t>内核无法被用户直接使用，需要配合应用程序才能被用户使用。</a:t>
            </a:r>
            <a:endParaRPr lang="zh-CN" altLang="en-US" sz="1400">
              <a:sym typeface="+mn-ea"/>
            </a:endParaRPr>
          </a:p>
          <a:p>
            <a:pPr marL="0" indent="0">
              <a:lnSpc>
                <a:spcPct val="190000"/>
              </a:lnSpc>
              <a:buNone/>
            </a:pPr>
            <a:r>
              <a:rPr lang="zh-CN" altLang="en-US" sz="1400">
                <a:sym typeface="+mn-ea"/>
              </a:rPr>
              <a:t>在内核之上，封装系统级应用程序，组合在一起就称之为</a:t>
            </a:r>
            <a:r>
              <a:rPr lang="en-US" altLang="zh-CN" sz="1400">
                <a:sym typeface="+mn-ea"/>
              </a:rPr>
              <a:t>Linux</a:t>
            </a:r>
            <a:r>
              <a:rPr lang="zh-CN" altLang="en-US" sz="1400">
                <a:sym typeface="+mn-ea"/>
              </a:rPr>
              <a:t>发行版。</a:t>
            </a:r>
            <a:endParaRPr lang="zh-CN" altLang="en-US" sz="1400">
              <a:sym typeface="+mn-ea"/>
            </a:endParaRPr>
          </a:p>
          <a:p>
            <a:pPr marL="0" indent="0">
              <a:lnSpc>
                <a:spcPct val="190000"/>
              </a:lnSpc>
              <a:buNone/>
            </a:pPr>
            <a:r>
              <a:rPr lang="zh-CN" altLang="en-US" sz="1400">
                <a:sym typeface="+mn-ea"/>
              </a:rPr>
              <a:t>发行版众多，课程主要基于</a:t>
            </a:r>
            <a:r>
              <a:rPr lang="en-US" altLang="zh-CN" sz="1400">
                <a:sym typeface="+mn-ea"/>
              </a:rPr>
              <a:t>CentOS</a:t>
            </a:r>
            <a:r>
              <a:rPr lang="zh-CN" altLang="en-US" sz="1400">
                <a:sym typeface="+mn-ea"/>
              </a:rPr>
              <a:t>辅以</a:t>
            </a:r>
            <a:r>
              <a:rPr lang="en-US" altLang="zh-CN" sz="1400">
                <a:sym typeface="+mn-ea"/>
              </a:rPr>
              <a:t>Ubuntu</a:t>
            </a:r>
            <a:r>
              <a:rPr lang="zh-CN" altLang="en-US" sz="1400">
                <a:sym typeface="+mn-ea"/>
              </a:rPr>
              <a:t>进行讲解</a:t>
            </a:r>
            <a:endParaRPr lang="zh-CN" altLang="en-US" sz="1400"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1814830"/>
            <a:ext cx="410210" cy="410210"/>
          </a:xfrm>
          <a:prstGeom prst="rect">
            <a:avLst/>
          </a:prstGeom>
        </p:spPr>
      </p:pic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5019675" y="1029335"/>
            <a:ext cx="5973445" cy="4004945"/>
          </a:xfrm>
        </p:spPr>
        <p:txBody>
          <a:bodyPr/>
          <a:lstStyle/>
          <a:p>
            <a:pPr algn="l"/>
            <a:r>
              <a:rPr kumimoji="1" lang="zh-CN" sz="1600" dirty="0">
                <a:sym typeface="+mn-ea"/>
              </a:rPr>
              <a:t>操作系统概述</a:t>
            </a:r>
            <a:endParaRPr kumimoji="1" 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初识</a:t>
            </a:r>
            <a:r>
              <a:rPr kumimoji="1" lang="en-US" altLang="zh-CN" sz="1600" dirty="0">
                <a:sym typeface="+mn-ea"/>
              </a:rPr>
              <a:t>Linux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虚拟机介绍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VMware WorkStation</a:t>
            </a:r>
            <a:r>
              <a:rPr kumimoji="1" lang="zh-CN" altLang="en-US" sz="1600" dirty="0">
                <a:sym typeface="+mn-ea"/>
              </a:rPr>
              <a:t>安装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在</a:t>
            </a:r>
            <a:r>
              <a:rPr kumimoji="1" lang="en-US" altLang="zh-CN" sz="1600" dirty="0">
                <a:sym typeface="+mn-ea"/>
              </a:rPr>
              <a:t>VMware</a:t>
            </a:r>
            <a:r>
              <a:rPr kumimoji="1" lang="zh-CN" altLang="en-US" sz="1600" dirty="0">
                <a:sym typeface="+mn-ea"/>
              </a:rPr>
              <a:t>上安装</a:t>
            </a:r>
            <a:r>
              <a:rPr kumimoji="1" lang="en-US" altLang="zh-CN" sz="1600" dirty="0">
                <a:sym typeface="+mn-ea"/>
              </a:rPr>
              <a:t>Linux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Mac</a:t>
            </a:r>
            <a:r>
              <a:rPr kumimoji="1" lang="zh-CN" altLang="en-US" sz="1600" dirty="0">
                <a:sym typeface="+mn-ea"/>
              </a:rPr>
              <a:t>系统</a:t>
            </a:r>
            <a:r>
              <a:rPr kumimoji="1" lang="en-US" altLang="zh-CN" sz="1600" dirty="0">
                <a:sym typeface="+mn-ea"/>
              </a:rPr>
              <a:t>Linux</a:t>
            </a:r>
            <a:r>
              <a:rPr kumimoji="1" lang="zh-CN" altLang="en-US" sz="1600" dirty="0">
                <a:sym typeface="+mn-ea"/>
              </a:rPr>
              <a:t>环境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远程连接</a:t>
            </a:r>
            <a:r>
              <a:rPr kumimoji="1" lang="en-US" altLang="zh-CN" sz="1600" dirty="0">
                <a:sym typeface="+mn-ea"/>
              </a:rPr>
              <a:t>Linux</a:t>
            </a:r>
            <a:r>
              <a:rPr kumimoji="1" lang="zh-CN" altLang="en-US" sz="1600" dirty="0">
                <a:sym typeface="+mn-ea"/>
              </a:rPr>
              <a:t>系统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拓展：</a:t>
            </a:r>
            <a:r>
              <a:rPr kumimoji="1" lang="en-US" altLang="zh-CN" sz="1600" dirty="0">
                <a:sym typeface="+mn-ea"/>
              </a:rPr>
              <a:t>WSL</a:t>
            </a:r>
            <a:r>
              <a:rPr kumimoji="1" lang="zh-CN" altLang="en-US" sz="1600" dirty="0">
                <a:sym typeface="+mn-ea"/>
              </a:rPr>
              <a:t>（</a:t>
            </a:r>
            <a:r>
              <a:rPr kumimoji="1" lang="en-US" altLang="zh-CN" sz="1600" dirty="0">
                <a:sym typeface="+mn-ea"/>
              </a:rPr>
              <a:t>Windows Subsystem for Linux</a:t>
            </a:r>
            <a:r>
              <a:rPr kumimoji="1" lang="zh-CN" altLang="en-US" sz="1600" dirty="0">
                <a:sym typeface="+mn-ea"/>
              </a:rPr>
              <a:t>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扩展：虚拟机快照</a:t>
            </a:r>
            <a:endParaRPr kumimoji="1" lang="zh-CN" altLang="en-US" sz="1600" dirty="0"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>
                <a:solidFill>
                  <a:srgbClr val="FF0000"/>
                </a:solidFill>
              </a:rPr>
              <a:t>了解什么是虚拟机</a:t>
            </a:r>
            <a:endParaRPr lang="zh-CN">
              <a:solidFill>
                <a:srgbClr val="FF0000"/>
              </a:solidFill>
            </a:endParaRPr>
          </a:p>
          <a:p>
            <a:r>
              <a:rPr lang="zh-CN">
                <a:solidFill>
                  <a:srgbClr val="FF0000"/>
                </a:solidFill>
              </a:rPr>
              <a:t>了解为什么要使用虚拟机</a:t>
            </a:r>
            <a:endParaRPr lang="zh-CN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虚拟机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学习</a:t>
            </a:r>
            <a:r>
              <a:rPr lang="en-US" altLang="zh-CN"/>
              <a:t>Linux</a:t>
            </a:r>
            <a:r>
              <a:rPr lang="zh-CN" altLang="en-US"/>
              <a:t>系统，就需要有一个可用的</a:t>
            </a:r>
            <a:r>
              <a:rPr lang="en-US" altLang="zh-CN"/>
              <a:t>Linux</a:t>
            </a:r>
            <a:r>
              <a:rPr lang="zh-CN" altLang="en-US"/>
              <a:t>系统。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如何获得？将自己的电脑重装系统为</a:t>
            </a:r>
            <a:r>
              <a:rPr lang="en-US" altLang="zh-CN"/>
              <a:t>Linux</a:t>
            </a:r>
            <a:r>
              <a:rPr lang="zh-CN" altLang="en-US"/>
              <a:t>？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NoNo</a:t>
            </a:r>
            <a:r>
              <a:rPr lang="zh-CN" altLang="en-US"/>
              <a:t>。这不现实，因为</a:t>
            </a:r>
            <a:r>
              <a:rPr lang="en-US" altLang="zh-CN"/>
              <a:t>Linux</a:t>
            </a:r>
            <a:r>
              <a:rPr lang="zh-CN" altLang="en-US"/>
              <a:t>系统并不适合日常办公使用。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我们需要借助虚拟机来获得可用的</a:t>
            </a:r>
            <a:r>
              <a:rPr lang="en-US" altLang="zh-CN"/>
              <a:t>Linux</a:t>
            </a:r>
            <a:r>
              <a:rPr lang="zh-CN" altLang="en-US"/>
              <a:t>系统环境进行学习。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虚拟机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那么，什么是虚拟机呢？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借助虚拟化技术，我们可以在系统中，通过软件：模拟计算机硬件，并给虚拟硬件安装真实的操作系统。</a:t>
            </a:r>
            <a:endParaRPr lang="zh-CN" altLang="en-US"/>
          </a:p>
          <a:p>
            <a:r>
              <a:rPr lang="zh-CN" altLang="en-US"/>
              <a:t>这样，就可以在电脑中，虚拟出一个完整的电脑，以供我们学习</a:t>
            </a:r>
            <a:r>
              <a:rPr lang="en-US" altLang="zh-CN"/>
              <a:t>Linux</a:t>
            </a:r>
            <a:r>
              <a:rPr lang="zh-CN" altLang="en-US"/>
              <a:t>系统。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2124075"/>
            <a:ext cx="3425190" cy="328358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虚拟机</a:t>
            </a:r>
            <a:endParaRPr lang="zh-CN" altLang="en-US"/>
          </a:p>
        </p:txBody>
      </p:sp>
      <p:pic>
        <p:nvPicPr>
          <p:cNvPr id="9" name="图片 8" descr="无标题"/>
          <p:cNvPicPr>
            <a:picLocks noChangeAspect="1"/>
          </p:cNvPicPr>
          <p:nvPr/>
        </p:nvPicPr>
        <p:blipFill>
          <a:blip r:embed="rId1"/>
          <a:srcRect b="7639"/>
          <a:stretch>
            <a:fillRect/>
          </a:stretch>
        </p:blipFill>
        <p:spPr>
          <a:xfrm>
            <a:off x="1917700" y="1550035"/>
            <a:ext cx="7776210" cy="485965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355" y="1463040"/>
            <a:ext cx="6163310" cy="4511040"/>
          </a:xfrm>
        </p:spPr>
        <p:txBody>
          <a:bodyPr/>
          <a:p>
            <a:pPr marL="0" indent="0">
              <a:lnSpc>
                <a:spcPct val="190000"/>
              </a:lnSpc>
              <a:buNone/>
            </a:pPr>
            <a:r>
              <a:rPr lang="en-US"/>
              <a:t>1. </a:t>
            </a:r>
            <a:r>
              <a:rPr lang="zh-CN" altLang="en-US"/>
              <a:t>什么是虚拟机？</a:t>
            </a:r>
            <a:endParaRPr lang="zh-CN" altLang="en-US"/>
          </a:p>
          <a:p>
            <a:pPr marL="0" indent="0">
              <a:lnSpc>
                <a:spcPct val="190000"/>
              </a:lnSpc>
              <a:buNone/>
            </a:pPr>
            <a:r>
              <a:rPr lang="zh-CN" altLang="en-US" sz="1400">
                <a:sym typeface="+mn-ea"/>
              </a:rPr>
              <a:t>通过虚拟化技术，在电脑内，虚拟出计算机硬件，并给虚拟的硬件安装操作系统，即可得到一台虚拟的电脑，称之为虚拟机。</a:t>
            </a:r>
            <a:endParaRPr lang="zh-CN" altLang="en-US" sz="1400">
              <a:sym typeface="+mn-ea"/>
            </a:endParaRPr>
          </a:p>
          <a:p>
            <a:pPr marL="0" algn="l">
              <a:lnSpc>
                <a:spcPct val="190000"/>
              </a:lnSpc>
              <a:buNone/>
            </a:pPr>
            <a:r>
              <a:rPr lang="zh-CN" altLang="en-US" sz="1800">
                <a:sym typeface="+mn-ea"/>
              </a:rPr>
              <a:t>2. 为什么要使用虚拟机？</a:t>
            </a:r>
            <a:endParaRPr lang="zh-CN" altLang="en-US" sz="1800">
              <a:sym typeface="+mn-ea"/>
            </a:endParaRPr>
          </a:p>
          <a:p>
            <a:pPr marL="0" indent="0">
              <a:lnSpc>
                <a:spcPct val="190000"/>
              </a:lnSpc>
              <a:buNone/>
            </a:pPr>
            <a:r>
              <a:rPr lang="zh-CN" altLang="en-US" sz="1400">
                <a:sym typeface="+mn-ea"/>
              </a:rPr>
              <a:t>学习</a:t>
            </a:r>
            <a:r>
              <a:rPr lang="en-US" altLang="zh-CN" sz="1400">
                <a:sym typeface="+mn-ea"/>
              </a:rPr>
              <a:t>Linux</a:t>
            </a:r>
            <a:r>
              <a:rPr lang="zh-CN" altLang="en-US" sz="1400">
                <a:sym typeface="+mn-ea"/>
              </a:rPr>
              <a:t>系统，需要有</a:t>
            </a:r>
            <a:r>
              <a:rPr lang="en-US" altLang="zh-CN" sz="1400">
                <a:sym typeface="+mn-ea"/>
              </a:rPr>
              <a:t>Linux</a:t>
            </a:r>
            <a:r>
              <a:rPr lang="zh-CN" altLang="en-US" sz="1400">
                <a:sym typeface="+mn-ea"/>
              </a:rPr>
              <a:t>系统环境。</a:t>
            </a:r>
            <a:endParaRPr lang="zh-CN" altLang="en-US" sz="1400">
              <a:sym typeface="+mn-ea"/>
            </a:endParaRPr>
          </a:p>
          <a:p>
            <a:pPr marL="0" indent="0">
              <a:lnSpc>
                <a:spcPct val="190000"/>
              </a:lnSpc>
              <a:buNone/>
            </a:pPr>
            <a:r>
              <a:rPr lang="zh-CN" altLang="en-US" sz="1400">
                <a:sym typeface="+mn-ea"/>
              </a:rPr>
              <a:t>我们不能给自己电脑重装系统为</a:t>
            </a:r>
            <a:r>
              <a:rPr lang="en-US" altLang="zh-CN" sz="1400">
                <a:sym typeface="+mn-ea"/>
              </a:rPr>
              <a:t>Linux</a:t>
            </a:r>
            <a:r>
              <a:rPr lang="zh-CN" altLang="en-US" sz="1400">
                <a:sym typeface="+mn-ea"/>
              </a:rPr>
              <a:t>，所以通过虚拟机的形式，得到可以用的</a:t>
            </a:r>
            <a:r>
              <a:rPr lang="en-US" altLang="zh-CN" sz="1400">
                <a:sym typeface="+mn-ea"/>
              </a:rPr>
              <a:t>Linux</a:t>
            </a:r>
            <a:r>
              <a:rPr lang="zh-CN" altLang="en-US" sz="1400">
                <a:sym typeface="+mn-ea"/>
              </a:rPr>
              <a:t>系统环境，供后续学习使用。</a:t>
            </a:r>
            <a:endParaRPr lang="zh-CN" altLang="en-US" sz="1400"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2356485"/>
            <a:ext cx="410210" cy="41021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5019675" y="1029335"/>
            <a:ext cx="5973445" cy="4004945"/>
          </a:xfrm>
        </p:spPr>
        <p:txBody>
          <a:bodyPr/>
          <a:lstStyle/>
          <a:p>
            <a:pPr algn="l"/>
            <a:r>
              <a:rPr kumimoji="1" lang="zh-CN" sz="1600" dirty="0">
                <a:sym typeface="+mn-ea"/>
              </a:rPr>
              <a:t>操作系统概述</a:t>
            </a:r>
            <a:endParaRPr kumimoji="1" 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初识</a:t>
            </a:r>
            <a:r>
              <a:rPr kumimoji="1" lang="en-US" altLang="zh-CN" sz="1600" dirty="0">
                <a:sym typeface="+mn-ea"/>
              </a:rPr>
              <a:t>Linux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虚拟机介绍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rgbClr val="FF0000"/>
                </a:solidFill>
                <a:sym typeface="+mn-ea"/>
              </a:rPr>
              <a:t>VMware WorkStation</a:t>
            </a:r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安装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在</a:t>
            </a:r>
            <a:r>
              <a:rPr kumimoji="1" lang="en-US" altLang="zh-CN" sz="1600" dirty="0">
                <a:sym typeface="+mn-ea"/>
              </a:rPr>
              <a:t>VMware</a:t>
            </a:r>
            <a:r>
              <a:rPr kumimoji="1" lang="zh-CN" altLang="en-US" sz="1600" dirty="0">
                <a:sym typeface="+mn-ea"/>
              </a:rPr>
              <a:t>上安装</a:t>
            </a:r>
            <a:r>
              <a:rPr kumimoji="1" lang="en-US" altLang="zh-CN" sz="1600" dirty="0">
                <a:sym typeface="+mn-ea"/>
              </a:rPr>
              <a:t>Linux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Mac</a:t>
            </a:r>
            <a:r>
              <a:rPr kumimoji="1" lang="zh-CN" altLang="en-US" sz="1600" dirty="0">
                <a:sym typeface="+mn-ea"/>
              </a:rPr>
              <a:t>系统</a:t>
            </a:r>
            <a:r>
              <a:rPr kumimoji="1" lang="en-US" altLang="zh-CN" sz="1600" dirty="0">
                <a:sym typeface="+mn-ea"/>
              </a:rPr>
              <a:t>Linux</a:t>
            </a:r>
            <a:r>
              <a:rPr kumimoji="1" lang="zh-CN" altLang="en-US" sz="1600" dirty="0">
                <a:sym typeface="+mn-ea"/>
              </a:rPr>
              <a:t>环境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远程连接</a:t>
            </a:r>
            <a:r>
              <a:rPr kumimoji="1" lang="en-US" altLang="zh-CN" sz="1600" dirty="0">
                <a:sym typeface="+mn-ea"/>
              </a:rPr>
              <a:t>Linux</a:t>
            </a:r>
            <a:r>
              <a:rPr kumimoji="1" lang="zh-CN" altLang="en-US" sz="1600" dirty="0">
                <a:sym typeface="+mn-ea"/>
              </a:rPr>
              <a:t>系统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拓展：</a:t>
            </a:r>
            <a:r>
              <a:rPr kumimoji="1" lang="en-US" altLang="zh-CN" sz="1600" dirty="0">
                <a:sym typeface="+mn-ea"/>
              </a:rPr>
              <a:t>WSL</a:t>
            </a:r>
            <a:r>
              <a:rPr kumimoji="1" lang="zh-CN" altLang="en-US" sz="1600" dirty="0">
                <a:sym typeface="+mn-ea"/>
              </a:rPr>
              <a:t>（</a:t>
            </a:r>
            <a:r>
              <a:rPr kumimoji="1" lang="en-US" altLang="zh-CN" sz="1600" dirty="0">
                <a:sym typeface="+mn-ea"/>
              </a:rPr>
              <a:t>Windows Subsystem for Linux</a:t>
            </a:r>
            <a:r>
              <a:rPr kumimoji="1" lang="zh-CN" altLang="en-US" sz="1600" dirty="0">
                <a:sym typeface="+mn-ea"/>
              </a:rPr>
              <a:t>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扩展：虚拟机快照</a:t>
            </a:r>
            <a:endParaRPr kumimoji="1" lang="zh-CN" altLang="en-US" sz="1600" dirty="0"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>
                <a:solidFill>
                  <a:srgbClr val="FF0000"/>
                </a:solidFill>
              </a:rPr>
              <a:t>了解</a:t>
            </a:r>
            <a:r>
              <a:rPr lang="en-US" altLang="zh-CN">
                <a:solidFill>
                  <a:srgbClr val="FF0000"/>
                </a:solidFill>
              </a:rPr>
              <a:t>VMware WorkStation</a:t>
            </a:r>
            <a:r>
              <a:rPr lang="zh-CN" altLang="en-US">
                <a:solidFill>
                  <a:srgbClr val="FF0000"/>
                </a:solidFill>
              </a:rPr>
              <a:t>软件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完成</a:t>
            </a:r>
            <a:r>
              <a:rPr lang="en-US" altLang="zh-CN">
                <a:solidFill>
                  <a:srgbClr val="FF0000"/>
                </a:solidFill>
              </a:rPr>
              <a:t>VMware WorkStation</a:t>
            </a:r>
            <a:r>
              <a:rPr lang="zh-CN" altLang="en-US">
                <a:solidFill>
                  <a:srgbClr val="FF0000"/>
                </a:solidFill>
              </a:rPr>
              <a:t>软件的安装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虚拟化软件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通过虚拟化技术，可以虚拟出计算机的硬件，那么如何虚拟呢？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我们可以通过提供虚拟化的软件来获得虚拟机。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122" name="图片 121"/>
          <p:cNvPicPr/>
          <p:nvPr/>
        </p:nvPicPr>
        <p:blipFill>
          <a:blip r:embed="rId1"/>
          <a:stretch>
            <a:fillRect/>
          </a:stretch>
        </p:blipFill>
        <p:spPr>
          <a:xfrm>
            <a:off x="2425700" y="3759835"/>
            <a:ext cx="2432685" cy="121666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3" name="图片 122"/>
          <p:cNvPicPr/>
          <p:nvPr/>
        </p:nvPicPr>
        <p:blipFill>
          <a:blip r:embed="rId2"/>
          <a:srcRect l="4434" t="5172" r="9376" b="15050"/>
          <a:stretch>
            <a:fillRect/>
          </a:stretch>
        </p:blipFill>
        <p:spPr>
          <a:xfrm>
            <a:off x="5467350" y="3663315"/>
            <a:ext cx="1184910" cy="141033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5" name="图片 124"/>
          <p:cNvPicPr/>
          <p:nvPr/>
        </p:nvPicPr>
        <p:blipFill>
          <a:blip r:embed="rId3"/>
          <a:stretch>
            <a:fillRect/>
          </a:stretch>
        </p:blipFill>
        <p:spPr>
          <a:xfrm>
            <a:off x="8015605" y="3555365"/>
            <a:ext cx="1625600" cy="16256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7" name="图片 6" descr="01 (102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4705" y="5180965"/>
            <a:ext cx="1433195" cy="143319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VMware WorkStation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课程选用</a:t>
            </a:r>
            <a:r>
              <a:rPr lang="en-US" altLang="zh-CN"/>
              <a:t>VMware WorkStation</a:t>
            </a:r>
            <a:r>
              <a:rPr lang="zh-CN" altLang="en-US"/>
              <a:t>软件来提供虚拟机。</a:t>
            </a:r>
            <a:endParaRPr lang="zh-CN" altLang="en-US"/>
          </a:p>
          <a:p>
            <a:r>
              <a:rPr lang="zh-CN" altLang="en-US"/>
              <a:t>下载地址：</a:t>
            </a:r>
            <a:r>
              <a:rPr lang="en-US" altLang="zh-CN"/>
              <a:t> </a:t>
            </a:r>
            <a:r>
              <a:rPr lang="zh-CN" altLang="en-US"/>
              <a:t>https://www.vmware.com/cn/products/workstation-pro.html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320" y="2639060"/>
            <a:ext cx="4606925" cy="13201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20" y="4218940"/>
            <a:ext cx="4607560" cy="2238375"/>
          </a:xfrm>
          <a:prstGeom prst="rect">
            <a:avLst/>
          </a:prstGeom>
        </p:spPr>
      </p:pic>
      <p:pic>
        <p:nvPicPr>
          <p:cNvPr id="6" name="图片 5" descr="01 (99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1800" y="5030470"/>
            <a:ext cx="1827530" cy="182753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VMware WorkStation </a:t>
            </a:r>
            <a:r>
              <a:t>安装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725" y="1819910"/>
            <a:ext cx="4714875" cy="3733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819910"/>
            <a:ext cx="4524375" cy="34004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25" y="1905635"/>
            <a:ext cx="4610100" cy="36195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1867535"/>
            <a:ext cx="4524375" cy="33147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5" y="1867535"/>
            <a:ext cx="4572000" cy="334327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1905635"/>
            <a:ext cx="4495800" cy="329565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1867535"/>
            <a:ext cx="4514850" cy="32099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" y="1858010"/>
            <a:ext cx="4448175" cy="332422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1905635"/>
            <a:ext cx="4629150" cy="3352800"/>
          </a:xfrm>
          <a:prstGeom prst="rect">
            <a:avLst/>
          </a:prstGeom>
        </p:spPr>
      </p:pic>
      <p:pic>
        <p:nvPicPr>
          <p:cNvPr id="3" name="图片 2" descr="01 (113)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04830" y="5044440"/>
            <a:ext cx="1599565" cy="15995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VMware WorkStation </a:t>
            </a:r>
            <a:r>
              <a:t>安装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软件安装完成后，验证一下网络适配器是否正常</a:t>
            </a:r>
            <a:r>
              <a:rPr lang="zh-CN" altLang="en-US"/>
              <a:t>配置。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b="5319"/>
          <a:stretch>
            <a:fillRect/>
          </a:stretch>
        </p:blipFill>
        <p:spPr>
          <a:xfrm>
            <a:off x="710565" y="2186305"/>
            <a:ext cx="6607810" cy="37865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394065" y="3990975"/>
            <a:ext cx="2655570" cy="58356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或者通过快捷键：</a:t>
            </a:r>
            <a:r>
              <a:rPr lang="en-US" altLang="zh-CN" sz="1600" b="1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win + r</a:t>
            </a:r>
            <a:endParaRPr lang="en-US" altLang="zh-CN" sz="1600" b="1" dirty="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l"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输入ncpa.cpl回车即可打开</a:t>
            </a:r>
            <a:endParaRPr lang="zh-CN" altLang="en-US" sz="1600" b="1" dirty="0">
              <a:solidFill>
                <a:srgbClr val="FF0000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pic>
        <p:nvPicPr>
          <p:cNvPr id="7" name="图片 6" descr="01 (14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4525" y="5097145"/>
            <a:ext cx="1560830" cy="156083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65" y="2186305"/>
            <a:ext cx="5092700" cy="3816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2889250"/>
            <a:ext cx="410210" cy="41021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5019675" y="1029335"/>
            <a:ext cx="5973445" cy="4004945"/>
          </a:xfrm>
        </p:spPr>
        <p:txBody>
          <a:bodyPr/>
          <a:lstStyle/>
          <a:p>
            <a:pPr algn="l"/>
            <a:r>
              <a:rPr kumimoji="1" lang="zh-CN" sz="1600" dirty="0">
                <a:sym typeface="+mn-ea"/>
              </a:rPr>
              <a:t>操作系统概述</a:t>
            </a:r>
            <a:endParaRPr kumimoji="1" 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初识</a:t>
            </a:r>
            <a:r>
              <a:rPr kumimoji="1" lang="en-US" altLang="zh-CN" sz="1600" dirty="0">
                <a:sym typeface="+mn-ea"/>
              </a:rPr>
              <a:t>Linux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虚拟机介绍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VMware WorkStation</a:t>
            </a:r>
            <a:r>
              <a:rPr kumimoji="1" lang="zh-CN" altLang="en-US" sz="1600" dirty="0">
                <a:sym typeface="+mn-ea"/>
              </a:rPr>
              <a:t>安装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在</a:t>
            </a:r>
            <a:r>
              <a:rPr kumimoji="1" lang="en-US" altLang="zh-CN" sz="1600" dirty="0">
                <a:solidFill>
                  <a:srgbClr val="FF0000"/>
                </a:solidFill>
                <a:sym typeface="+mn-ea"/>
              </a:rPr>
              <a:t>VMware</a:t>
            </a:r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上安装</a:t>
            </a:r>
            <a:r>
              <a:rPr kumimoji="1" lang="en-US" altLang="zh-CN" sz="1600" dirty="0">
                <a:solidFill>
                  <a:srgbClr val="FF0000"/>
                </a:solidFill>
                <a:sym typeface="+mn-ea"/>
              </a:rPr>
              <a:t>Linux</a:t>
            </a:r>
            <a:endParaRPr kumimoji="1" lang="en-US" altLang="zh-CN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Mac</a:t>
            </a:r>
            <a:r>
              <a:rPr kumimoji="1" lang="zh-CN" altLang="en-US" sz="1600" dirty="0">
                <a:sym typeface="+mn-ea"/>
              </a:rPr>
              <a:t>系统</a:t>
            </a:r>
            <a:r>
              <a:rPr kumimoji="1" lang="en-US" altLang="zh-CN" sz="1600" dirty="0">
                <a:sym typeface="+mn-ea"/>
              </a:rPr>
              <a:t>Linux</a:t>
            </a:r>
            <a:r>
              <a:rPr kumimoji="1" lang="zh-CN" altLang="en-US" sz="1600" dirty="0">
                <a:sym typeface="+mn-ea"/>
              </a:rPr>
              <a:t>环境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远程连接</a:t>
            </a:r>
            <a:r>
              <a:rPr kumimoji="1" lang="en-US" altLang="zh-CN" sz="1600" dirty="0">
                <a:sym typeface="+mn-ea"/>
              </a:rPr>
              <a:t>Linux</a:t>
            </a:r>
            <a:r>
              <a:rPr kumimoji="1" lang="zh-CN" altLang="en-US" sz="1600" dirty="0">
                <a:sym typeface="+mn-ea"/>
              </a:rPr>
              <a:t>系统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拓展：</a:t>
            </a:r>
            <a:r>
              <a:rPr kumimoji="1" lang="en-US" altLang="zh-CN" sz="1600" dirty="0">
                <a:sym typeface="+mn-ea"/>
              </a:rPr>
              <a:t>WSL</a:t>
            </a:r>
            <a:r>
              <a:rPr kumimoji="1" lang="zh-CN" altLang="en-US" sz="1600" dirty="0">
                <a:sym typeface="+mn-ea"/>
              </a:rPr>
              <a:t>（</a:t>
            </a:r>
            <a:r>
              <a:rPr kumimoji="1" lang="en-US" altLang="zh-CN" sz="1600" dirty="0">
                <a:sym typeface="+mn-ea"/>
              </a:rPr>
              <a:t>Windows Subsystem for Linux</a:t>
            </a:r>
            <a:r>
              <a:rPr kumimoji="1" lang="zh-CN" altLang="en-US" sz="1600" dirty="0">
                <a:sym typeface="+mn-ea"/>
              </a:rPr>
              <a:t>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扩展：虚拟机快照</a:t>
            </a:r>
            <a:endParaRPr kumimoji="1" lang="zh-CN" altLang="en-US" sz="1600" dirty="0"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掌握使用</a:t>
            </a:r>
            <a:r>
              <a:rPr lang="en-US" altLang="zh-CN">
                <a:solidFill>
                  <a:srgbClr val="FF0000"/>
                </a:solidFill>
              </a:rPr>
              <a:t>VMware</a:t>
            </a:r>
            <a:r>
              <a:rPr lang="zh-CN" altLang="en-US">
                <a:solidFill>
                  <a:srgbClr val="FF0000"/>
                </a:solidFill>
              </a:rPr>
              <a:t>安装</a:t>
            </a:r>
            <a:r>
              <a:rPr lang="en-US" altLang="zh-CN">
                <a:solidFill>
                  <a:srgbClr val="FF0000"/>
                </a:solidFill>
              </a:rPr>
              <a:t>Linux</a:t>
            </a:r>
            <a:r>
              <a:rPr lang="zh-CN" altLang="en-US">
                <a:solidFill>
                  <a:srgbClr val="FF0000"/>
                </a:solidFill>
              </a:rPr>
              <a:t>虚拟机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下载</a:t>
            </a:r>
            <a:r>
              <a:rPr lang="en-US" altLang="zh-CN"/>
              <a:t>CentOS</a:t>
            </a:r>
            <a:r>
              <a:t>操作</a:t>
            </a:r>
            <a:r>
              <a:t>系统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首先，我们需要下载操作系统的安装文件，本次使用</a:t>
            </a:r>
            <a:r>
              <a:rPr lang="en-US" altLang="zh-CN"/>
              <a:t>CentOS7.6</a:t>
            </a:r>
            <a:r>
              <a:rPr lang="zh-CN" altLang="en-US"/>
              <a:t>版本进行</a:t>
            </a:r>
            <a:r>
              <a:rPr lang="zh-CN" altLang="en-US"/>
              <a:t>学习：</a:t>
            </a:r>
            <a:endParaRPr lang="zh-CN" altLang="en-US"/>
          </a:p>
          <a:p>
            <a:r>
              <a:rPr lang="zh-CN" altLang="en-US"/>
              <a:t>https://vault.centos.org/7.6.1810/isos/x86_64</a:t>
            </a:r>
            <a:r>
              <a:rPr lang="en-US" altLang="zh-CN"/>
              <a:t>/   (</a:t>
            </a:r>
            <a:r>
              <a:rPr lang="zh-CN" altLang="en-US"/>
              <a:t>最后的</a:t>
            </a:r>
            <a:r>
              <a:rPr lang="en-US" altLang="zh-CN"/>
              <a:t>/</a:t>
            </a:r>
            <a:r>
              <a:rPr lang="zh-CN" altLang="en-US"/>
              <a:t>不要</a:t>
            </a:r>
            <a:r>
              <a:rPr lang="zh-CN" altLang="en-US"/>
              <a:t>漏掉）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或者直接使用如下链接</a:t>
            </a:r>
            <a:r>
              <a:rPr lang="zh-CN" altLang="en-US"/>
              <a:t>下载：</a:t>
            </a:r>
            <a:endParaRPr lang="zh-CN" altLang="en-US"/>
          </a:p>
          <a:p>
            <a:r>
              <a:rPr lang="zh-CN" altLang="en-US"/>
              <a:t>https://vault.centos.org/7.6.1810/isos/x86_64/CentOS-7-x86_64-DVD-1810.iso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或者从课程资料中获取安装</a:t>
            </a:r>
            <a:r>
              <a:rPr lang="zh-CN" altLang="en-US"/>
              <a:t>包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005" y="2470785"/>
            <a:ext cx="7839075" cy="2038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在</a:t>
            </a:r>
            <a:r>
              <a:rPr lang="en-US" altLang="zh-CN"/>
              <a:t>VMware</a:t>
            </a:r>
            <a:r>
              <a:t>中安装</a:t>
            </a:r>
            <a:r>
              <a:rPr lang="en-US" altLang="zh-CN"/>
              <a:t>CentOS</a:t>
            </a:r>
            <a:r>
              <a:t>操作</a:t>
            </a:r>
            <a:r>
              <a:t>系统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打开</a:t>
            </a:r>
            <a:r>
              <a:rPr lang="en-US" altLang="zh-CN"/>
              <a:t>VMware</a:t>
            </a:r>
            <a:r>
              <a:rPr lang="zh-CN" altLang="en-US"/>
              <a:t>软件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610" y="2123440"/>
            <a:ext cx="6605905" cy="399796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在</a:t>
            </a:r>
            <a:r>
              <a:rPr lang="en-US" altLang="zh-CN"/>
              <a:t>VMware</a:t>
            </a:r>
            <a:r>
              <a:t>中安装</a:t>
            </a:r>
            <a:r>
              <a:rPr lang="en-US" altLang="zh-CN"/>
              <a:t>CentOS</a:t>
            </a:r>
            <a:r>
              <a:t>操作</a:t>
            </a:r>
            <a:r>
              <a:t>系统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按照步骤创建</a:t>
            </a:r>
            <a:r>
              <a:rPr lang="zh-CN" altLang="en-US"/>
              <a:t>虚拟机：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65" y="2195830"/>
            <a:ext cx="4676775" cy="40100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65" y="2214880"/>
            <a:ext cx="4638675" cy="39909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865" y="2195830"/>
            <a:ext cx="4667250" cy="40290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965" y="2195830"/>
            <a:ext cx="4638675" cy="40005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865" y="2195830"/>
            <a:ext cx="4648200" cy="40005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390" y="2205355"/>
            <a:ext cx="4629150" cy="4010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在</a:t>
            </a:r>
            <a:r>
              <a:rPr lang="en-US" altLang="zh-CN">
                <a:sym typeface="+mn-ea"/>
              </a:rPr>
              <a:t>VMware</a:t>
            </a:r>
            <a:r>
              <a:rPr>
                <a:sym typeface="+mn-ea"/>
              </a:rPr>
              <a:t>中安装</a:t>
            </a:r>
            <a:r>
              <a:rPr lang="en-US" altLang="zh-CN">
                <a:sym typeface="+mn-ea"/>
              </a:rPr>
              <a:t>CentOS</a:t>
            </a:r>
            <a:r>
              <a:rPr>
                <a:sym typeface="+mn-ea"/>
              </a:rPr>
              <a:t>操作系统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点击完成后，即开启了</a:t>
            </a:r>
            <a:r>
              <a:rPr lang="en-US" altLang="zh-CN"/>
              <a:t>CentOS</a:t>
            </a:r>
            <a:r>
              <a:rPr lang="zh-CN" altLang="en-US"/>
              <a:t>系统的安装，耐心等待安装完成即可，后续都是自动化</a:t>
            </a:r>
            <a:r>
              <a:rPr lang="zh-CN" altLang="en-US"/>
              <a:t>的。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515" y="2432050"/>
            <a:ext cx="5843270" cy="35502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515" y="2432050"/>
            <a:ext cx="5843270" cy="35413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在</a:t>
            </a:r>
            <a:r>
              <a:rPr lang="en-US" altLang="zh-CN">
                <a:sym typeface="+mn-ea"/>
              </a:rPr>
              <a:t>VMware</a:t>
            </a:r>
            <a:r>
              <a:rPr>
                <a:sym typeface="+mn-ea"/>
              </a:rPr>
              <a:t>中安装</a:t>
            </a:r>
            <a:r>
              <a:rPr lang="en-US" altLang="zh-CN">
                <a:sym typeface="+mn-ea"/>
              </a:rPr>
              <a:t>CentOS</a:t>
            </a:r>
            <a:r>
              <a:rPr>
                <a:sym typeface="+mn-ea"/>
              </a:rPr>
              <a:t>操作系统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点击</a:t>
            </a:r>
            <a:r>
              <a:rPr lang="zh-CN" altLang="en-US"/>
              <a:t>用户名：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输入</a:t>
            </a:r>
            <a:r>
              <a:rPr lang="zh-CN" altLang="en-US"/>
              <a:t>密码：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9150" y="2218690"/>
            <a:ext cx="1924050" cy="1219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4280535"/>
            <a:ext cx="2715895" cy="206311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在</a:t>
            </a:r>
            <a:r>
              <a:rPr lang="en-US" altLang="zh-CN">
                <a:sym typeface="+mn-ea"/>
              </a:rPr>
              <a:t>VMware</a:t>
            </a:r>
            <a:r>
              <a:rPr>
                <a:sym typeface="+mn-ea"/>
              </a:rPr>
              <a:t>中安装</a:t>
            </a:r>
            <a:r>
              <a:rPr lang="en-US" altLang="zh-CN">
                <a:sym typeface="+mn-ea"/>
              </a:rPr>
              <a:t>CentOS</a:t>
            </a:r>
            <a:r>
              <a:rPr>
                <a:sym typeface="+mn-ea"/>
              </a:rPr>
              <a:t>操作系统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体验</a:t>
            </a:r>
            <a:r>
              <a:rPr lang="en-US" altLang="zh-CN"/>
              <a:t>Linux</a:t>
            </a:r>
            <a:r>
              <a:rPr lang="zh-CN" altLang="en-US"/>
              <a:t>的快乐</a:t>
            </a:r>
            <a:r>
              <a:rPr lang="zh-CN" altLang="en-US"/>
              <a:t>吧。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990" y="2075180"/>
            <a:ext cx="7430135" cy="4514215"/>
          </a:xfrm>
          <a:prstGeom prst="rect">
            <a:avLst/>
          </a:prstGeom>
        </p:spPr>
      </p:pic>
      <p:pic>
        <p:nvPicPr>
          <p:cNvPr id="7" name="图片 6" descr="01 (8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9725" y="4657090"/>
            <a:ext cx="1985645" cy="198564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3436620"/>
            <a:ext cx="410210" cy="41021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5019675" y="1029335"/>
            <a:ext cx="5973445" cy="4004945"/>
          </a:xfrm>
        </p:spPr>
        <p:txBody>
          <a:bodyPr/>
          <a:lstStyle/>
          <a:p>
            <a:pPr algn="l"/>
            <a:r>
              <a:rPr kumimoji="1" lang="zh-CN" sz="1600" dirty="0">
                <a:sym typeface="+mn-ea"/>
              </a:rPr>
              <a:t>操作系统概述</a:t>
            </a:r>
            <a:endParaRPr kumimoji="1" 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初识</a:t>
            </a:r>
            <a:r>
              <a:rPr kumimoji="1" lang="en-US" altLang="zh-CN" sz="1600" dirty="0">
                <a:sym typeface="+mn-ea"/>
              </a:rPr>
              <a:t>Linux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虚拟机介绍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VMware WorkStation</a:t>
            </a:r>
            <a:r>
              <a:rPr kumimoji="1" lang="zh-CN" altLang="en-US" sz="1600" dirty="0">
                <a:sym typeface="+mn-ea"/>
              </a:rPr>
              <a:t>安装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在VMware上安装Linux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olidFill>
                  <a:srgbClr val="FF0000"/>
                </a:solidFill>
                <a:sym typeface="+mn-ea"/>
              </a:rPr>
              <a:t>Mac</a:t>
            </a:r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系统</a:t>
            </a:r>
            <a:r>
              <a:rPr kumimoji="1" lang="en-US" altLang="zh-CN" sz="1600" dirty="0">
                <a:solidFill>
                  <a:srgbClr val="FF0000"/>
                </a:solidFill>
                <a:sym typeface="+mn-ea"/>
              </a:rPr>
              <a:t>Linux</a:t>
            </a:r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环境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远程连接</a:t>
            </a:r>
            <a:r>
              <a:rPr kumimoji="1" lang="en-US" altLang="zh-CN" sz="1600" dirty="0">
                <a:sym typeface="+mn-ea"/>
              </a:rPr>
              <a:t>Linux</a:t>
            </a:r>
            <a:r>
              <a:rPr kumimoji="1" lang="zh-CN" altLang="en-US" sz="1600" dirty="0">
                <a:sym typeface="+mn-ea"/>
              </a:rPr>
              <a:t>系统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拓展：</a:t>
            </a:r>
            <a:r>
              <a:rPr kumimoji="1" lang="en-US" altLang="zh-CN" sz="1600" dirty="0">
                <a:sym typeface="+mn-ea"/>
              </a:rPr>
              <a:t>WSL</a:t>
            </a:r>
            <a:r>
              <a:rPr kumimoji="1" lang="zh-CN" altLang="en-US" sz="1600" dirty="0">
                <a:sym typeface="+mn-ea"/>
              </a:rPr>
              <a:t>（</a:t>
            </a:r>
            <a:r>
              <a:rPr kumimoji="1" lang="en-US" altLang="zh-CN" sz="1600" dirty="0">
                <a:sym typeface="+mn-ea"/>
              </a:rPr>
              <a:t>Windows Subsystem for Linux</a:t>
            </a:r>
            <a:r>
              <a:rPr kumimoji="1" lang="zh-CN" altLang="en-US" sz="1600" dirty="0">
                <a:sym typeface="+mn-ea"/>
              </a:rPr>
              <a:t>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扩展：虚拟机快照</a:t>
            </a:r>
            <a:endParaRPr kumimoji="1" lang="zh-CN" altLang="en-US" sz="1600" dirty="0"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掌握使用</a:t>
            </a:r>
            <a:r>
              <a:rPr lang="en-US" altLang="zh-CN">
                <a:solidFill>
                  <a:srgbClr val="FF0000"/>
                </a:solidFill>
              </a:rPr>
              <a:t>VMware Fusion</a:t>
            </a:r>
            <a:r>
              <a:rPr lang="zh-CN" altLang="en-US">
                <a:solidFill>
                  <a:srgbClr val="FF0000"/>
                </a:solidFill>
              </a:rPr>
              <a:t>在</a:t>
            </a:r>
            <a:r>
              <a:rPr lang="en-US" altLang="zh-CN">
                <a:solidFill>
                  <a:srgbClr val="FF0000"/>
                </a:solidFill>
              </a:rPr>
              <a:t>MacOS</a:t>
            </a:r>
            <a:r>
              <a:rPr lang="zh-CN" altLang="en-US">
                <a:solidFill>
                  <a:srgbClr val="FF0000"/>
                </a:solidFill>
              </a:rPr>
              <a:t>中安装</a:t>
            </a:r>
            <a:r>
              <a:rPr lang="en-US" altLang="zh-CN">
                <a:solidFill>
                  <a:srgbClr val="FF0000"/>
                </a:solidFill>
              </a:rPr>
              <a:t>Linux</a:t>
            </a:r>
            <a:r>
              <a:rPr lang="zh-CN" altLang="en-US">
                <a:solidFill>
                  <a:srgbClr val="FF0000"/>
                </a:solidFill>
              </a:rPr>
              <a:t>虚拟机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VMware </a:t>
            </a:r>
            <a:r>
              <a:rPr lang="en-US" altLang="zh-CN"/>
              <a:t>Fusion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在</a:t>
            </a:r>
            <a:r>
              <a:rPr lang="en-US" altLang="zh-CN"/>
              <a:t>Windows</a:t>
            </a:r>
            <a:r>
              <a:rPr lang="zh-CN" altLang="en-US"/>
              <a:t>系统中使用的</a:t>
            </a:r>
            <a:r>
              <a:rPr lang="en-US" altLang="zh-CN"/>
              <a:t>VMware WorkStation</a:t>
            </a:r>
            <a:r>
              <a:rPr lang="zh-CN" altLang="en-US"/>
              <a:t>未提供</a:t>
            </a:r>
            <a:r>
              <a:rPr lang="en-US" altLang="zh-CN"/>
              <a:t>Mac</a:t>
            </a:r>
            <a:r>
              <a:rPr lang="zh-CN" altLang="en-US"/>
              <a:t>版，</a:t>
            </a:r>
            <a:r>
              <a:rPr lang="en-US" altLang="zh-CN"/>
              <a:t>Mac</a:t>
            </a:r>
            <a:r>
              <a:rPr lang="zh-CN" altLang="en-US"/>
              <a:t>系统可以使用</a:t>
            </a:r>
            <a:r>
              <a:rPr lang="en-US" altLang="zh-CN"/>
              <a:t>VMware Fusion Pro</a:t>
            </a:r>
            <a:endParaRPr lang="en-US" altLang="zh-CN"/>
          </a:p>
          <a:p>
            <a:r>
              <a:rPr lang="en-US" altLang="zh-CN"/>
              <a:t>Fusion Pro</a:t>
            </a:r>
            <a:r>
              <a:rPr lang="zh-CN" altLang="en-US"/>
              <a:t>和</a:t>
            </a:r>
            <a:r>
              <a:rPr lang="en-US" altLang="zh-CN"/>
              <a:t> Workstation Pro</a:t>
            </a:r>
            <a:r>
              <a:rPr lang="zh-CN" altLang="en-US"/>
              <a:t>均是</a:t>
            </a:r>
            <a:r>
              <a:rPr lang="en-US" altLang="zh-CN"/>
              <a:t>VMware</a:t>
            </a:r>
            <a:r>
              <a:rPr lang="zh-CN" altLang="en-US"/>
              <a:t>公司出品，完全兼容，体验基本是一致</a:t>
            </a:r>
            <a:r>
              <a:rPr lang="zh-CN" altLang="en-US"/>
              <a:t>的。</a:t>
            </a:r>
            <a:endParaRPr lang="zh-CN" altLang="en-US"/>
          </a:p>
          <a:p>
            <a:r>
              <a:rPr lang="zh-CN" altLang="en-US"/>
              <a:t>下载地址：</a:t>
            </a:r>
            <a:r>
              <a:rPr lang="en-US" altLang="zh-CN"/>
              <a:t> </a:t>
            </a:r>
            <a:r>
              <a:rPr lang="zh-CN" altLang="en-US"/>
              <a:t>https://www.vmware.com/cn/products/fusion.html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6" name="图片 5" descr="01 (99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91800" y="5030470"/>
            <a:ext cx="1827530" cy="182753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185" y="3061335"/>
            <a:ext cx="5216525" cy="261112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VMware Fusion Pro</a:t>
            </a:r>
            <a:r>
              <a:t>安装</a:t>
            </a:r>
          </a:p>
        </p:txBody>
      </p:sp>
      <p:pic>
        <p:nvPicPr>
          <p:cNvPr id="3" name="图片 2" descr="01 (11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4830" y="5044440"/>
            <a:ext cx="1599565" cy="15995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57985"/>
            <a:ext cx="5017135" cy="44354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57985"/>
            <a:ext cx="4438650" cy="4572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270" y="3095625"/>
            <a:ext cx="3810000" cy="6667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5435" y="1922145"/>
            <a:ext cx="2933700" cy="35433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0710" y="2071370"/>
            <a:ext cx="2343150" cy="271462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410" y="3295015"/>
            <a:ext cx="4095750" cy="11620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6210" y="3542665"/>
            <a:ext cx="3810000" cy="66675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" y="1666240"/>
            <a:ext cx="5841365" cy="37992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VMware Fusion Pro</a:t>
            </a:r>
            <a:r>
              <a:rPr>
                <a:sym typeface="+mn-ea"/>
              </a:rPr>
              <a:t>安装</a:t>
            </a:r>
            <a:r>
              <a:rPr lang="en-US" altLang="zh-CN">
                <a:sym typeface="+mn-ea"/>
              </a:rPr>
              <a:t>CentOS</a:t>
            </a:r>
            <a:r>
              <a:rPr>
                <a:sym typeface="+mn-ea"/>
              </a:rPr>
              <a:t>系统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首先，我们需要下载操作系统的安装文件，本次使用</a:t>
            </a:r>
            <a:r>
              <a:rPr lang="en-US" altLang="zh-CN"/>
              <a:t>CentOS7.6</a:t>
            </a:r>
            <a:r>
              <a:rPr lang="zh-CN" altLang="en-US"/>
              <a:t>版本进行</a:t>
            </a:r>
            <a:r>
              <a:rPr lang="zh-CN" altLang="en-US"/>
              <a:t>学习：</a:t>
            </a:r>
            <a:endParaRPr lang="zh-CN" altLang="en-US"/>
          </a:p>
          <a:p>
            <a:r>
              <a:rPr lang="zh-CN" altLang="en-US"/>
              <a:t>https://vault.centos.org/7.6.1810/isos/x86_64</a:t>
            </a:r>
            <a:r>
              <a:rPr lang="en-US" altLang="zh-CN"/>
              <a:t>/   (</a:t>
            </a:r>
            <a:r>
              <a:rPr lang="zh-CN" altLang="en-US"/>
              <a:t>最后的</a:t>
            </a:r>
            <a:r>
              <a:rPr lang="en-US" altLang="zh-CN"/>
              <a:t>/</a:t>
            </a:r>
            <a:r>
              <a:rPr lang="zh-CN" altLang="en-US"/>
              <a:t>不要</a:t>
            </a:r>
            <a:r>
              <a:rPr lang="zh-CN" altLang="en-US"/>
              <a:t>漏掉）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或者直接使用如下链接</a:t>
            </a:r>
            <a:r>
              <a:rPr lang="zh-CN" altLang="en-US"/>
              <a:t>下载：</a:t>
            </a:r>
            <a:endParaRPr lang="zh-CN" altLang="en-US"/>
          </a:p>
          <a:p>
            <a:r>
              <a:rPr lang="zh-CN" altLang="en-US"/>
              <a:t>https://vault.centos.org/7.6.1810/isos/x86_64/CentOS-7-x86_64-DVD-1810.iso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或者从课程资料中获取安装</a:t>
            </a:r>
            <a:r>
              <a:rPr lang="zh-CN" altLang="en-US"/>
              <a:t>包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005" y="2470785"/>
            <a:ext cx="7839075" cy="2038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VMware Fusion Pro</a:t>
            </a:r>
            <a:r>
              <a:t>安装</a:t>
            </a:r>
            <a:r>
              <a:rPr lang="en-US" altLang="zh-CN"/>
              <a:t>CentOS</a:t>
            </a:r>
            <a:r>
              <a:t>系统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8655" y="1424305"/>
            <a:ext cx="1504950" cy="16287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55" y="1424305"/>
            <a:ext cx="6096000" cy="50768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55" y="1424305"/>
            <a:ext cx="6096000" cy="50768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5" y="1424305"/>
            <a:ext cx="6096000" cy="50768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55" y="1424305"/>
            <a:ext cx="6096000" cy="507682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655" y="1457325"/>
            <a:ext cx="7620000" cy="42672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8405" y="1924050"/>
            <a:ext cx="2476500" cy="33337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655" y="1424940"/>
            <a:ext cx="8060690" cy="507619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0565" y="1423670"/>
            <a:ext cx="6406515" cy="510984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8655" y="1423670"/>
            <a:ext cx="9083040" cy="51098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3978910"/>
            <a:ext cx="410210" cy="41021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5019675" y="1029335"/>
            <a:ext cx="5973445" cy="4004945"/>
          </a:xfrm>
        </p:spPr>
        <p:txBody>
          <a:bodyPr/>
          <a:lstStyle/>
          <a:p>
            <a:pPr algn="l"/>
            <a:r>
              <a:rPr kumimoji="1" lang="zh-CN" sz="1600" dirty="0">
                <a:sym typeface="+mn-ea"/>
              </a:rPr>
              <a:t>操作系统概述</a:t>
            </a:r>
            <a:endParaRPr kumimoji="1" 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初识</a:t>
            </a:r>
            <a:r>
              <a:rPr kumimoji="1" lang="en-US" altLang="zh-CN" sz="1600" dirty="0">
                <a:sym typeface="+mn-ea"/>
              </a:rPr>
              <a:t>Linux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虚拟机介绍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VMware WorkStation</a:t>
            </a:r>
            <a:r>
              <a:rPr kumimoji="1" lang="zh-CN" altLang="en-US" sz="1600" dirty="0">
                <a:sym typeface="+mn-ea"/>
              </a:rPr>
              <a:t>安装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在</a:t>
            </a:r>
            <a:r>
              <a:rPr kumimoji="1" lang="en-US" altLang="zh-CN" sz="1600" dirty="0">
                <a:sym typeface="+mn-ea"/>
              </a:rPr>
              <a:t>VMware</a:t>
            </a:r>
            <a:r>
              <a:rPr kumimoji="1" lang="zh-CN" altLang="en-US" sz="1600" dirty="0">
                <a:sym typeface="+mn-ea"/>
              </a:rPr>
              <a:t>上安装</a:t>
            </a:r>
            <a:r>
              <a:rPr kumimoji="1" lang="en-US" altLang="zh-CN" sz="1600" dirty="0">
                <a:sym typeface="+mn-ea"/>
              </a:rPr>
              <a:t>Linux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Mac</a:t>
            </a:r>
            <a:r>
              <a:rPr kumimoji="1" lang="zh-CN" altLang="en-US" sz="1600" dirty="0">
                <a:sym typeface="+mn-ea"/>
              </a:rPr>
              <a:t>系统</a:t>
            </a:r>
            <a:r>
              <a:rPr kumimoji="1" lang="en-US" altLang="zh-CN" sz="1600" dirty="0">
                <a:sym typeface="+mn-ea"/>
              </a:rPr>
              <a:t>Linux</a:t>
            </a:r>
            <a:r>
              <a:rPr kumimoji="1" lang="zh-CN" altLang="en-US" sz="1600" dirty="0">
                <a:sym typeface="+mn-ea"/>
              </a:rPr>
              <a:t>环境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远程连接</a:t>
            </a:r>
            <a:r>
              <a:rPr kumimoji="1" lang="en-US" altLang="zh-CN" sz="1600" dirty="0">
                <a:solidFill>
                  <a:srgbClr val="FF0000"/>
                </a:solidFill>
                <a:sym typeface="+mn-ea"/>
              </a:rPr>
              <a:t>Linux</a:t>
            </a:r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系统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拓展：</a:t>
            </a:r>
            <a:r>
              <a:rPr kumimoji="1" lang="en-US" altLang="zh-CN" sz="1600" dirty="0">
                <a:sym typeface="+mn-ea"/>
              </a:rPr>
              <a:t>WSL</a:t>
            </a:r>
            <a:r>
              <a:rPr kumimoji="1" lang="zh-CN" altLang="en-US" sz="1600" dirty="0">
                <a:sym typeface="+mn-ea"/>
              </a:rPr>
              <a:t>（</a:t>
            </a:r>
            <a:r>
              <a:rPr kumimoji="1" lang="en-US" altLang="zh-CN" sz="1600" dirty="0">
                <a:sym typeface="+mn-ea"/>
              </a:rPr>
              <a:t>Windows Subsystem for Linux</a:t>
            </a:r>
            <a:r>
              <a:rPr kumimoji="1" lang="zh-CN" altLang="en-US" sz="1600" dirty="0">
                <a:sym typeface="+mn-ea"/>
              </a:rPr>
              <a:t>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扩展：虚拟机快照</a:t>
            </a:r>
            <a:endParaRPr kumimoji="1" lang="zh-CN" altLang="en-US" sz="1600" dirty="0"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掌握操作系统的图形化、命令行</a:t>
            </a:r>
            <a:r>
              <a:rPr lang="en-US" altLang="zh-CN">
                <a:solidFill>
                  <a:srgbClr val="FF0000"/>
                </a:solidFill>
              </a:rPr>
              <a:t>2</a:t>
            </a:r>
            <a:r>
              <a:rPr lang="zh-CN" altLang="en-US">
                <a:solidFill>
                  <a:srgbClr val="FF0000"/>
                </a:solidFill>
              </a:rPr>
              <a:t>种操作</a:t>
            </a:r>
            <a:r>
              <a:rPr lang="zh-CN" altLang="en-US">
                <a:solidFill>
                  <a:srgbClr val="FF0000"/>
                </a:solidFill>
              </a:rPr>
              <a:t>模式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理解为什么使用命令行操作</a:t>
            </a:r>
            <a:r>
              <a:rPr lang="en-US" altLang="zh-CN">
                <a:solidFill>
                  <a:srgbClr val="FF0000"/>
                </a:solidFill>
              </a:rPr>
              <a:t>Linux</a:t>
            </a:r>
            <a:r>
              <a:rPr lang="zh-CN" altLang="en-US">
                <a:solidFill>
                  <a:srgbClr val="FF0000"/>
                </a:solidFill>
              </a:rPr>
              <a:t>系统</a:t>
            </a:r>
            <a:endParaRPr lang="zh-CN" altLang="en-US">
              <a:solidFill>
                <a:srgbClr val="FF0000"/>
              </a:solidFill>
            </a:endParaRPr>
          </a:p>
          <a:p>
            <a:r>
              <a:rPr lang="zh-CN" altLang="en-US">
                <a:solidFill>
                  <a:srgbClr val="FF0000"/>
                </a:solidFill>
              </a:rPr>
              <a:t>掌握使用</a:t>
            </a:r>
            <a:r>
              <a:rPr lang="en-US" altLang="zh-CN">
                <a:solidFill>
                  <a:srgbClr val="FF0000"/>
                </a:solidFill>
              </a:rPr>
              <a:t>FinalShell</a:t>
            </a:r>
            <a:r>
              <a:rPr lang="zh-CN" altLang="en-US">
                <a:solidFill>
                  <a:srgbClr val="FF0000"/>
                </a:solidFill>
              </a:rPr>
              <a:t>软件连接</a:t>
            </a:r>
            <a:r>
              <a:rPr lang="en-US" altLang="zh-CN">
                <a:solidFill>
                  <a:srgbClr val="FF0000"/>
                </a:solidFill>
              </a:rPr>
              <a:t>Linux</a:t>
            </a:r>
            <a:r>
              <a:rPr lang="zh-CN" altLang="en-US">
                <a:solidFill>
                  <a:srgbClr val="FF0000"/>
                </a:solidFill>
              </a:rPr>
              <a:t>操作</a:t>
            </a:r>
            <a:r>
              <a:rPr lang="zh-CN" altLang="en-US">
                <a:solidFill>
                  <a:srgbClr val="FF0000"/>
                </a:solidFill>
              </a:rPr>
              <a:t>系统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图形化、</a:t>
            </a:r>
            <a:r>
              <a:rPr lang="zh-CN" altLang="en-US"/>
              <a:t>命令行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对于操作系统的使用，有</a:t>
            </a:r>
            <a:r>
              <a:rPr lang="en-US" altLang="zh-CN"/>
              <a:t>2</a:t>
            </a:r>
            <a:r>
              <a:rPr lang="zh-CN" altLang="en-US"/>
              <a:t>种使用</a:t>
            </a:r>
            <a:r>
              <a:rPr lang="zh-CN" altLang="en-US"/>
              <a:t>形式：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图形化页面使用操作</a:t>
            </a:r>
            <a:r>
              <a:rPr lang="zh-CN" altLang="en-US"/>
              <a:t>系统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以命令的形式</a:t>
            </a:r>
            <a:r>
              <a:rPr lang="zh-CN" altLang="en-US"/>
              <a:t>使用操作</a:t>
            </a:r>
            <a:r>
              <a:rPr lang="zh-CN" altLang="en-US"/>
              <a:t>系统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不论是</a:t>
            </a:r>
            <a:r>
              <a:rPr lang="en-US" altLang="zh-CN"/>
              <a:t>Windows</a:t>
            </a:r>
            <a:r>
              <a:rPr lang="zh-CN" altLang="en-US"/>
              <a:t>还是</a:t>
            </a:r>
            <a:r>
              <a:rPr lang="en-US" altLang="zh-CN"/>
              <a:t>Linux</a:t>
            </a:r>
            <a:r>
              <a:rPr lang="zh-CN" altLang="en-US"/>
              <a:t>亦或是</a:t>
            </a:r>
            <a:r>
              <a:rPr lang="en-US" altLang="zh-CN"/>
              <a:t>MacOS</a:t>
            </a:r>
            <a:r>
              <a:rPr lang="zh-CN" altLang="en-US"/>
              <a:t>系统，都是支持这两种使用</a:t>
            </a:r>
            <a:r>
              <a:rPr lang="zh-CN" altLang="en-US"/>
              <a:t>形式。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图形化：使用操作系统提供的图形化页面，以获得</a:t>
            </a:r>
            <a:r>
              <a:rPr lang="zh-CN" altLang="en-US" b="1">
                <a:latin typeface="Alibaba PuHuiTi Bold" panose="00020600040101010101" charset="-122"/>
                <a:ea typeface="Alibaba PuHuiTi Bold" panose="00020600040101010101" charset="-122"/>
              </a:rPr>
              <a:t>图形化反馈</a:t>
            </a:r>
            <a:r>
              <a:rPr lang="zh-CN" altLang="en-US"/>
              <a:t>的</a:t>
            </a:r>
            <a:r>
              <a:rPr lang="zh-CN" altLang="en-US"/>
              <a:t>形式去使用操作</a:t>
            </a:r>
            <a:r>
              <a:rPr lang="zh-CN" altLang="en-US"/>
              <a:t>系统。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命令行：使用操作系统提供的各类命令，以获得</a:t>
            </a:r>
            <a:r>
              <a:rPr lang="zh-CN" altLang="en-US" b="1">
                <a:latin typeface="Alibaba PuHuiTi Bold" panose="00020600040101010101" charset="-122"/>
                <a:ea typeface="Alibaba PuHuiTi Bold" panose="00020600040101010101" charset="-122"/>
              </a:rPr>
              <a:t>字符反馈</a:t>
            </a:r>
            <a:r>
              <a:rPr lang="zh-CN" altLang="en-US"/>
              <a:t>的形式去使用操作</a:t>
            </a:r>
            <a:r>
              <a:rPr lang="zh-CN" altLang="en-US"/>
              <a:t>系统。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 descr="01 (4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0" y="5304155"/>
            <a:ext cx="1370330" cy="137033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Windows</a:t>
            </a:r>
            <a:r>
              <a:t>系统的图形化和</a:t>
            </a:r>
            <a:r>
              <a:t>命令行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2219960"/>
            <a:ext cx="5166360" cy="30918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320" y="2219960"/>
            <a:ext cx="5166360" cy="3091815"/>
          </a:xfrm>
          <a:prstGeom prst="rect">
            <a:avLst/>
          </a:prstGeom>
        </p:spPr>
      </p:pic>
      <p:pic>
        <p:nvPicPr>
          <p:cNvPr id="5" name="图片 4" descr="01 (40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5675" y="5320665"/>
            <a:ext cx="1342390" cy="134239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Linux</a:t>
            </a:r>
            <a:r>
              <a:t>系统的图形化和</a:t>
            </a:r>
            <a:r>
              <a:t>命令行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6245" y="2087880"/>
            <a:ext cx="5504180" cy="32943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425" y="2087880"/>
            <a:ext cx="5504180" cy="3294380"/>
          </a:xfrm>
          <a:prstGeom prst="rect">
            <a:avLst/>
          </a:prstGeom>
        </p:spPr>
      </p:pic>
      <p:pic>
        <p:nvPicPr>
          <p:cNvPr id="5" name="图片 4" descr="01 (4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2490" y="5220970"/>
            <a:ext cx="1452880" cy="145288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使用命令行学习</a:t>
            </a:r>
            <a:r>
              <a:rPr lang="en-US" altLang="zh-CN"/>
              <a:t>Linux</a:t>
            </a:r>
            <a:r>
              <a:t>系统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尽管图形化是大多数人使用计算机的第一选择，但是在</a:t>
            </a:r>
            <a:r>
              <a:rPr lang="en-US" altLang="zh-CN"/>
              <a:t>Linux</a:t>
            </a:r>
            <a:r>
              <a:rPr lang="zh-CN" altLang="en-US"/>
              <a:t>操作系统</a:t>
            </a:r>
            <a:r>
              <a:rPr lang="zh-CN" altLang="en-US"/>
              <a:t>上，这个选择被反转</a:t>
            </a:r>
            <a:r>
              <a:rPr lang="zh-CN" altLang="en-US"/>
              <a:t>了。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无论是企业开发亦或是个人开发，使用</a:t>
            </a:r>
            <a:r>
              <a:rPr lang="en-US" altLang="zh-CN"/>
              <a:t>Linux</a:t>
            </a:r>
            <a:r>
              <a:rPr lang="zh-CN" altLang="en-US"/>
              <a:t>操作系统，多数都是使用的：</a:t>
            </a:r>
            <a:r>
              <a:rPr lang="zh-CN" altLang="en-US" sz="2000" b="1">
                <a:latin typeface="Alibaba PuHuiTi Bold" panose="00020600040101010101" charset="-122"/>
                <a:ea typeface="Alibaba PuHuiTi Bold" panose="00020600040101010101" charset="-122"/>
              </a:rPr>
              <a:t>命令行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这是因为：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Linux</a:t>
            </a:r>
            <a:r>
              <a:rPr lang="zh-CN" altLang="en-US"/>
              <a:t>从诞生至今，在图形化页面的优化上，并未重点发力。所以</a:t>
            </a:r>
            <a:r>
              <a:rPr lang="en-US" altLang="zh-CN"/>
              <a:t>Linux</a:t>
            </a:r>
            <a:r>
              <a:rPr lang="zh-CN" altLang="en-US"/>
              <a:t>操作系统的图形化页面：不好用、</a:t>
            </a:r>
            <a:r>
              <a:rPr lang="zh-CN" altLang="en-US"/>
              <a:t>不稳定。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在开发中，使用命令行形式，效率更高，更加直观，并且资源占用低，程序运行</a:t>
            </a:r>
            <a:r>
              <a:rPr lang="zh-CN" altLang="en-US"/>
              <a:t>更稳定。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所以，后续的课程学习中，我们：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除了在少数需要做对照讲解的情况下会使用图形化</a:t>
            </a:r>
            <a:r>
              <a:rPr lang="zh-CN" altLang="en-US"/>
              <a:t>页面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其余</a:t>
            </a:r>
            <a:r>
              <a:rPr lang="zh-CN" altLang="en-US">
                <a:solidFill>
                  <a:srgbClr val="FF0000"/>
                </a:solidFill>
              </a:rPr>
              <a:t>都会以命令行</a:t>
            </a:r>
            <a:r>
              <a:rPr lang="zh-CN" altLang="en-US"/>
              <a:t>的形式去讲解</a:t>
            </a:r>
            <a:r>
              <a:rPr lang="en-US" altLang="zh-CN"/>
              <a:t>Linux</a:t>
            </a:r>
            <a:r>
              <a:rPr lang="zh-CN" altLang="en-US"/>
              <a:t>操作系统的使用</a:t>
            </a:r>
            <a:endParaRPr lang="zh-CN" altLang="en-US"/>
          </a:p>
        </p:txBody>
      </p:sp>
      <p:pic>
        <p:nvPicPr>
          <p:cNvPr id="4" name="图片 3" descr="01 (4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1855" y="5230495"/>
            <a:ext cx="1443990" cy="14439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FinalShell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既然决定使用命令行去学习</a:t>
            </a:r>
            <a:r>
              <a:rPr lang="en-US" altLang="zh-CN"/>
              <a:t>Linux</a:t>
            </a:r>
            <a:r>
              <a:rPr lang="zh-CN" altLang="en-US"/>
              <a:t>操作系统，那么就必须丰富一下工具的</a:t>
            </a:r>
            <a:r>
              <a:rPr lang="zh-CN" altLang="en-US"/>
              <a:t>使用。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我们使用</a:t>
            </a:r>
            <a:r>
              <a:rPr lang="en-US" altLang="zh-CN"/>
              <a:t>VMware</a:t>
            </a:r>
            <a:r>
              <a:rPr lang="zh-CN" altLang="en-US"/>
              <a:t>可以得到</a:t>
            </a:r>
            <a:r>
              <a:rPr lang="en-US" altLang="zh-CN"/>
              <a:t>Linux</a:t>
            </a:r>
            <a:r>
              <a:rPr lang="zh-CN" altLang="en-US"/>
              <a:t>虚拟机，但是在</a:t>
            </a:r>
            <a:r>
              <a:rPr lang="en-US" altLang="zh-CN"/>
              <a:t>VMware</a:t>
            </a:r>
            <a:r>
              <a:rPr lang="zh-CN" altLang="en-US"/>
              <a:t>中操作</a:t>
            </a:r>
            <a:r>
              <a:rPr lang="en-US" altLang="zh-CN"/>
              <a:t>Linux</a:t>
            </a:r>
            <a:r>
              <a:rPr lang="zh-CN" altLang="en-US"/>
              <a:t>的命令行页面不太方便，</a:t>
            </a:r>
            <a:r>
              <a:rPr lang="zh-CN" altLang="en-US"/>
              <a:t>主要是：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内容的复制、粘贴跨越</a:t>
            </a:r>
            <a:r>
              <a:rPr lang="en-US" altLang="zh-CN"/>
              <a:t>VMware</a:t>
            </a:r>
            <a:r>
              <a:rPr lang="zh-CN" altLang="en-US"/>
              <a:t>不方便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文件的上传、下载跨越</a:t>
            </a:r>
            <a:r>
              <a:rPr lang="en-US" altLang="zh-CN"/>
              <a:t>VMware</a:t>
            </a:r>
            <a:r>
              <a:rPr lang="zh-CN" altLang="en-US"/>
              <a:t>不</a:t>
            </a:r>
            <a:r>
              <a:rPr lang="zh-CN" altLang="en-US"/>
              <a:t>方便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也就是和</a:t>
            </a:r>
            <a:r>
              <a:rPr lang="en-US" altLang="zh-CN"/>
              <a:t>Linux</a:t>
            </a:r>
            <a:r>
              <a:rPr lang="zh-CN" altLang="en-US"/>
              <a:t>系统的</a:t>
            </a:r>
            <a:r>
              <a:rPr lang="zh-CN" altLang="en-US"/>
              <a:t>各类交互，跨越</a:t>
            </a:r>
            <a:r>
              <a:rPr lang="en-US" altLang="zh-CN"/>
              <a:t>VMware</a:t>
            </a:r>
            <a:r>
              <a:rPr lang="zh-CN" altLang="en-US"/>
              <a:t>不</a:t>
            </a:r>
            <a:r>
              <a:rPr lang="zh-CN" altLang="en-US"/>
              <a:t>方便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我们可以通过第三方软件，</a:t>
            </a:r>
            <a:r>
              <a:rPr lang="en-US" altLang="zh-CN"/>
              <a:t>FinalShell</a:t>
            </a:r>
            <a:r>
              <a:rPr lang="zh-CN" altLang="en-US"/>
              <a:t>，远程连接到</a:t>
            </a:r>
            <a:r>
              <a:rPr lang="en-US" altLang="zh-CN"/>
              <a:t>Linux</a:t>
            </a:r>
            <a:r>
              <a:rPr lang="zh-CN" altLang="en-US"/>
              <a:t>操作系统</a:t>
            </a:r>
            <a:r>
              <a:rPr lang="zh-CN" altLang="en-US"/>
              <a:t>之上。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并通过</a:t>
            </a:r>
            <a:r>
              <a:rPr lang="en-US" altLang="zh-CN"/>
              <a:t>FinalShell</a:t>
            </a:r>
            <a:r>
              <a:rPr lang="zh-CN" altLang="en-US"/>
              <a:t>去操作</a:t>
            </a:r>
            <a:r>
              <a:rPr lang="en-US" altLang="zh-CN"/>
              <a:t>Linux</a:t>
            </a:r>
            <a:r>
              <a:rPr lang="zh-CN" altLang="en-US"/>
              <a:t>系统。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这样各类操作都会十分的</a:t>
            </a:r>
            <a:r>
              <a:rPr lang="zh-CN" altLang="en-US"/>
              <a:t>方便。</a:t>
            </a:r>
            <a:endParaRPr lang="zh-CN" altLang="en-US"/>
          </a:p>
        </p:txBody>
      </p:sp>
      <p:pic>
        <p:nvPicPr>
          <p:cNvPr id="4" name="图片 3" descr="01 (4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8960" y="4890770"/>
            <a:ext cx="1811655" cy="181165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FinalShell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FinalShell</a:t>
            </a:r>
            <a:r>
              <a:rPr lang="zh-CN" altLang="en-US"/>
              <a:t>的下载地址</a:t>
            </a:r>
            <a:r>
              <a:rPr lang="zh-CN" altLang="en-US"/>
              <a:t>为：</a:t>
            </a:r>
            <a:endParaRPr lang="zh-CN" altLang="en-US"/>
          </a:p>
          <a:p>
            <a:r>
              <a:rPr lang="en-US" altLang="zh-CN"/>
              <a:t>Windows: </a:t>
            </a:r>
            <a:endParaRPr lang="en-US" altLang="zh-CN"/>
          </a:p>
          <a:p>
            <a:r>
              <a:rPr lang="zh-CN" altLang="en-US"/>
              <a:t>http://www.hostbuf.com/downloads/finalshell_install.exe</a:t>
            </a:r>
            <a:endParaRPr lang="zh-CN" altLang="en-US"/>
          </a:p>
          <a:p>
            <a:r>
              <a:rPr lang="en-US" altLang="zh-CN"/>
              <a:t>Mac: </a:t>
            </a:r>
            <a:endParaRPr lang="en-US" altLang="zh-CN"/>
          </a:p>
          <a:p>
            <a:r>
              <a:rPr lang="en-US" altLang="zh-CN"/>
              <a:t>http://www.hostbuf.com/downloads/finalshell_install.pkg</a:t>
            </a:r>
            <a:endParaRPr lang="en-US" altLang="zh-CN"/>
          </a:p>
          <a:p>
            <a:r>
              <a:rPr lang="zh-CN" altLang="en-US"/>
              <a:t>下载完成后双击</a:t>
            </a:r>
            <a:r>
              <a:rPr lang="zh-CN" altLang="en-US">
                <a:sym typeface="+mn-ea"/>
              </a:rPr>
              <a:t>打开</a:t>
            </a:r>
            <a:r>
              <a:rPr lang="zh-CN" altLang="en-US"/>
              <a:t>安装。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 descr="01 (4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6575" y="4823460"/>
            <a:ext cx="1871345" cy="187134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Windows</a:t>
            </a:r>
            <a:r>
              <a:t>系统安装</a:t>
            </a:r>
            <a:r>
              <a:rPr lang="en-US" altLang="zh-CN"/>
              <a:t>FinalShell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按照提示一直下一步即可安装</a:t>
            </a:r>
            <a:r>
              <a:rPr lang="zh-CN" altLang="en-US"/>
              <a:t>完成。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2274570"/>
            <a:ext cx="4752975" cy="3429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" y="2274570"/>
            <a:ext cx="4752975" cy="3429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565" y="2284095"/>
            <a:ext cx="4752975" cy="3429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565" y="2284095"/>
            <a:ext cx="4752975" cy="34385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565" y="2536825"/>
            <a:ext cx="4362450" cy="29337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565" y="2274570"/>
            <a:ext cx="4752975" cy="36957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565" y="2274570"/>
            <a:ext cx="4752975" cy="36957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0565" y="2274570"/>
            <a:ext cx="4752975" cy="36957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0565" y="2284095"/>
            <a:ext cx="4752975" cy="34290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565" y="2274570"/>
            <a:ext cx="4752975" cy="34290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0565" y="2278380"/>
            <a:ext cx="5097780" cy="3425190"/>
          </a:xfrm>
          <a:prstGeom prst="rect">
            <a:avLst/>
          </a:prstGeom>
        </p:spPr>
      </p:pic>
      <p:pic>
        <p:nvPicPr>
          <p:cNvPr id="15" name="图片 14" descr="01 (46)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39780" y="5158105"/>
            <a:ext cx="1536700" cy="1536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Mac</a:t>
            </a:r>
            <a:r>
              <a:t>系统安装</a:t>
            </a:r>
            <a:r>
              <a:rPr lang="en-US" altLang="zh-CN"/>
              <a:t>FinalShell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打开下载的</a:t>
            </a:r>
            <a:r>
              <a:rPr lang="en-US" altLang="zh-CN"/>
              <a:t>pkg</a:t>
            </a:r>
            <a:r>
              <a:rPr lang="zh-CN" altLang="en-US"/>
              <a:t>文件，按照提示下一步即可安装</a:t>
            </a:r>
            <a:r>
              <a:rPr lang="zh-CN" altLang="en-US"/>
              <a:t>成功。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2148840"/>
            <a:ext cx="5905500" cy="42291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" y="2148840"/>
            <a:ext cx="5905500" cy="42291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245" y="2954020"/>
            <a:ext cx="2390775" cy="2619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" y="2149475"/>
            <a:ext cx="5905500" cy="42291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200" y="2149475"/>
            <a:ext cx="5905500" cy="42291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5700" y="3148965"/>
            <a:ext cx="2476500" cy="22288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200" y="2148840"/>
            <a:ext cx="6793230" cy="4224655"/>
          </a:xfrm>
          <a:prstGeom prst="rect">
            <a:avLst/>
          </a:prstGeom>
        </p:spPr>
      </p:pic>
      <p:pic>
        <p:nvPicPr>
          <p:cNvPr id="13" name="图片 12" descr="01 (47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8465" y="4695825"/>
            <a:ext cx="2019935" cy="20199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连接到</a:t>
            </a:r>
            <a:r>
              <a:rPr lang="en-US" altLang="zh-CN">
                <a:sym typeface="+mn-ea"/>
              </a:rPr>
              <a:t>Linux</a:t>
            </a:r>
            <a:r>
              <a:rPr>
                <a:sym typeface="+mn-ea"/>
              </a:rPr>
              <a:t>系统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首先，先查询到</a:t>
            </a:r>
            <a:r>
              <a:rPr lang="en-US" altLang="zh-CN"/>
              <a:t>Linux</a:t>
            </a:r>
            <a:r>
              <a:rPr lang="zh-CN" altLang="en-US"/>
              <a:t>系统的</a:t>
            </a:r>
            <a:r>
              <a:rPr lang="en-US" altLang="zh-CN"/>
              <a:t>IP</a:t>
            </a:r>
            <a:r>
              <a:rPr lang="zh-CN" altLang="en-US"/>
              <a:t>地址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940" y="2193925"/>
            <a:ext cx="5646420" cy="42278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40" y="2193925"/>
            <a:ext cx="5647055" cy="422846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940" y="2193925"/>
            <a:ext cx="5647055" cy="42284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40" y="2193925"/>
            <a:ext cx="5647690" cy="4229100"/>
          </a:xfrm>
          <a:prstGeom prst="rect">
            <a:avLst/>
          </a:prstGeom>
        </p:spPr>
      </p:pic>
      <p:pic>
        <p:nvPicPr>
          <p:cNvPr id="9" name="图片 8" descr="01 (48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5460" y="5158740"/>
            <a:ext cx="1536700" cy="1536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连接到</a:t>
            </a:r>
            <a:r>
              <a:rPr lang="en-US" altLang="zh-CN"/>
              <a:t>Linux</a:t>
            </a:r>
            <a:r>
              <a:t>系统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打开</a:t>
            </a:r>
            <a:r>
              <a:rPr lang="en-US" altLang="zh-CN"/>
              <a:t>Finshell</a:t>
            </a:r>
            <a:r>
              <a:rPr lang="zh-CN" altLang="en-US"/>
              <a:t>软件，配置到</a:t>
            </a:r>
            <a:r>
              <a:rPr lang="en-US" altLang="zh-CN"/>
              <a:t>Linux</a:t>
            </a:r>
            <a:r>
              <a:rPr lang="zh-CN" altLang="en-US"/>
              <a:t>系统的连接（</a:t>
            </a:r>
            <a:r>
              <a:rPr lang="en-US" altLang="zh-CN"/>
              <a:t>Mac</a:t>
            </a:r>
            <a:r>
              <a:rPr lang="zh-CN" altLang="en-US"/>
              <a:t>和</a:t>
            </a:r>
            <a:r>
              <a:rPr lang="en-US" altLang="zh-CN"/>
              <a:t>Windows</a:t>
            </a:r>
            <a:r>
              <a:rPr lang="zh-CN" altLang="en-US"/>
              <a:t>系统的操作一致，不再分开</a:t>
            </a:r>
            <a:r>
              <a:rPr lang="zh-CN" altLang="en-US"/>
              <a:t>赘述）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370" y="2379980"/>
            <a:ext cx="7658100" cy="10382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370" y="3729355"/>
            <a:ext cx="6353175" cy="2695575"/>
          </a:xfrm>
          <a:prstGeom prst="rect">
            <a:avLst/>
          </a:prstGeom>
        </p:spPr>
      </p:pic>
      <p:pic>
        <p:nvPicPr>
          <p:cNvPr id="6" name="图片 5" descr="01 (49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3220" y="4864100"/>
            <a:ext cx="1861185" cy="186118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连接到</a:t>
            </a:r>
            <a:r>
              <a:rPr lang="en-US" altLang="zh-CN">
                <a:sym typeface="+mn-ea"/>
              </a:rPr>
              <a:t>Linux</a:t>
            </a:r>
            <a:r>
              <a:rPr>
                <a:sym typeface="+mn-ea"/>
              </a:rPr>
              <a:t>系统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按图示配置连接，并点击</a:t>
            </a:r>
            <a:r>
              <a:rPr lang="zh-CN" altLang="en-US"/>
              <a:t>确定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2115185"/>
            <a:ext cx="4495800" cy="3990975"/>
          </a:xfrm>
          <a:prstGeom prst="rect">
            <a:avLst/>
          </a:prstGeom>
        </p:spPr>
      </p:pic>
      <p:pic>
        <p:nvPicPr>
          <p:cNvPr id="5" name="图片 4" descr="01 (50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6740" y="4894580"/>
            <a:ext cx="1750060" cy="175006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连接到</a:t>
            </a:r>
            <a:r>
              <a:rPr lang="en-US" altLang="zh-CN">
                <a:sym typeface="+mn-ea"/>
              </a:rPr>
              <a:t>Linux</a:t>
            </a:r>
            <a:r>
              <a:rPr>
                <a:sym typeface="+mn-ea"/>
              </a:rPr>
              <a:t>系统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打开连接管理器</a:t>
            </a:r>
            <a:br>
              <a:rPr lang="zh-CN" altLang="en-US"/>
            </a:b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双击刚刚配置好的</a:t>
            </a:r>
            <a:r>
              <a:rPr lang="zh-CN" altLang="en-US"/>
              <a:t>连接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005" y="3729355"/>
            <a:ext cx="6353175" cy="26955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b="4893"/>
          <a:stretch>
            <a:fillRect/>
          </a:stretch>
        </p:blipFill>
        <p:spPr>
          <a:xfrm>
            <a:off x="802005" y="2176780"/>
            <a:ext cx="7658100" cy="987425"/>
          </a:xfrm>
          <a:prstGeom prst="rect">
            <a:avLst/>
          </a:prstGeom>
        </p:spPr>
      </p:pic>
      <p:pic>
        <p:nvPicPr>
          <p:cNvPr id="6" name="图片 5" descr="01 (5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7530" y="4874895"/>
            <a:ext cx="1748790" cy="174879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连接到</a:t>
            </a:r>
            <a:r>
              <a:rPr lang="en-US" altLang="zh-CN">
                <a:sym typeface="+mn-ea"/>
              </a:rPr>
              <a:t>Linux</a:t>
            </a:r>
            <a:r>
              <a:rPr>
                <a:sym typeface="+mn-ea"/>
              </a:rPr>
              <a:t>系统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点击接受并</a:t>
            </a:r>
            <a:r>
              <a:rPr lang="zh-CN" altLang="en-US"/>
              <a:t>保存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2146300"/>
            <a:ext cx="3571875" cy="1933575"/>
          </a:xfrm>
          <a:prstGeom prst="rect">
            <a:avLst/>
          </a:prstGeom>
        </p:spPr>
      </p:pic>
      <p:pic>
        <p:nvPicPr>
          <p:cNvPr id="6" name="图片 5" descr="01 (5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0340" y="4507865"/>
            <a:ext cx="2125980" cy="212598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连接到</a:t>
            </a:r>
            <a:r>
              <a:rPr lang="en-US" altLang="zh-CN">
                <a:sym typeface="+mn-ea"/>
              </a:rPr>
              <a:t>Linux</a:t>
            </a:r>
            <a:r>
              <a:rPr>
                <a:sym typeface="+mn-ea"/>
              </a:rPr>
              <a:t>系统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如图连接成功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690" y="2248535"/>
            <a:ext cx="5521325" cy="343344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725285" y="3677285"/>
            <a:ext cx="4206875" cy="132207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注意：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纤黑体" panose="02000000000000000000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Linux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虚拟机如果重启，有可能，发生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IP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改变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纤黑体" panose="02000000000000000000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如果改变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IP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需要在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FinalShell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中修改连接的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IP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地址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纤黑体" panose="02000000000000000000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纤黑体" panose="02000000000000000000" charset="-122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后面我们会讲解如何固定</a:t>
            </a:r>
            <a:r>
              <a:rPr lang="en-US" altLang="zh-CN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IP</a:t>
            </a:r>
            <a:r>
              <a:rPr lang="zh-CN" altLang="en-US" sz="1600" b="1" dirty="0">
                <a:solidFill>
                  <a:srgbClr val="FF0000"/>
                </a:solidFill>
                <a:latin typeface="纤黑体" panose="02000000000000000000" charset="-122"/>
                <a:ea typeface="纤黑体" panose="02000000000000000000" charset="-122"/>
                <a:cs typeface="纤黑体" panose="02000000000000000000" charset="-122"/>
                <a:sym typeface="纤黑体" panose="02000000000000000000" charset="-122"/>
              </a:rPr>
              <a:t>地址不发生改变</a:t>
            </a:r>
            <a:endParaRPr lang="zh-CN" altLang="en-US" sz="1600" b="1" dirty="0">
              <a:solidFill>
                <a:srgbClr val="FF0000"/>
              </a:solidFill>
              <a:latin typeface="纤黑体" panose="02000000000000000000" charset="-122"/>
              <a:ea typeface="纤黑体" panose="02000000000000000000" charset="-122"/>
              <a:cs typeface="纤黑体" panose="02000000000000000000" charset="-122"/>
              <a:sym typeface="纤黑体" panose="02000000000000000000" charset="-122"/>
            </a:endParaRPr>
          </a:p>
        </p:txBody>
      </p:sp>
      <p:pic>
        <p:nvPicPr>
          <p:cNvPr id="7" name="图片 6" descr="01 (5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8105" y="4989195"/>
            <a:ext cx="1953895" cy="195389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什么是图形化操作，什么是命令行</a:t>
            </a:r>
            <a:r>
              <a:rPr lang="zh-CN" altLang="en-US"/>
              <a:t>操作？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图形化操作是指使用操作系统附带的图形化页面，以图形化的窗口形式获得操作反馈，从而对操作系统进行操作、使用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命令行操作是指使用各种命令，以文字字符的形式获得操作反馈，从而对操作系统进行操作、使用</a:t>
            </a:r>
            <a:endParaRPr lang="zh-CN" altLang="en-US" sz="14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/>
              <a:t>2. </a:t>
            </a:r>
            <a:r>
              <a:rPr lang="zh-CN" altLang="en-US"/>
              <a:t>为什么</a:t>
            </a:r>
            <a:r>
              <a:rPr lang="en-US" altLang="zh-CN"/>
              <a:t>Linux</a:t>
            </a:r>
            <a:r>
              <a:rPr lang="zh-CN" altLang="en-US"/>
              <a:t>操作系统要选择命令行形式</a:t>
            </a:r>
            <a:r>
              <a:rPr lang="zh-CN" altLang="en-US"/>
              <a:t>呢？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/>
              <a:t>Linux</a:t>
            </a:r>
            <a:r>
              <a:rPr lang="zh-CN" altLang="en-US" sz="1400"/>
              <a:t>操作系统的图形化页面不好用且不稳定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使用命令行的形式操作更加高效且稳定资源占用低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企业和开发者都选择命令行，所以我们也学习命令行</a:t>
            </a:r>
            <a:endParaRPr lang="zh-CN" altLang="en-US" sz="14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3. </a:t>
            </a:r>
            <a:r>
              <a:rPr lang="zh-CN" altLang="en-US"/>
              <a:t>为什么使用</a:t>
            </a:r>
            <a:r>
              <a:rPr lang="en-US" altLang="zh-CN"/>
              <a:t>FinalShell</a:t>
            </a:r>
            <a:r>
              <a:rPr lang="zh-CN" altLang="en-US"/>
              <a:t>连接</a:t>
            </a:r>
            <a:r>
              <a:rPr lang="en-US" altLang="zh-CN"/>
              <a:t>Linux</a:t>
            </a:r>
            <a:r>
              <a:rPr lang="zh-CN" altLang="en-US"/>
              <a:t>去</a:t>
            </a:r>
            <a:r>
              <a:rPr lang="zh-CN" altLang="en-US"/>
              <a:t>使用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操作</a:t>
            </a:r>
            <a:r>
              <a:rPr lang="en-US" altLang="zh-CN" sz="1400"/>
              <a:t>Linux</a:t>
            </a:r>
            <a:r>
              <a:rPr lang="zh-CN" altLang="en-US" sz="1400"/>
              <a:t>系统中间跨越</a:t>
            </a:r>
            <a:r>
              <a:rPr lang="en-US" altLang="zh-CN" sz="1400"/>
              <a:t>VMware</a:t>
            </a:r>
            <a:r>
              <a:rPr lang="zh-CN" altLang="en-US" sz="1400"/>
              <a:t>窗口会导致交互不太方便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我们只需要使用命令行无需使用图形化，所以通过命令行远程连接使用即可</a:t>
            </a:r>
            <a:endParaRPr lang="zh-CN" altLang="en-US" sz="14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/>
              <a:t>4. </a:t>
            </a:r>
            <a:r>
              <a:rPr lang="zh-CN" altLang="en-US"/>
              <a:t>如何查看</a:t>
            </a:r>
            <a:r>
              <a:rPr lang="en-US" altLang="zh-CN"/>
              <a:t>Linux</a:t>
            </a:r>
            <a:r>
              <a:rPr lang="zh-CN" altLang="en-US"/>
              <a:t>的</a:t>
            </a:r>
            <a:r>
              <a:rPr lang="en-US" altLang="zh-CN"/>
              <a:t>IP</a:t>
            </a:r>
            <a:r>
              <a:rPr lang="zh-CN" altLang="en-US"/>
              <a:t>地址并远程连接</a:t>
            </a:r>
            <a:r>
              <a:rPr lang="zh-CN" altLang="en-US"/>
              <a:t>呢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在</a:t>
            </a:r>
            <a:r>
              <a:rPr lang="en-US" altLang="zh-CN" sz="1400"/>
              <a:t>Linux</a:t>
            </a:r>
            <a:r>
              <a:rPr lang="zh-CN" altLang="en-US" sz="1400"/>
              <a:t>操作系统中，桌面空白右键点击：</a:t>
            </a:r>
            <a:r>
              <a:rPr lang="en-US" altLang="zh-CN" sz="1400"/>
              <a:t>open in t</a:t>
            </a:r>
            <a:r>
              <a:rPr lang="en-US" altLang="zh-CN" sz="1400"/>
              <a:t>erminal</a:t>
            </a:r>
            <a:endParaRPr lang="en-US" altLang="zh-CN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输入</a:t>
            </a:r>
            <a:r>
              <a:rPr lang="en-US" altLang="zh-CN" sz="1400"/>
              <a:t>ifconfig</a:t>
            </a:r>
            <a:r>
              <a:rPr lang="zh-CN" altLang="en-US" sz="1400"/>
              <a:t>，即可看到</a:t>
            </a:r>
            <a:r>
              <a:rPr lang="en-US" altLang="zh-CN" sz="1400"/>
              <a:t>IP</a:t>
            </a:r>
            <a:r>
              <a:rPr lang="zh-CN" altLang="en-US" sz="1400"/>
              <a:t>地址</a:t>
            </a:r>
            <a:endParaRPr lang="zh-CN" alt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/>
              <a:t>在</a:t>
            </a:r>
            <a:r>
              <a:rPr lang="en-US" altLang="zh-CN" sz="1400"/>
              <a:t>FinalShell</a:t>
            </a:r>
            <a:r>
              <a:rPr lang="zh-CN" altLang="en-US" sz="1400"/>
              <a:t>中配置好</a:t>
            </a:r>
            <a:r>
              <a:rPr lang="en-US" altLang="zh-CN" sz="1400"/>
              <a:t>IP</a:t>
            </a:r>
            <a:r>
              <a:rPr lang="zh-CN" altLang="en-US" sz="1400"/>
              <a:t>地址，账号密码后即可连接成功</a:t>
            </a:r>
            <a:endParaRPr lang="zh-CN" altLang="en-US" sz="14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4516755"/>
            <a:ext cx="410210" cy="41021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5019675" y="1029335"/>
            <a:ext cx="5973445" cy="4004945"/>
          </a:xfrm>
        </p:spPr>
        <p:txBody>
          <a:bodyPr/>
          <a:lstStyle/>
          <a:p>
            <a:pPr algn="l"/>
            <a:r>
              <a:rPr kumimoji="1" lang="zh-CN" sz="1600" dirty="0">
                <a:sym typeface="+mn-ea"/>
              </a:rPr>
              <a:t>操作系统概述</a:t>
            </a:r>
            <a:endParaRPr kumimoji="1" 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初识</a:t>
            </a:r>
            <a:r>
              <a:rPr kumimoji="1" lang="en-US" altLang="zh-CN" sz="1600" dirty="0">
                <a:sym typeface="+mn-ea"/>
              </a:rPr>
              <a:t>Linux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虚拟机介绍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VMware WorkStation</a:t>
            </a:r>
            <a:r>
              <a:rPr kumimoji="1" lang="zh-CN" altLang="en-US" sz="1600" dirty="0">
                <a:sym typeface="+mn-ea"/>
              </a:rPr>
              <a:t>安装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在</a:t>
            </a:r>
            <a:r>
              <a:rPr kumimoji="1" lang="en-US" altLang="zh-CN" sz="1600" dirty="0">
                <a:sym typeface="+mn-ea"/>
              </a:rPr>
              <a:t>VMware</a:t>
            </a:r>
            <a:r>
              <a:rPr kumimoji="1" lang="zh-CN" altLang="en-US" sz="1600" dirty="0">
                <a:sym typeface="+mn-ea"/>
              </a:rPr>
              <a:t>上安装</a:t>
            </a:r>
            <a:r>
              <a:rPr kumimoji="1" lang="en-US" altLang="zh-CN" sz="1600" dirty="0">
                <a:sym typeface="+mn-ea"/>
              </a:rPr>
              <a:t>Linux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Mac</a:t>
            </a:r>
            <a:r>
              <a:rPr kumimoji="1" lang="zh-CN" altLang="en-US" sz="1600" dirty="0">
                <a:sym typeface="+mn-ea"/>
              </a:rPr>
              <a:t>系统</a:t>
            </a:r>
            <a:r>
              <a:rPr kumimoji="1" lang="en-US" altLang="zh-CN" sz="1600" dirty="0">
                <a:sym typeface="+mn-ea"/>
              </a:rPr>
              <a:t>Linux</a:t>
            </a:r>
            <a:r>
              <a:rPr kumimoji="1" lang="zh-CN" altLang="en-US" sz="1600" dirty="0">
                <a:sym typeface="+mn-ea"/>
              </a:rPr>
              <a:t>环境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远程连接</a:t>
            </a:r>
            <a:r>
              <a:rPr kumimoji="1" lang="en-US" altLang="zh-CN" sz="1600" dirty="0">
                <a:sym typeface="+mn-ea"/>
              </a:rPr>
              <a:t>Linux</a:t>
            </a:r>
            <a:r>
              <a:rPr kumimoji="1" lang="zh-CN" altLang="en-US" sz="1600" dirty="0">
                <a:sym typeface="+mn-ea"/>
              </a:rPr>
              <a:t>系统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拓展：</a:t>
            </a:r>
            <a:r>
              <a:rPr kumimoji="1" lang="en-US" altLang="zh-CN" sz="1600" dirty="0">
                <a:solidFill>
                  <a:srgbClr val="FF0000"/>
                </a:solidFill>
                <a:sym typeface="+mn-ea"/>
              </a:rPr>
              <a:t>WSL</a:t>
            </a:r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（</a:t>
            </a:r>
            <a:r>
              <a:rPr kumimoji="1" lang="en-US" altLang="zh-CN" sz="1600" dirty="0">
                <a:solidFill>
                  <a:srgbClr val="FF0000"/>
                </a:solidFill>
                <a:sym typeface="+mn-ea"/>
              </a:rPr>
              <a:t>Windows Subsystem for Linux</a:t>
            </a:r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）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扩展：虚拟机快照</a:t>
            </a:r>
            <a:endParaRPr kumimoji="1" lang="zh-CN" altLang="en-US" sz="1600" dirty="0"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掌握使用</a:t>
            </a:r>
            <a:r>
              <a:rPr lang="en-US" altLang="zh-CN">
                <a:solidFill>
                  <a:srgbClr val="FF0000"/>
                </a:solidFill>
              </a:rPr>
              <a:t>WSL</a:t>
            </a:r>
            <a:r>
              <a:rPr lang="zh-CN" altLang="en-US">
                <a:solidFill>
                  <a:srgbClr val="FF0000"/>
                </a:solidFill>
              </a:rPr>
              <a:t>获得</a:t>
            </a:r>
            <a:r>
              <a:rPr lang="en-US" altLang="zh-CN">
                <a:solidFill>
                  <a:srgbClr val="FF0000"/>
                </a:solidFill>
              </a:rPr>
              <a:t>Ubuntu</a:t>
            </a:r>
            <a:r>
              <a:rPr lang="zh-CN" altLang="en-US">
                <a:solidFill>
                  <a:srgbClr val="FF0000"/>
                </a:solidFill>
              </a:rPr>
              <a:t>系统</a:t>
            </a:r>
            <a:r>
              <a:rPr lang="zh-CN" altLang="en-US">
                <a:solidFill>
                  <a:srgbClr val="FF0000"/>
                </a:solidFill>
              </a:rPr>
              <a:t>环境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说明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endParaRPr lang="en-US" altLang="zh-CN"/>
          </a:p>
          <a:p>
            <a:r>
              <a:rPr lang="en-US" altLang="zh-CN"/>
              <a:t>WSL</a:t>
            </a:r>
            <a:r>
              <a:rPr lang="zh-CN" altLang="en-US"/>
              <a:t>章节仅仅作为扩展章节，并不是学习重点。</a:t>
            </a:r>
            <a:endParaRPr lang="zh-CN" altLang="en-US"/>
          </a:p>
          <a:p>
            <a:r>
              <a:rPr lang="zh-CN" altLang="en-US"/>
              <a:t>主要目的是扩展同学们的知识面，可以更简单、更轻松的获得</a:t>
            </a:r>
            <a:r>
              <a:rPr lang="en-US" altLang="zh-CN"/>
              <a:t>Linux</a:t>
            </a:r>
            <a:r>
              <a:rPr lang="zh-CN" altLang="en-US"/>
              <a:t>操作系统环境。</a:t>
            </a:r>
            <a:endParaRPr lang="zh-CN" altLang="en-US"/>
          </a:p>
          <a:p>
            <a:r>
              <a:rPr lang="zh-CN" altLang="en-US"/>
              <a:t>同时基于</a:t>
            </a:r>
            <a:r>
              <a:rPr lang="en-US" altLang="zh-CN"/>
              <a:t>WSL</a:t>
            </a:r>
            <a:r>
              <a:rPr lang="zh-CN" altLang="en-US"/>
              <a:t>我们可以得到</a:t>
            </a:r>
            <a:r>
              <a:rPr lang="en-US" altLang="zh-CN"/>
              <a:t>Ubuntu</a:t>
            </a:r>
            <a:r>
              <a:rPr lang="zh-CN" altLang="en-US"/>
              <a:t>发行版环境，可以拓展除</a:t>
            </a:r>
            <a:r>
              <a:rPr lang="en-US" altLang="zh-CN"/>
              <a:t>CentOS</a:t>
            </a:r>
            <a:r>
              <a:rPr lang="zh-CN" altLang="en-US"/>
              <a:t>发行版之外的额外体验和知识。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课程后续的学习中，依旧是以</a:t>
            </a:r>
            <a:r>
              <a:rPr lang="en-US" altLang="zh-CN"/>
              <a:t>VMware</a:t>
            </a:r>
            <a:r>
              <a:rPr lang="zh-CN" altLang="en-US"/>
              <a:t>虚拟机中创建的</a:t>
            </a:r>
            <a:r>
              <a:rPr lang="en-US" altLang="zh-CN"/>
              <a:t>CentOS</a:t>
            </a:r>
            <a:r>
              <a:rPr lang="zh-CN" altLang="en-US"/>
              <a:t>操作系统环境为主。</a:t>
            </a:r>
            <a:endParaRPr lang="zh-CN" altLang="en-US"/>
          </a:p>
          <a:p>
            <a:r>
              <a:rPr lang="zh-CN" altLang="en-US"/>
              <a:t>部分内容会以</a:t>
            </a:r>
            <a:r>
              <a:rPr lang="en-US" altLang="zh-CN"/>
              <a:t>WSL</a:t>
            </a:r>
            <a:r>
              <a:rPr lang="zh-CN" altLang="en-US"/>
              <a:t>中得到的</a:t>
            </a:r>
            <a:r>
              <a:rPr lang="en-US" altLang="zh-CN"/>
              <a:t>Ubuntu</a:t>
            </a:r>
            <a:r>
              <a:rPr lang="zh-CN" altLang="en-US"/>
              <a:t>环境为辅（非重点知识、可跳过）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63270" y="1457325"/>
            <a:ext cx="4634865" cy="2306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图片 3" descr="01 (138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8010" y="5121910"/>
            <a:ext cx="1656080" cy="165608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t>为什么要用</a:t>
            </a:r>
            <a:r>
              <a:rPr lang="en-US" altLang="zh-CN"/>
              <a:t>WSL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WSL</a:t>
            </a:r>
            <a:r>
              <a:rPr lang="zh-CN" altLang="en-US"/>
              <a:t>作为</a:t>
            </a:r>
            <a:r>
              <a:rPr lang="en-US" altLang="zh-CN"/>
              <a:t>Windows10</a:t>
            </a:r>
            <a:r>
              <a:rPr lang="zh-CN" altLang="en-US"/>
              <a:t>系统带来的全新特性，正在逐步颠覆开发人员既有的</a:t>
            </a:r>
            <a:r>
              <a:rPr lang="zh-CN" altLang="en-US"/>
              <a:t>选择。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传统方式获取</a:t>
            </a:r>
            <a:r>
              <a:rPr lang="en-US" altLang="zh-CN"/>
              <a:t>Linux</a:t>
            </a:r>
            <a:r>
              <a:rPr lang="zh-CN" altLang="en-US"/>
              <a:t>操作系统环境，是安装完整的虚拟机，如</a:t>
            </a:r>
            <a:r>
              <a:rPr lang="en-US" altLang="zh-CN"/>
              <a:t>VMware</a:t>
            </a:r>
            <a:endParaRPr lang="en-US" altLang="zh-CN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使用</a:t>
            </a:r>
            <a:r>
              <a:rPr lang="en-US" altLang="zh-CN"/>
              <a:t>WSL</a:t>
            </a:r>
            <a:r>
              <a:rPr lang="zh-CN" altLang="en-US"/>
              <a:t>，可以以非常轻量化的方式，得到</a:t>
            </a:r>
            <a:r>
              <a:rPr lang="en-US" altLang="zh-CN"/>
              <a:t>Linux</a:t>
            </a:r>
            <a:r>
              <a:rPr lang="zh-CN" altLang="en-US"/>
              <a:t>系统</a:t>
            </a:r>
            <a:r>
              <a:rPr lang="zh-CN" altLang="en-US"/>
              <a:t>环境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目前，开发者正在逐步抛弃以虚拟机的形式获取</a:t>
            </a:r>
            <a:r>
              <a:rPr lang="en-US" altLang="zh-CN"/>
              <a:t>Linux</a:t>
            </a:r>
            <a:r>
              <a:rPr lang="zh-CN" altLang="en-US"/>
              <a:t>系统环境，而在逐步拥抱</a:t>
            </a:r>
            <a:r>
              <a:rPr lang="en-US" altLang="zh-CN"/>
              <a:t>WSL</a:t>
            </a:r>
            <a:r>
              <a:rPr lang="zh-CN" altLang="en-US"/>
              <a:t>环境。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所以，课程也紧跟当下趋势，为同学们讲解如何使用</a:t>
            </a:r>
            <a:r>
              <a:rPr lang="en-US" altLang="zh-CN"/>
              <a:t>WSL</a:t>
            </a:r>
            <a:r>
              <a:rPr lang="zh-CN" altLang="en-US"/>
              <a:t>，简单、快捷的获得</a:t>
            </a:r>
            <a:r>
              <a:rPr lang="en-US" altLang="zh-CN"/>
              <a:t>Linux</a:t>
            </a:r>
            <a:r>
              <a:rPr lang="zh-CN" altLang="en-US"/>
              <a:t>系统环境。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所以，为什么要用</a:t>
            </a:r>
            <a:r>
              <a:rPr lang="en-US" altLang="zh-CN"/>
              <a:t>WSL</a:t>
            </a:r>
            <a:r>
              <a:rPr lang="zh-CN" altLang="en-US"/>
              <a:t>，其实</a:t>
            </a:r>
            <a:r>
              <a:rPr lang="zh-CN" altLang="en-US"/>
              <a:t>很简单：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开发人员都在用，大家都用的，我们也要</a:t>
            </a:r>
            <a:r>
              <a:rPr lang="zh-CN" altLang="en-US"/>
              <a:t>学习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实在是太方便了，简单、好用、轻量化、</a:t>
            </a:r>
            <a:r>
              <a:rPr lang="zh-CN" altLang="en-US"/>
              <a:t>省内存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 descr="01 (119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045" y="5189220"/>
            <a:ext cx="1656080" cy="165608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什么是</a:t>
            </a:r>
            <a:r>
              <a:rPr lang="en-US" altLang="zh-CN"/>
              <a:t>WSL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WSL</a:t>
            </a:r>
            <a:r>
              <a:rPr lang="zh-CN" altLang="en-US"/>
              <a:t>：</a:t>
            </a:r>
            <a:r>
              <a:rPr lang="en-US" altLang="zh-CN"/>
              <a:t>Windows Subsystem for Linux</a:t>
            </a:r>
            <a:r>
              <a:rPr lang="zh-CN" altLang="en-US"/>
              <a:t>，是用于</a:t>
            </a:r>
            <a:r>
              <a:rPr lang="en-US" altLang="zh-CN"/>
              <a:t>Windows</a:t>
            </a:r>
            <a:r>
              <a:rPr lang="zh-CN" altLang="en-US"/>
              <a:t>系统之上的</a:t>
            </a:r>
            <a:r>
              <a:rPr lang="en-US" altLang="zh-CN"/>
              <a:t>Linux</a:t>
            </a:r>
            <a:r>
              <a:rPr lang="zh-CN" altLang="en-US"/>
              <a:t>子系统。</a:t>
            </a:r>
            <a:endParaRPr lang="zh-CN" altLang="en-US"/>
          </a:p>
          <a:p>
            <a:r>
              <a:rPr lang="zh-CN" altLang="en-US"/>
              <a:t>作用很简单，可以在</a:t>
            </a:r>
            <a:r>
              <a:rPr lang="en-US" altLang="zh-CN"/>
              <a:t>Windows</a:t>
            </a:r>
            <a:r>
              <a:rPr lang="zh-CN" altLang="en-US"/>
              <a:t>系统中获得</a:t>
            </a:r>
            <a:r>
              <a:rPr lang="en-US" altLang="zh-CN"/>
              <a:t>Linux</a:t>
            </a:r>
            <a:r>
              <a:rPr lang="zh-CN" altLang="en-US"/>
              <a:t>系统环境，并完全直连计算机硬件，无需通过虚拟机虚拟</a:t>
            </a:r>
            <a:r>
              <a:rPr lang="zh-CN" altLang="en-US"/>
              <a:t>硬件。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595" y="2707640"/>
            <a:ext cx="5092700" cy="394208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916295" y="3451860"/>
            <a:ext cx="4478655" cy="24536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 eaLnBrk="0" fontAlgn="base" hangingPunct="0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简而言之：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l" eaLnBrk="0" fontAlgn="base" hangingPunct="0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Windows10的WSL功能，可以无需单独虚拟一套硬件设备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l" eaLnBrk="0" fontAlgn="base" hangingPunct="0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就可以直接使用主机的物理硬件，构建Linux操作系统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l" eaLnBrk="0" fontAlgn="base" hangingPunct="0">
              <a:lnSpc>
                <a:spcPct val="150000"/>
              </a:lnSpc>
              <a:spcBef>
                <a:spcPct val="20000"/>
              </a:spcBef>
              <a:buClrTx/>
              <a:buSzTx/>
              <a:buFont typeface="Arial" panose="020B0604020202020204" pitchFamily="34" charset="0"/>
            </a:pPr>
            <a:r>
              <a:rPr lang="zh-CN" altLang="en-US"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并不会影响Windows系统本身的运行</a:t>
            </a:r>
            <a:endParaRPr lang="zh-CN" altLang="en-US" sz="160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pic>
        <p:nvPicPr>
          <p:cNvPr id="6" name="图片 5" descr="01 (12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4805" y="4992370"/>
            <a:ext cx="1917065" cy="191706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WSL</a:t>
            </a:r>
            <a:r>
              <a:t>部署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/>
              <a:t>WSL</a:t>
            </a:r>
            <a:r>
              <a:rPr lang="zh-CN" altLang="en-US"/>
              <a:t>是</a:t>
            </a:r>
            <a:r>
              <a:rPr lang="en-US" altLang="zh-CN"/>
              <a:t>Windows10</a:t>
            </a:r>
            <a:r>
              <a:rPr lang="zh-CN" altLang="en-US"/>
              <a:t>自带功能，需要开启，无需</a:t>
            </a:r>
            <a:r>
              <a:rPr lang="zh-CN" altLang="en-US"/>
              <a:t>下载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420" y="2217420"/>
            <a:ext cx="2146935" cy="38785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rcRect r="19913"/>
          <a:stretch>
            <a:fillRect/>
          </a:stretch>
        </p:blipFill>
        <p:spPr>
          <a:xfrm>
            <a:off x="3324860" y="2217420"/>
            <a:ext cx="6285230" cy="16319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2340" y="4170680"/>
            <a:ext cx="1733550" cy="17049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428875" y="3115945"/>
            <a:ext cx="302895" cy="33718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rgbClr val="FF0000"/>
                </a:solidFill>
                <a:latin typeface="Alibaba PuHuiTi Bold" panose="00020600040101010101" charset="-122"/>
                <a:ea typeface="Alibaba PuHuiTi Bold" panose="00020600040101010101" charset="-122"/>
              </a:rPr>
              <a:t>1</a:t>
            </a:r>
            <a:endParaRPr lang="en-US" altLang="zh-CN" sz="1600" b="1" dirty="0">
              <a:solidFill>
                <a:srgbClr val="FF0000"/>
              </a:solidFill>
              <a:latin typeface="Alibaba PuHuiTi Bold" panose="00020600040101010101" charset="-122"/>
              <a:ea typeface="Alibaba PuHuiTi Bold" panose="0002060004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924040" y="3041650"/>
            <a:ext cx="302895" cy="33718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rgbClr val="FF0000"/>
                </a:solidFill>
                <a:latin typeface="Alibaba PuHuiTi Bold" panose="00020600040101010101" charset="-122"/>
                <a:ea typeface="Alibaba PuHuiTi Bold" panose="00020600040101010101" charset="-122"/>
              </a:rPr>
              <a:t>2</a:t>
            </a:r>
            <a:endParaRPr lang="en-US" altLang="zh-CN" sz="1600" b="1" dirty="0">
              <a:solidFill>
                <a:srgbClr val="FF0000"/>
              </a:solidFill>
              <a:latin typeface="Alibaba PuHuiTi Bold" panose="00020600040101010101" charset="-122"/>
              <a:ea typeface="Alibaba PuHuiTi Bold" panose="0002060004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278755" y="4854575"/>
            <a:ext cx="302895" cy="33718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rgbClr val="FF0000"/>
                </a:solidFill>
                <a:latin typeface="Alibaba PuHuiTi Bold" panose="00020600040101010101" charset="-122"/>
                <a:ea typeface="Alibaba PuHuiTi Bold" panose="00020600040101010101" charset="-122"/>
              </a:rPr>
              <a:t>3</a:t>
            </a:r>
            <a:endParaRPr lang="en-US" altLang="zh-CN" sz="1600" b="1" dirty="0">
              <a:solidFill>
                <a:srgbClr val="FF0000"/>
              </a:solidFill>
              <a:latin typeface="Alibaba PuHuiTi Bold" panose="00020600040101010101" charset="-122"/>
              <a:ea typeface="Alibaba PuHuiTi Bold" panose="00020600040101010101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595" y="4477385"/>
            <a:ext cx="3762375" cy="126682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097395" y="5407025"/>
            <a:ext cx="302895" cy="33718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600" b="1" dirty="0">
                <a:solidFill>
                  <a:srgbClr val="FF0000"/>
                </a:solidFill>
                <a:latin typeface="Alibaba PuHuiTi Bold" panose="00020600040101010101" charset="-122"/>
                <a:ea typeface="Alibaba PuHuiTi Bold" panose="00020600040101010101" charset="-122"/>
              </a:rPr>
              <a:t>4</a:t>
            </a:r>
            <a:endParaRPr lang="en-US" altLang="zh-CN" sz="1600" b="1" dirty="0">
              <a:solidFill>
                <a:srgbClr val="FF0000"/>
              </a:solidFill>
              <a:latin typeface="Alibaba PuHuiTi Bold" panose="00020600040101010101" charset="-122"/>
              <a:ea typeface="Alibaba PuHuiTi Bold" panose="00020600040101010101" charset="-122"/>
            </a:endParaRPr>
          </a:p>
        </p:txBody>
      </p:sp>
      <p:pic>
        <p:nvPicPr>
          <p:cNvPr id="12" name="图片 11" descr="01 (135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6885" y="4551680"/>
            <a:ext cx="2276475" cy="227647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WSL</a:t>
            </a:r>
            <a:r>
              <a:rPr>
                <a:sym typeface="+mn-ea"/>
              </a:rPr>
              <a:t>部署</a:t>
            </a:r>
            <a:endParaRPr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点击确定后会进行</a:t>
            </a:r>
            <a:r>
              <a:rPr lang="zh-CN" altLang="en-US"/>
              <a:t>部署</a:t>
            </a:r>
            <a:endParaRPr lang="zh-CN" altLang="en-US"/>
          </a:p>
          <a:p>
            <a:r>
              <a:rPr lang="zh-CN" altLang="en-US"/>
              <a:t>最后重启</a:t>
            </a:r>
            <a:r>
              <a:rPr lang="zh-CN" altLang="en-US"/>
              <a:t>即可。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3131820"/>
            <a:ext cx="4911090" cy="126809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450" y="2329180"/>
            <a:ext cx="4112895" cy="28733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595" y="4872355"/>
            <a:ext cx="2305050" cy="1819275"/>
          </a:xfrm>
          <a:prstGeom prst="rect">
            <a:avLst/>
          </a:prstGeom>
        </p:spPr>
      </p:pic>
      <p:pic>
        <p:nvPicPr>
          <p:cNvPr id="7" name="图片 6" descr="01 (149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6440" y="5177790"/>
            <a:ext cx="1457325" cy="1457325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WSL</a:t>
            </a:r>
            <a:r>
              <a:rPr>
                <a:sym typeface="+mn-ea"/>
              </a:rPr>
              <a:t>部署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打开</a:t>
            </a:r>
            <a:r>
              <a:rPr lang="en-US" altLang="zh-CN"/>
              <a:t>Windows</a:t>
            </a:r>
            <a:r>
              <a:rPr lang="zh-CN" altLang="en-US"/>
              <a:t>应用</a:t>
            </a:r>
            <a:r>
              <a:rPr lang="zh-CN" altLang="en-US"/>
              <a:t>商店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搜索</a:t>
            </a:r>
            <a:r>
              <a:rPr lang="en-US" altLang="zh-CN"/>
              <a:t>Ubuntu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510" y="2172970"/>
            <a:ext cx="1828800" cy="8382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510" y="3726815"/>
            <a:ext cx="4515485" cy="2823210"/>
          </a:xfrm>
          <a:prstGeom prst="rect">
            <a:avLst/>
          </a:prstGeom>
        </p:spPr>
      </p:pic>
      <p:pic>
        <p:nvPicPr>
          <p:cNvPr id="6" name="图片 5" descr="01 (150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410190" y="4580890"/>
            <a:ext cx="2062480" cy="206248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WSL</a:t>
            </a:r>
            <a:r>
              <a:rPr>
                <a:sym typeface="+mn-ea"/>
              </a:rPr>
              <a:t>部署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点击获取并</a:t>
            </a:r>
            <a:r>
              <a:rPr lang="zh-CN" altLang="en-US"/>
              <a:t>安装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2458720"/>
            <a:ext cx="4831715" cy="278066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40" y="5239385"/>
            <a:ext cx="3819525" cy="819150"/>
          </a:xfrm>
          <a:prstGeom prst="rect">
            <a:avLst/>
          </a:prstGeom>
        </p:spPr>
      </p:pic>
      <p:pic>
        <p:nvPicPr>
          <p:cNvPr id="5" name="图片 4" descr="01 (147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4830" y="5052695"/>
            <a:ext cx="1656080" cy="165608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WSL</a:t>
            </a:r>
            <a:r>
              <a:rPr>
                <a:sym typeface="+mn-ea"/>
              </a:rPr>
              <a:t>部署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点击</a:t>
            </a:r>
            <a:r>
              <a:rPr lang="zh-CN" altLang="en-US"/>
              <a:t>启动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605" y="2122170"/>
            <a:ext cx="5886450" cy="4315460"/>
          </a:xfrm>
          <a:prstGeom prst="rect">
            <a:avLst/>
          </a:prstGeom>
        </p:spPr>
      </p:pic>
      <p:pic>
        <p:nvPicPr>
          <p:cNvPr id="5" name="图片 4" descr="01 (13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3500" y="4947285"/>
            <a:ext cx="1968500" cy="19685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WSL</a:t>
            </a:r>
            <a:r>
              <a:rPr>
                <a:sym typeface="+mn-ea"/>
              </a:rPr>
              <a:t>部署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输入用户名用以创建一个用户：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/>
              <a:t>输入两次密码确认（注意，输入密码没有反馈，不用理会，正常输入</a:t>
            </a:r>
            <a:r>
              <a:rPr lang="zh-CN" altLang="en-US"/>
              <a:t>即可）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2207895"/>
            <a:ext cx="7724775" cy="8953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565" y="3853815"/>
            <a:ext cx="7686675" cy="1047750"/>
          </a:xfrm>
          <a:prstGeom prst="rect">
            <a:avLst/>
          </a:prstGeom>
        </p:spPr>
      </p:pic>
      <p:pic>
        <p:nvPicPr>
          <p:cNvPr id="6" name="图片 5" descr="01 (13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0535920" y="5251450"/>
            <a:ext cx="1656080" cy="165608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WSL</a:t>
            </a:r>
            <a:r>
              <a:rPr>
                <a:sym typeface="+mn-ea"/>
              </a:rPr>
              <a:t>部署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至此，得到了一个可用的</a:t>
            </a:r>
            <a:r>
              <a:rPr lang="en-US" altLang="zh-CN"/>
              <a:t>Ubuntu</a:t>
            </a:r>
            <a:r>
              <a:rPr lang="zh-CN" altLang="en-US"/>
              <a:t>操作系统</a:t>
            </a:r>
            <a:r>
              <a:rPr lang="zh-CN" altLang="en-US"/>
              <a:t>环境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320" y="2139315"/>
            <a:ext cx="7973695" cy="4037330"/>
          </a:xfrm>
          <a:prstGeom prst="rect">
            <a:avLst/>
          </a:prstGeom>
        </p:spPr>
      </p:pic>
      <p:pic>
        <p:nvPicPr>
          <p:cNvPr id="6" name="图片 5" descr="01 (14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5970" y="5219700"/>
            <a:ext cx="1405890" cy="140589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安装</a:t>
            </a:r>
            <a:r>
              <a:rPr lang="en-US" altLang="zh-CN"/>
              <a:t>Windows Terminal</a:t>
            </a:r>
            <a:r>
              <a:t>软件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en-US" altLang="zh-CN"/>
              <a:t>Ubuntu</a:t>
            </a:r>
            <a:r>
              <a:rPr lang="zh-CN" altLang="en-US"/>
              <a:t>自带的终端窗口软件不太好用，我们可以使用微软推出的：</a:t>
            </a:r>
            <a:r>
              <a:rPr lang="en-US" altLang="zh-CN"/>
              <a:t>Windows Terminal</a:t>
            </a:r>
            <a:r>
              <a:rPr lang="zh-CN" altLang="en-US"/>
              <a:t>软件</a:t>
            </a:r>
            <a:endParaRPr lang="zh-CN" altLang="en-US"/>
          </a:p>
          <a:p>
            <a:r>
              <a:rPr lang="zh-CN" altLang="en-US"/>
              <a:t>在应用商店中搜索</a:t>
            </a:r>
            <a:r>
              <a:rPr lang="en-US" altLang="zh-CN"/>
              <a:t>terminal</a:t>
            </a:r>
            <a:r>
              <a:rPr lang="zh-CN" altLang="en-US"/>
              <a:t>关键字，找到</a:t>
            </a:r>
            <a:r>
              <a:rPr lang="en-US" altLang="zh-CN"/>
              <a:t>Windows Terminal</a:t>
            </a:r>
            <a:r>
              <a:rPr lang="zh-CN" altLang="en-US"/>
              <a:t>软件下载并</a:t>
            </a:r>
            <a:r>
              <a:rPr lang="zh-CN" altLang="en-US"/>
              <a:t>安装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385" y="2686050"/>
            <a:ext cx="5729605" cy="3429000"/>
          </a:xfrm>
          <a:prstGeom prst="rect">
            <a:avLst/>
          </a:prstGeom>
        </p:spPr>
      </p:pic>
      <p:pic>
        <p:nvPicPr>
          <p:cNvPr id="5" name="图片 4" descr="01 (15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3410" y="4014470"/>
            <a:ext cx="2766060" cy="276606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安装</a:t>
            </a:r>
            <a:r>
              <a:rPr lang="en-US" altLang="zh-CN">
                <a:sym typeface="+mn-ea"/>
              </a:rPr>
              <a:t>Windows Terminal</a:t>
            </a:r>
            <a:r>
              <a:rPr>
                <a:sym typeface="+mn-ea"/>
              </a:rPr>
              <a:t>软件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590" y="1808480"/>
            <a:ext cx="7266940" cy="43491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6585" y="2193290"/>
            <a:ext cx="5053965" cy="3580130"/>
          </a:xfrm>
          <a:prstGeom prst="rect">
            <a:avLst/>
          </a:prstGeom>
        </p:spPr>
      </p:pic>
      <p:pic>
        <p:nvPicPr>
          <p:cNvPr id="3" name="图片 2" descr="01 (113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1985" y="5101590"/>
            <a:ext cx="1532890" cy="15328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>
                <a:sym typeface="+mn-ea"/>
              </a:rPr>
              <a:t>安装</a:t>
            </a:r>
            <a:r>
              <a:rPr lang="en-US" altLang="zh-CN">
                <a:sym typeface="+mn-ea"/>
              </a:rPr>
              <a:t>Windows Terminal</a:t>
            </a:r>
            <a:r>
              <a:rPr>
                <a:sym typeface="+mn-ea"/>
              </a:rPr>
              <a:t>软件</a:t>
            </a:r>
            <a:endParaRPr lang="zh-CN" altLang="en-US"/>
          </a:p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再次打开</a:t>
            </a:r>
            <a:r>
              <a:rPr lang="en-US" altLang="zh-CN"/>
              <a:t>Windows Terminal</a:t>
            </a:r>
            <a:r>
              <a:rPr lang="zh-CN" altLang="en-US"/>
              <a:t>软件，即默认使用</a:t>
            </a:r>
            <a:r>
              <a:rPr lang="en-US" altLang="zh-CN"/>
              <a:t>Ubuntu</a:t>
            </a:r>
            <a:r>
              <a:rPr lang="zh-CN" altLang="en-US"/>
              <a:t>系统了（</a:t>
            </a:r>
            <a:r>
              <a:rPr lang="en-US" altLang="zh-CN"/>
              <a:t>WSL</a:t>
            </a:r>
            <a:r>
              <a:rPr lang="zh-CN" altLang="en-US"/>
              <a:t>）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165" y="2167255"/>
            <a:ext cx="7491095" cy="4483100"/>
          </a:xfrm>
          <a:prstGeom prst="rect">
            <a:avLst/>
          </a:prstGeom>
        </p:spPr>
      </p:pic>
      <p:pic>
        <p:nvPicPr>
          <p:cNvPr id="5" name="图片 4" descr="01 (96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4080" y="5358765"/>
            <a:ext cx="1332865" cy="1332865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162935" y="3074670"/>
            <a:ext cx="5866130" cy="583565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3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补充：关于后续学习的环境选择</a:t>
            </a:r>
            <a:endParaRPr lang="zh-CN" altLang="en-US" sz="3200" dirty="0">
              <a:solidFill>
                <a:schemeClr val="tx1">
                  <a:lumMod val="65000"/>
                  <a:lumOff val="35000"/>
                </a:schemeClr>
              </a:solidFill>
              <a:latin typeface="Alibaba PuHuiTi Regular" panose="00020600040101010101" charset="-122"/>
              <a:ea typeface="Alibaba PuHuiTi Regular" panose="00020600040101010101" charset="-122"/>
              <a:cs typeface="Alibaba PuHuiTi Regular" panose="00020600040101010101" charset="-12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/>
              <a:t>Windows</a:t>
            </a:r>
            <a:r>
              <a:t>系统学习的</a:t>
            </a:r>
            <a:r>
              <a:rPr lang="zh-CN" altLang="en-US"/>
              <a:t>环境</a:t>
            </a:r>
            <a:r>
              <a:rPr lang="zh-CN" altLang="en-US"/>
              <a:t>选择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首先：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无论是基于</a:t>
            </a:r>
            <a:r>
              <a:rPr lang="en-US" altLang="zh-CN"/>
              <a:t>VMware Workstation</a:t>
            </a:r>
            <a:r>
              <a:rPr lang="zh-CN" altLang="en-US"/>
              <a:t>软件构建的</a:t>
            </a:r>
            <a:r>
              <a:rPr lang="en-US" altLang="zh-CN"/>
              <a:t>CentOS Linux</a:t>
            </a:r>
            <a:r>
              <a:rPr lang="zh-CN" altLang="en-US"/>
              <a:t>环境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或者是</a:t>
            </a:r>
            <a:r>
              <a:rPr lang="en-US" altLang="zh-CN"/>
              <a:t>WSL</a:t>
            </a:r>
            <a:r>
              <a:rPr lang="zh-CN" altLang="en-US"/>
              <a:t>获得的</a:t>
            </a:r>
            <a:r>
              <a:rPr lang="en-US" altLang="zh-CN"/>
              <a:t>Ubuntu Linux</a:t>
            </a:r>
            <a:r>
              <a:rPr lang="zh-CN" altLang="en-US"/>
              <a:t>环境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均满足课程学习需求（不管是</a:t>
            </a:r>
            <a:r>
              <a:rPr lang="en-US" altLang="zh-CN">
                <a:solidFill>
                  <a:srgbClr val="FF0000"/>
                </a:solidFill>
              </a:rPr>
              <a:t>CentOS</a:t>
            </a:r>
            <a:r>
              <a:rPr lang="zh-CN" altLang="en-US">
                <a:solidFill>
                  <a:srgbClr val="FF0000"/>
                </a:solidFill>
              </a:rPr>
              <a:t>还是</a:t>
            </a:r>
            <a:r>
              <a:rPr lang="en-US" altLang="zh-CN">
                <a:solidFill>
                  <a:srgbClr val="FF0000"/>
                </a:solidFill>
              </a:rPr>
              <a:t>Ubuntu</a:t>
            </a:r>
            <a:r>
              <a:rPr lang="zh-CN" altLang="en-US">
                <a:solidFill>
                  <a:srgbClr val="FF0000"/>
                </a:solidFill>
              </a:rPr>
              <a:t>，命令是通用的）</a:t>
            </a:r>
            <a:endParaRPr lang="zh-CN" altLang="en-US"/>
          </a:p>
          <a:p>
            <a:pPr>
              <a:buFont typeface="Arial" panose="020B0604020202020204" pitchFamily="34" charset="0"/>
            </a:pP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课程推荐大家使用</a:t>
            </a:r>
            <a:r>
              <a:rPr lang="en-US" altLang="zh-CN"/>
              <a:t>VMware WorkStation</a:t>
            </a:r>
            <a:r>
              <a:rPr lang="zh-CN" altLang="en-US"/>
              <a:t>内构建的</a:t>
            </a:r>
            <a:r>
              <a:rPr lang="en-US" altLang="zh-CN"/>
              <a:t>CentOS Linux</a:t>
            </a:r>
            <a:r>
              <a:rPr lang="zh-CN" altLang="en-US"/>
              <a:t>环境进行</a:t>
            </a:r>
            <a:r>
              <a:rPr lang="zh-CN" altLang="en-US"/>
              <a:t>学习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因为</a:t>
            </a:r>
            <a:r>
              <a:rPr lang="en-US" altLang="zh-CN"/>
              <a:t>WSL</a:t>
            </a:r>
            <a:r>
              <a:rPr lang="zh-CN" altLang="en-US"/>
              <a:t>虽然好用，但是是直连我们自己的电脑的，如果误操作可能带来重要文件的丢失甚至损坏</a:t>
            </a:r>
            <a:r>
              <a:rPr lang="zh-CN" altLang="en-US"/>
              <a:t>系统。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zh-CN" altLang="en-US"/>
              <a:t>所以，在虚拟机内操作最好，虚拟机内怎么折腾都行，不会影响自己的电脑</a:t>
            </a:r>
            <a:r>
              <a:rPr lang="zh-CN" altLang="en-US"/>
              <a:t>的。</a:t>
            </a:r>
            <a:endParaRPr lang="zh-CN" altLang="en-US"/>
          </a:p>
          <a:p>
            <a:pPr>
              <a:buFont typeface="Arial" panose="020B0604020202020204" pitchFamily="34" charset="0"/>
            </a:pPr>
            <a:r>
              <a:rPr lang="en-US" altLang="zh-CN"/>
              <a:t>WSL</a:t>
            </a:r>
            <a:r>
              <a:rPr lang="zh-CN" altLang="en-US"/>
              <a:t>作为一个备用，等同学们熟练</a:t>
            </a:r>
            <a:r>
              <a:rPr lang="en-US" altLang="zh-CN"/>
              <a:t>Linux</a:t>
            </a:r>
            <a:r>
              <a:rPr lang="zh-CN" altLang="en-US"/>
              <a:t>的使用后，在去尝试重度</a:t>
            </a:r>
            <a:r>
              <a:rPr lang="zh-CN" altLang="en-US"/>
              <a:t>使用。</a:t>
            </a:r>
            <a:endParaRPr lang="zh-CN" alt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en-US" altLang="zh-CN">
                <a:sym typeface="+mn-ea"/>
              </a:rPr>
              <a:t>Mac</a:t>
            </a:r>
            <a:r>
              <a:rPr>
                <a:sym typeface="+mn-ea"/>
              </a:rPr>
              <a:t>系统学习的环境选择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对于</a:t>
            </a:r>
            <a:r>
              <a:rPr lang="en-US" altLang="zh-CN"/>
              <a:t>Mac</a:t>
            </a:r>
            <a:r>
              <a:rPr lang="zh-CN" altLang="en-US"/>
              <a:t>系统的同学，同样可以有</a:t>
            </a:r>
            <a:r>
              <a:rPr lang="en-US" altLang="zh-CN"/>
              <a:t>2</a:t>
            </a:r>
            <a:r>
              <a:rPr lang="zh-CN" altLang="en-US"/>
              <a:t>种</a:t>
            </a:r>
            <a:r>
              <a:rPr lang="en-US" altLang="zh-CN"/>
              <a:t>Linux</a:t>
            </a:r>
            <a:r>
              <a:rPr lang="zh-CN" altLang="en-US"/>
              <a:t>环境</a:t>
            </a:r>
            <a:r>
              <a:rPr lang="zh-CN" altLang="en-US"/>
              <a:t>可用</a:t>
            </a:r>
            <a:endParaRPr lang="zh-CN" alt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基于</a:t>
            </a:r>
            <a:r>
              <a:rPr lang="en-US" altLang="zh-CN">
                <a:solidFill>
                  <a:srgbClr val="FF0000"/>
                </a:solidFill>
              </a:rPr>
              <a:t>VMware Fusion</a:t>
            </a:r>
            <a:r>
              <a:rPr lang="zh-CN" altLang="en-US">
                <a:solidFill>
                  <a:srgbClr val="FF0000"/>
                </a:solidFill>
              </a:rPr>
              <a:t>构建的</a:t>
            </a:r>
            <a:r>
              <a:rPr lang="en-US" altLang="zh-CN">
                <a:solidFill>
                  <a:srgbClr val="FF0000"/>
                </a:solidFill>
              </a:rPr>
              <a:t>CentOS</a:t>
            </a:r>
            <a:r>
              <a:rPr lang="zh-CN" altLang="en-US">
                <a:solidFill>
                  <a:srgbClr val="FF0000"/>
                </a:solidFill>
              </a:rPr>
              <a:t>虚拟机（和</a:t>
            </a:r>
            <a:r>
              <a:rPr lang="en-US" altLang="zh-CN">
                <a:solidFill>
                  <a:srgbClr val="FF0000"/>
                </a:solidFill>
              </a:rPr>
              <a:t>Windows</a:t>
            </a:r>
            <a:r>
              <a:rPr lang="zh-CN" altLang="en-US">
                <a:solidFill>
                  <a:srgbClr val="FF0000"/>
                </a:solidFill>
              </a:rPr>
              <a:t>系统的没有任何区别，一样用）</a:t>
            </a:r>
            <a:endParaRPr lang="zh-CN" altLang="en-US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/>
              <a:t>基于</a:t>
            </a:r>
            <a:r>
              <a:rPr lang="en-US" altLang="zh-CN"/>
              <a:t>Mac</a:t>
            </a:r>
            <a:r>
              <a:rPr lang="zh-CN" altLang="en-US"/>
              <a:t>系统本身的终端提供</a:t>
            </a:r>
            <a:r>
              <a:rPr lang="en-US" altLang="zh-CN"/>
              <a:t>Linux</a:t>
            </a:r>
            <a:r>
              <a:rPr lang="zh-CN" altLang="en-US"/>
              <a:t>命令行</a:t>
            </a:r>
            <a:r>
              <a:rPr lang="zh-CN" altLang="en-US"/>
              <a:t>环境</a:t>
            </a:r>
            <a:endParaRPr lang="zh-CN" alt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 b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Mac</a:t>
            </a:r>
            <a:r>
              <a:rPr lang="zh-CN" altLang="en-US" sz="1400" b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系统是基于</a:t>
            </a:r>
            <a:r>
              <a:rPr lang="en-US" altLang="zh-CN" sz="1400" b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Unix</a:t>
            </a:r>
            <a:r>
              <a:rPr lang="zh-CN" altLang="en-US" sz="1400" b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系统内核的操作系统，其和</a:t>
            </a:r>
            <a:r>
              <a:rPr lang="en-US" altLang="zh-CN" sz="1400" b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Linux</a:t>
            </a:r>
            <a:r>
              <a:rPr lang="zh-CN" altLang="en-US" sz="1400" b="0">
                <a:solidFill>
                  <a:srgbClr val="FF0000"/>
                </a:solidFill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基础操作命令</a:t>
            </a:r>
            <a:r>
              <a:rPr lang="zh-CN" altLang="en-US" sz="1400" b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是</a:t>
            </a:r>
            <a:r>
              <a:rPr lang="en-US" altLang="zh-CN" sz="1400" b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100%</a:t>
            </a:r>
            <a:r>
              <a:rPr lang="zh-CN" altLang="en-US" sz="1400" b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兼容的</a:t>
            </a:r>
            <a:endParaRPr lang="zh-CN" altLang="en-US" sz="1400" b="0">
              <a:latin typeface="Alibaba PuHuiTi Regular" panose="00020600040101010101" charset="-122"/>
              <a:ea typeface="Alibaba PuHuiTi Regular" panose="00020600040101010101" charset="-122"/>
              <a:cs typeface="Alibaba PuHuiTi Regular" panose="00020600040101010101" charset="-122"/>
            </a:endParaRPr>
          </a:p>
          <a:p>
            <a:pPr marL="742950" lvl="1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 b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课程中学习的Linux命令，都可以在Mac系统中正常运行</a:t>
            </a:r>
            <a:endParaRPr lang="en-US" altLang="zh-CN" sz="1400" b="0">
              <a:latin typeface="Alibaba PuHuiTi Regular" panose="00020600040101010101" charset="-122"/>
              <a:ea typeface="Alibaba PuHuiTi Regular" panose="00020600040101010101" charset="-122"/>
              <a:cs typeface="Alibaba PuHuiTi Regular" panose="00020600040101010101" charset="-122"/>
            </a:endParaRPr>
          </a:p>
          <a:p>
            <a:pPr lvl="0" algn="l">
              <a:buClrTx/>
              <a:buSzTx/>
              <a:buFont typeface="Arial" panose="020B0604020202020204" pitchFamily="34" charset="0"/>
            </a:pPr>
            <a:endParaRPr lang="en-US" altLang="zh-CN" sz="1240" b="0">
              <a:latin typeface="Alibaba PuHuiTi Regular" panose="00020600040101010101" charset="-122"/>
              <a:ea typeface="Alibaba PuHuiTi Regular" panose="00020600040101010101" charset="-122"/>
              <a:cs typeface="Alibaba PuHuiTi Regular" panose="00020600040101010101" charset="-122"/>
            </a:endParaRPr>
          </a:p>
          <a:p>
            <a:pPr lvl="0" algn="l">
              <a:buClrTx/>
              <a:buSzTx/>
              <a:buFont typeface="Arial" panose="020B0604020202020204" pitchFamily="34" charset="0"/>
            </a:pPr>
            <a:r>
              <a:rPr lang="zh-CN" altLang="en-US" sz="1240" b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使用</a:t>
            </a:r>
            <a:r>
              <a:rPr lang="en-US" altLang="zh-CN" sz="1240" b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Mac</a:t>
            </a:r>
            <a:r>
              <a:rPr lang="zh-CN" altLang="en-US" sz="1240" b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系统的同学，推荐使用</a:t>
            </a:r>
            <a:r>
              <a:rPr lang="en-US" altLang="zh-CN" sz="1240" b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VMware Fusion</a:t>
            </a:r>
            <a:r>
              <a:rPr lang="zh-CN" altLang="en-US" sz="1240" b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构建的</a:t>
            </a:r>
            <a:r>
              <a:rPr lang="en-US" altLang="zh-CN" sz="1240" b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CentOS Linux</a:t>
            </a:r>
            <a:r>
              <a:rPr lang="zh-CN" altLang="en-US" sz="1240" b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系统进行</a:t>
            </a:r>
            <a:r>
              <a:rPr lang="zh-CN" altLang="en-US" sz="1240" b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学习</a:t>
            </a:r>
            <a:endParaRPr lang="zh-CN" altLang="en-US" sz="1240" b="0">
              <a:latin typeface="Alibaba PuHuiTi Regular" panose="00020600040101010101" charset="-122"/>
              <a:ea typeface="Alibaba PuHuiTi Regular" panose="00020600040101010101" charset="-122"/>
              <a:cs typeface="Alibaba PuHuiTi Regular" panose="00020600040101010101" charset="-122"/>
            </a:endParaRPr>
          </a:p>
          <a:p>
            <a:pPr lvl="0" algn="l">
              <a:buClrTx/>
              <a:buSzTx/>
              <a:buFont typeface="Arial" panose="020B0604020202020204" pitchFamily="34" charset="0"/>
            </a:pPr>
            <a:r>
              <a:rPr lang="zh-CN" altLang="en-US" sz="1240" b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因为，尽管</a:t>
            </a:r>
            <a:r>
              <a:rPr lang="en-US" altLang="zh-CN" sz="1240" b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Mac</a:t>
            </a:r>
            <a:r>
              <a:rPr lang="zh-CN" altLang="en-US" sz="1240" b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本身的终端可以</a:t>
            </a:r>
            <a:r>
              <a:rPr lang="en-US" altLang="zh-CN" sz="1240" b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100%</a:t>
            </a:r>
            <a:r>
              <a:rPr lang="zh-CN" altLang="en-US" sz="1240" b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兼容上课的内容，</a:t>
            </a:r>
            <a:r>
              <a:rPr lang="zh-CN" altLang="en-US" sz="1240" b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但是</a:t>
            </a:r>
            <a:endParaRPr lang="zh-CN" altLang="en-US" sz="1240" b="0">
              <a:latin typeface="Alibaba PuHuiTi Regular" panose="00020600040101010101" charset="-122"/>
              <a:ea typeface="Alibaba PuHuiTi Regular" panose="00020600040101010101" charset="-122"/>
              <a:cs typeface="Alibaba PuHuiTi Regular" panose="00020600040101010101" charset="-122"/>
            </a:endParaRPr>
          </a:p>
          <a:p>
            <a:pPr lvl="0" algn="l">
              <a:buClrTx/>
              <a:buSzTx/>
              <a:buFont typeface="Arial" panose="020B0604020202020204" pitchFamily="34" charset="0"/>
            </a:pPr>
            <a:r>
              <a:rPr lang="zh-CN" altLang="en-US" sz="1240" b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毕竟是学习，如果因为练习命令而导致电脑重要文件被删除、损坏，系统出现</a:t>
            </a:r>
            <a:r>
              <a:rPr lang="zh-CN" altLang="en-US" sz="1240" b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问题</a:t>
            </a:r>
            <a:endParaRPr lang="zh-CN" altLang="en-US" sz="1240" b="0">
              <a:latin typeface="Alibaba PuHuiTi Regular" panose="00020600040101010101" charset="-122"/>
              <a:ea typeface="Alibaba PuHuiTi Regular" panose="00020600040101010101" charset="-122"/>
              <a:cs typeface="Alibaba PuHuiTi Regular" panose="00020600040101010101" charset="-122"/>
            </a:endParaRPr>
          </a:p>
          <a:p>
            <a:pPr lvl="0" algn="l">
              <a:buClrTx/>
              <a:buSzTx/>
              <a:buFont typeface="Arial" panose="020B0604020202020204" pitchFamily="34" charset="0"/>
            </a:pPr>
            <a:r>
              <a:rPr lang="zh-CN" altLang="en-US" sz="1240" b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就得不偿失</a:t>
            </a:r>
            <a:r>
              <a:rPr lang="zh-CN" altLang="en-US" sz="1240" b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了。</a:t>
            </a:r>
            <a:endParaRPr lang="zh-CN" altLang="en-US" sz="1240" b="0">
              <a:latin typeface="Alibaba PuHuiTi Regular" panose="00020600040101010101" charset="-122"/>
              <a:ea typeface="Alibaba PuHuiTi Regular" panose="00020600040101010101" charset="-122"/>
              <a:cs typeface="Alibaba PuHuiTi Regular" panose="00020600040101010101" charset="-122"/>
            </a:endParaRPr>
          </a:p>
          <a:p>
            <a:pPr lvl="0" algn="l">
              <a:buClrTx/>
              <a:buSzTx/>
              <a:buFont typeface="Arial" panose="020B0604020202020204" pitchFamily="34" charset="0"/>
            </a:pPr>
            <a:endParaRPr lang="zh-CN" altLang="en-US" sz="1240" b="0">
              <a:latin typeface="Alibaba PuHuiTi Regular" panose="00020600040101010101" charset="-122"/>
              <a:ea typeface="Alibaba PuHuiTi Regular" panose="00020600040101010101" charset="-122"/>
              <a:cs typeface="Alibaba PuHuiTi Regular" panose="00020600040101010101" charset="-122"/>
            </a:endParaRPr>
          </a:p>
          <a:p>
            <a:pPr lvl="0" algn="l">
              <a:buClrTx/>
              <a:buSzTx/>
              <a:buFont typeface="Arial" panose="020B0604020202020204" pitchFamily="34" charset="0"/>
            </a:pPr>
            <a:r>
              <a:rPr lang="zh-CN" altLang="en-US" sz="1240" b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所以，在虚拟机内的环境进行练习是最好的，无论怎么折腾都不会影响自己的</a:t>
            </a:r>
            <a:r>
              <a:rPr lang="zh-CN" altLang="en-US" sz="1240" b="0">
                <a:latin typeface="Alibaba PuHuiTi Regular" panose="00020600040101010101" charset="-122"/>
                <a:ea typeface="Alibaba PuHuiTi Regular" panose="00020600040101010101" charset="-122"/>
                <a:cs typeface="Alibaba PuHuiTi Regular" panose="00020600040101010101" charset="-122"/>
              </a:rPr>
              <a:t>电脑。</a:t>
            </a:r>
            <a:endParaRPr lang="zh-CN" altLang="en-US" sz="1240" b="0">
              <a:latin typeface="Alibaba PuHuiTi Regular" panose="00020600040101010101" charset="-122"/>
              <a:ea typeface="Alibaba PuHuiTi Regular" panose="00020600040101010101" charset="-122"/>
              <a:cs typeface="Alibaba PuHuiTi Regular" panose="0002060004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250" y="3255645"/>
            <a:ext cx="4911090" cy="3114675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09465" y="5034280"/>
            <a:ext cx="410210" cy="410210"/>
          </a:xfrm>
          <a:prstGeom prst="rect">
            <a:avLst/>
          </a:prstGeom>
        </p:spPr>
      </p:pic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5019675" y="1029335"/>
            <a:ext cx="5973445" cy="4004945"/>
          </a:xfrm>
        </p:spPr>
        <p:txBody>
          <a:bodyPr/>
          <a:lstStyle/>
          <a:p>
            <a:pPr algn="l"/>
            <a:r>
              <a:rPr kumimoji="1" lang="zh-CN" sz="1600" dirty="0">
                <a:sym typeface="+mn-ea"/>
              </a:rPr>
              <a:t>操作系统概述</a:t>
            </a:r>
            <a:endParaRPr kumimoji="1" 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初识</a:t>
            </a:r>
            <a:r>
              <a:rPr kumimoji="1" lang="en-US" altLang="zh-CN" sz="1600" dirty="0">
                <a:sym typeface="+mn-ea"/>
              </a:rPr>
              <a:t>Linux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虚拟机介绍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VMware WorkStation</a:t>
            </a:r>
            <a:r>
              <a:rPr kumimoji="1" lang="zh-CN" altLang="en-US" sz="1600" dirty="0">
                <a:sym typeface="+mn-ea"/>
              </a:rPr>
              <a:t>安装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在</a:t>
            </a:r>
            <a:r>
              <a:rPr kumimoji="1" lang="en-US" altLang="zh-CN" sz="1600" dirty="0">
                <a:sym typeface="+mn-ea"/>
              </a:rPr>
              <a:t>VMware</a:t>
            </a:r>
            <a:r>
              <a:rPr kumimoji="1" lang="zh-CN" altLang="en-US" sz="1600" dirty="0">
                <a:sym typeface="+mn-ea"/>
              </a:rPr>
              <a:t>上安装</a:t>
            </a:r>
            <a:r>
              <a:rPr kumimoji="1" lang="en-US" altLang="zh-CN" sz="1600" dirty="0">
                <a:sym typeface="+mn-ea"/>
              </a:rPr>
              <a:t>Linux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en-US" altLang="zh-CN" sz="1600" dirty="0">
                <a:sym typeface="+mn-ea"/>
              </a:rPr>
              <a:t>Mac</a:t>
            </a:r>
            <a:r>
              <a:rPr kumimoji="1" lang="zh-CN" altLang="en-US" sz="1600" dirty="0">
                <a:sym typeface="+mn-ea"/>
              </a:rPr>
              <a:t>系统</a:t>
            </a:r>
            <a:r>
              <a:rPr kumimoji="1" lang="en-US" altLang="zh-CN" sz="1600" dirty="0">
                <a:sym typeface="+mn-ea"/>
              </a:rPr>
              <a:t>Linux</a:t>
            </a:r>
            <a:r>
              <a:rPr kumimoji="1" lang="zh-CN" altLang="en-US" sz="1600" dirty="0">
                <a:sym typeface="+mn-ea"/>
              </a:rPr>
              <a:t>环境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远程连接</a:t>
            </a:r>
            <a:r>
              <a:rPr kumimoji="1" lang="en-US" altLang="zh-CN" sz="1600" dirty="0">
                <a:sym typeface="+mn-ea"/>
              </a:rPr>
              <a:t>Linux</a:t>
            </a:r>
            <a:r>
              <a:rPr kumimoji="1" lang="zh-CN" altLang="en-US" sz="1600" dirty="0">
                <a:sym typeface="+mn-ea"/>
              </a:rPr>
              <a:t>系统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拓展：WSL（Windows Subsystem for Linux）</a:t>
            </a: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扩展：虚拟机</a:t>
            </a:r>
            <a:r>
              <a:rPr kumimoji="1" lang="zh-CN" altLang="en-US" sz="1600" dirty="0">
                <a:solidFill>
                  <a:srgbClr val="FF0000"/>
                </a:solidFill>
                <a:sym typeface="+mn-ea"/>
              </a:rPr>
              <a:t>快照</a:t>
            </a:r>
            <a:endParaRPr kumimoji="1" lang="zh-CN" altLang="en-US" sz="1600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p>
            <a:r>
              <a:rPr lang="zh-CN" altLang="en-US">
                <a:solidFill>
                  <a:srgbClr val="FF0000"/>
                </a:solidFill>
              </a:rPr>
              <a:t>掌握虚拟机快照的制作和</a:t>
            </a:r>
            <a:r>
              <a:rPr lang="zh-CN" altLang="en-US">
                <a:solidFill>
                  <a:srgbClr val="FF0000"/>
                </a:solidFill>
              </a:rPr>
              <a:t>还原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虚拟机</a:t>
            </a:r>
            <a:r>
              <a:rPr lang="zh-CN" altLang="en-US"/>
              <a:t>快照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在学习阶段我们无法避免的可能损坏</a:t>
            </a:r>
            <a:r>
              <a:rPr lang="en-US" altLang="zh-CN"/>
              <a:t>Linux</a:t>
            </a:r>
            <a:r>
              <a:rPr lang="zh-CN" altLang="en-US"/>
              <a:t>操作</a:t>
            </a:r>
            <a:r>
              <a:rPr lang="zh-CN" altLang="en-US"/>
              <a:t>系统。</a:t>
            </a:r>
            <a:endParaRPr lang="zh-CN" altLang="en-US"/>
          </a:p>
          <a:p>
            <a:r>
              <a:rPr lang="zh-CN" altLang="en-US"/>
              <a:t>如果损坏的话，重新安装一个</a:t>
            </a:r>
            <a:r>
              <a:rPr lang="en-US" altLang="zh-CN"/>
              <a:t>Linux</a:t>
            </a:r>
            <a:r>
              <a:rPr lang="zh-CN" altLang="en-US"/>
              <a:t>操作系统就会十分</a:t>
            </a:r>
            <a:r>
              <a:rPr lang="zh-CN" altLang="en-US"/>
              <a:t>麻烦。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VMware</a:t>
            </a:r>
            <a:r>
              <a:rPr lang="zh-CN" altLang="en-US"/>
              <a:t>虚拟机（</a:t>
            </a:r>
            <a:r>
              <a:rPr lang="en-US" altLang="zh-CN"/>
              <a:t>Workstation</a:t>
            </a:r>
            <a:r>
              <a:rPr lang="zh-CN" altLang="en-US"/>
              <a:t>和</a:t>
            </a:r>
            <a:r>
              <a:rPr lang="en-US" altLang="zh-CN"/>
              <a:t>Funsion</a:t>
            </a:r>
            <a:r>
              <a:rPr lang="zh-CN" altLang="en-US"/>
              <a:t>）支持为虚拟机制作</a:t>
            </a:r>
            <a:r>
              <a:rPr lang="zh-CN" altLang="en-US"/>
              <a:t>快照。</a:t>
            </a:r>
            <a:endParaRPr lang="zh-CN" altLang="en-US"/>
          </a:p>
          <a:p>
            <a:r>
              <a:rPr lang="zh-CN" altLang="en-US"/>
              <a:t>通过快照将当前虚拟机的状态保存下来，在以后可以通过快照恢复虚拟机到保存的</a:t>
            </a:r>
            <a:r>
              <a:rPr lang="zh-CN" altLang="en-US"/>
              <a:t>状态。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565" y="3844290"/>
            <a:ext cx="4962525" cy="2771775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在</a:t>
            </a:r>
            <a:r>
              <a:rPr lang="en-US" altLang="zh-CN"/>
              <a:t>VMware Workstation Pro</a:t>
            </a:r>
            <a:r>
              <a:t>中制作并还原</a:t>
            </a:r>
            <a:r>
              <a:t>快照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32485" y="1629410"/>
            <a:ext cx="4986655" cy="37490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485" y="1629410"/>
            <a:ext cx="6515100" cy="41719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2835" y="2297430"/>
            <a:ext cx="3454400" cy="2413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485" y="1629410"/>
            <a:ext cx="5861050" cy="47129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0935" y="3026410"/>
            <a:ext cx="3378200" cy="13779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r>
              <a:rPr lang="zh-CN" altLang="en-US"/>
              <a:t>在</a:t>
            </a:r>
            <a:r>
              <a:rPr lang="en-US" altLang="zh-CN"/>
              <a:t>VMware </a:t>
            </a:r>
            <a:r>
              <a:rPr lang="en-US" altLang="zh-CN"/>
              <a:t>Fusion Pro</a:t>
            </a:r>
            <a:r>
              <a:t>中制作并还原</a:t>
            </a:r>
            <a:r>
              <a:t>快照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/>
        <p:txBody>
          <a:bodyPr/>
          <a:p>
            <a:r>
              <a:rPr lang="zh-CN" altLang="en-US"/>
              <a:t>快照制作需要虚拟机关机状态下（不关机也可以，但是比较慢，建议</a:t>
            </a:r>
            <a:r>
              <a:rPr lang="zh-CN" altLang="en-US"/>
              <a:t>关机）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5975" y="2088515"/>
            <a:ext cx="6379210" cy="40170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75" y="2088515"/>
            <a:ext cx="4825365" cy="401701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705" y="3080385"/>
            <a:ext cx="3333750" cy="13716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975" y="2088515"/>
            <a:ext cx="4825365" cy="401764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975" y="2088515"/>
            <a:ext cx="4825365" cy="40176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1. </a:t>
            </a:r>
            <a:r>
              <a:rPr lang="zh-CN" altLang="en-US"/>
              <a:t>快照有什么作用？</a:t>
            </a:r>
            <a:endParaRPr lang="zh-CN" altLang="en-US" sz="1400"/>
          </a:p>
          <a:p>
            <a:pPr marL="0" indent="0">
              <a:buNone/>
            </a:pPr>
            <a:r>
              <a:rPr lang="zh-CN" altLang="en-US" sz="1400"/>
              <a:t>快照可以保存虚拟机的状态，</a:t>
            </a:r>
            <a:r>
              <a:rPr lang="en-US" altLang="zh-CN" sz="1400"/>
              <a:t> </a:t>
            </a:r>
            <a:r>
              <a:rPr lang="zh-CN" altLang="en-US" sz="1400"/>
              <a:t>当虚拟机出现问题的时候，</a:t>
            </a:r>
            <a:r>
              <a:rPr lang="en-US" altLang="zh-CN" sz="1400"/>
              <a:t> </a:t>
            </a:r>
            <a:r>
              <a:rPr lang="zh-CN" altLang="en-US" sz="1400"/>
              <a:t>可以通过预先制作的快照恢复到制作时候的状态，</a:t>
            </a:r>
            <a:r>
              <a:rPr lang="en-US" altLang="zh-CN" sz="1400"/>
              <a:t> </a:t>
            </a:r>
            <a:r>
              <a:rPr lang="zh-CN" altLang="en-US" sz="1400"/>
              <a:t>用作备份</a:t>
            </a:r>
            <a:r>
              <a:rPr lang="zh-CN" altLang="en-US" sz="1400"/>
              <a:t>用。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/>
              <a:t>2. VMware Workstation </a:t>
            </a:r>
            <a:r>
              <a:rPr lang="zh-CN" altLang="en-US"/>
              <a:t>和</a:t>
            </a:r>
            <a:r>
              <a:rPr lang="en-US" altLang="zh-CN"/>
              <a:t> VMware Fusion </a:t>
            </a:r>
            <a:r>
              <a:rPr lang="zh-CN" altLang="en-US"/>
              <a:t>都支持制作快照去使用</a:t>
            </a:r>
            <a:endParaRPr lang="zh-CN" alt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0800,&quot;width&quot;:10800}"/>
</p:tagLst>
</file>

<file path=ppt/tags/tag2.xml><?xml version="1.0" encoding="utf-8"?>
<p:tagLst xmlns:p="http://schemas.openxmlformats.org/presentationml/2006/main">
  <p:tag name="KSO_WM_UNIT_PLACING_PICTURE_USER_VIEWPORT" val="{&quot;height&quot;:4460,&quot;width&quot;:8964}"/>
</p:tagLst>
</file>

<file path=ppt/tags/tag3.xml><?xml version="1.0" encoding="utf-8"?>
<p:tagLst xmlns:p="http://schemas.openxmlformats.org/presentationml/2006/main">
  <p:tag name="KSO_WM_UNIT_PLACING_PICTURE_USER_VIEWPORT" val="{&quot;height&quot;:7390,&quot;width&quot;:9830}"/>
</p:tagLst>
</file>

<file path=ppt/tags/tag4.xml><?xml version="1.0" encoding="utf-8"?>
<p:tagLst xmlns:p="http://schemas.openxmlformats.org/presentationml/2006/main">
  <p:tag name="COMMONDATA" val="eyJoZGlkIjoiMDAzZmIwZjU2YjM3ZmIyZjYxNWQ1NTViMjdhYzBlM2EifQ=="/>
  <p:tag name="KSO_WPP_MARK_KEY" val="a19b803a-04f7-49ad-a517-4f4615f57881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2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1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1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1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3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18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1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0.xml><?xml version="1.0" encoding="utf-8"?>
<a:theme xmlns:a="http://schemas.openxmlformats.org/drawingml/2006/main" name="39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1.xml><?xml version="1.0" encoding="utf-8"?>
<a:theme xmlns:a="http://schemas.openxmlformats.org/drawingml/2006/main" name="40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2.xml><?xml version="1.0" encoding="utf-8"?>
<a:theme xmlns:a="http://schemas.openxmlformats.org/drawingml/2006/main" name="41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42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4.xml><?xml version="1.0" encoding="utf-8"?>
<a:theme xmlns:a="http://schemas.openxmlformats.org/drawingml/2006/main" name="43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5.xml><?xml version="1.0" encoding="utf-8"?>
<a:theme xmlns:a="http://schemas.openxmlformats.org/drawingml/2006/main" name="44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6.xml><?xml version="1.0" encoding="utf-8"?>
<a:theme xmlns:a="http://schemas.openxmlformats.org/drawingml/2006/main" name="4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7.xml><?xml version="1.0" encoding="utf-8"?>
<a:theme xmlns:a="http://schemas.openxmlformats.org/drawingml/2006/main" name="46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8.xml><?xml version="1.0" encoding="utf-8"?>
<a:theme xmlns:a="http://schemas.openxmlformats.org/drawingml/2006/main" name="47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9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0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8026</Words>
  <Application>WPS 演示</Application>
  <PresentationFormat>宽屏</PresentationFormat>
  <Paragraphs>633</Paragraphs>
  <Slides>86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38</vt:i4>
      </vt:variant>
      <vt:variant>
        <vt:lpstr>幻灯片标题</vt:lpstr>
      </vt:variant>
      <vt:variant>
        <vt:i4>86</vt:i4>
      </vt:variant>
    </vt:vector>
  </HeadingPairs>
  <TitlesOfParts>
    <vt:vector size="144" baseType="lpstr">
      <vt:lpstr>Arial</vt:lpstr>
      <vt:lpstr>宋体</vt:lpstr>
      <vt:lpstr>Wingdings</vt:lpstr>
      <vt:lpstr>Calibri</vt:lpstr>
      <vt:lpstr>黑体</vt:lpstr>
      <vt:lpstr>阿里巴巴普惠体</vt:lpstr>
      <vt:lpstr>Alibaba PuHuiTi B</vt:lpstr>
      <vt:lpstr>Alibaba PuHuiTi R</vt:lpstr>
      <vt:lpstr>Segoe UI</vt:lpstr>
      <vt:lpstr>微软雅黑</vt:lpstr>
      <vt:lpstr>Verdana</vt:lpstr>
      <vt:lpstr>Alibaba PuHuiTi M</vt:lpstr>
      <vt:lpstr>Segoe UI Light</vt:lpstr>
      <vt:lpstr>微软雅黑 Light</vt:lpstr>
      <vt:lpstr>华文楷体</vt:lpstr>
      <vt:lpstr>纤黑体</vt:lpstr>
      <vt:lpstr>Arial Unicode MS</vt:lpstr>
      <vt:lpstr>等线</vt:lpstr>
      <vt:lpstr>Alibaba PuHuiTi Bold</vt:lpstr>
      <vt:lpstr>Alibaba PuHuiTi Regular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5_结束页设计方案</vt:lpstr>
      <vt:lpstr>1_学习目标</vt:lpstr>
      <vt:lpstr>2_学习目标</vt:lpstr>
      <vt:lpstr>3_学习目标</vt:lpstr>
      <vt:lpstr>4_学习目标</vt:lpstr>
      <vt:lpstr>5_学习目标</vt:lpstr>
      <vt:lpstr>6_学习目标</vt:lpstr>
      <vt:lpstr>7_学习目标</vt:lpstr>
      <vt:lpstr>1_正文设计方案</vt:lpstr>
      <vt:lpstr>8_学习目标</vt:lpstr>
      <vt:lpstr>9_学习目标</vt:lpstr>
      <vt:lpstr>10_学习目标</vt:lpstr>
      <vt:lpstr>2_正文设计方案</vt:lpstr>
      <vt:lpstr>11_学习目标</vt:lpstr>
      <vt:lpstr>12_学习目标</vt:lpstr>
      <vt:lpstr>13_学习目标</vt:lpstr>
      <vt:lpstr>14_学习目标</vt:lpstr>
      <vt:lpstr>15_学习目标</vt:lpstr>
      <vt:lpstr>3_正文设计方案</vt:lpstr>
      <vt:lpstr>16_学习目标</vt:lpstr>
      <vt:lpstr>17_学习目标</vt:lpstr>
      <vt:lpstr>18_学习目标</vt:lpstr>
      <vt:lpstr>19_学习目标</vt:lpstr>
      <vt:lpstr>39_学习目标</vt:lpstr>
      <vt:lpstr>40_学习目标</vt:lpstr>
      <vt:lpstr>41_学习目标</vt:lpstr>
      <vt:lpstr>42_学习目标</vt:lpstr>
      <vt:lpstr>43_学习目标</vt:lpstr>
      <vt:lpstr>44_学习目标</vt:lpstr>
      <vt:lpstr>45_学习目标</vt:lpstr>
      <vt:lpstr>46_学习目标</vt:lpstr>
      <vt:lpstr>47_学习目标</vt:lpstr>
      <vt:lpstr>初识Linux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OS</cp:lastModifiedBy>
  <cp:revision>1930</cp:revision>
  <dcterms:created xsi:type="dcterms:W3CDTF">2022-10-02T07:10:00Z</dcterms:created>
  <dcterms:modified xsi:type="dcterms:W3CDTF">2022-10-20T03:47:49Z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8F3BE0D789E24AA8A6562930946781AC</vt:lpwstr>
  </property>
  <property fmtid="{D5CDD505-2E9C-101B-9397-08002B2CF9AE}" pid="3" name="KSOProductBuildVer">
    <vt:lpwstr>2052-11.1.0.12598</vt:lpwstr>
  </property>
  <property fmtid="{D5CDD505-2E9C-101B-9397-08002B2CF9AE}" pid="4" name="commondata">
    <vt:lpwstr>eyJoZGlkIjoiMDAzZmIwZjU2YjM3ZmIyZjYxNWQ1NTViMjdhYzBlM2EifQ==</vt:lpwstr>
  </property>
</Properties>
</file>