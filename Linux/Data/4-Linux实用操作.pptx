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47.xml" ContentType="application/vnd.openxmlformats-officedocument.theme+xml"/>
  <Override PartName="/ppt/theme/theme48.xml" ContentType="application/vnd.openxmlformats-officedocument.theme+xml"/>
  <Override PartName="/ppt/theme/theme49.xml" ContentType="application/vnd.openxmlformats-officedocument.theme+xml"/>
  <Override PartName="/ppt/theme/theme5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52.xml" ContentType="application/vnd.openxmlformats-officedocument.theme+xml"/>
  <Override PartName="/ppt/theme/theme53.xml" ContentType="application/vnd.openxmlformats-officedocument.theme+xml"/>
  <Override PartName="/ppt/theme/theme54.xml" ContentType="application/vnd.openxmlformats-officedocument.theme+xml"/>
  <Override PartName="/ppt/theme/theme55.xml" ContentType="application/vnd.openxmlformats-officedocument.theme+xml"/>
  <Override PartName="/ppt/theme/theme56.xml" ContentType="application/vnd.openxmlformats-officedocument.theme+xml"/>
  <Override PartName="/ppt/theme/theme57.xml" ContentType="application/vnd.openxmlformats-officedocument.theme+xml"/>
  <Override PartName="/ppt/theme/theme58.xml" ContentType="application/vnd.openxmlformats-officedocument.theme+xml"/>
  <Override PartName="/ppt/theme/theme59.xml" ContentType="application/vnd.openxmlformats-officedocument.theme+xml"/>
  <Override PartName="/ppt/theme/theme6.xml" ContentType="application/vnd.openxmlformats-officedocument.theme+xml"/>
  <Override PartName="/ppt/theme/theme60.xml" ContentType="application/vnd.openxmlformats-officedocument.theme+xml"/>
  <Override PartName="/ppt/theme/theme61.xml" ContentType="application/vnd.openxmlformats-officedocument.theme+xml"/>
  <Override PartName="/ppt/theme/theme62.xml" ContentType="application/vnd.openxmlformats-officedocument.theme+xml"/>
  <Override PartName="/ppt/theme/theme63.xml" ContentType="application/vnd.openxmlformats-officedocument.theme+xml"/>
  <Override PartName="/ppt/theme/theme64.xml" ContentType="application/vnd.openxmlformats-officedocument.theme+xml"/>
  <Override PartName="/ppt/theme/theme65.xml" ContentType="application/vnd.openxmlformats-officedocument.theme+xml"/>
  <Override PartName="/ppt/theme/theme66.xml" ContentType="application/vnd.openxmlformats-officedocument.theme+xml"/>
  <Override PartName="/ppt/theme/theme67.xml" ContentType="application/vnd.openxmlformats-officedocument.theme+xml"/>
  <Override PartName="/ppt/theme/theme68.xml" ContentType="application/vnd.openxmlformats-officedocument.theme+xml"/>
  <Override PartName="/ppt/theme/theme69.xml" ContentType="application/vnd.openxmlformats-officedocument.theme+xml"/>
  <Override PartName="/ppt/theme/theme7.xml" ContentType="application/vnd.openxmlformats-officedocument.theme+xml"/>
  <Override PartName="/ppt/theme/theme70.xml" ContentType="application/vnd.openxmlformats-officedocument.theme+xml"/>
  <Override PartName="/ppt/theme/theme71.xml" ContentType="application/vnd.openxmlformats-officedocument.theme+xml"/>
  <Override PartName="/ppt/theme/theme72.xml" ContentType="application/vnd.openxmlformats-officedocument.theme+xml"/>
  <Override PartName="/ppt/theme/theme73.xml" ContentType="application/vnd.openxmlformats-officedocument.theme+xml"/>
  <Override PartName="/ppt/theme/theme74.xml" ContentType="application/vnd.openxmlformats-officedocument.theme+xml"/>
  <Override PartName="/ppt/theme/theme75.xml" ContentType="application/vnd.openxmlformats-officedocument.theme+xml"/>
  <Override PartName="/ppt/theme/theme76.xml" ContentType="application/vnd.openxmlformats-officedocument.theme+xml"/>
  <Override PartName="/ppt/theme/theme7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60" r:id="rId4"/>
    <p:sldMasterId id="2147483664" r:id="rId5"/>
    <p:sldMasterId id="2147483666" r:id="rId6"/>
    <p:sldMasterId id="2147483669" r:id="rId7"/>
    <p:sldMasterId id="2147483688" r:id="rId8"/>
    <p:sldMasterId id="2147483690" r:id="rId9"/>
    <p:sldMasterId id="2147483693" r:id="rId10"/>
    <p:sldMasterId id="2147483696" r:id="rId11"/>
    <p:sldMasterId id="2147483699" r:id="rId12"/>
    <p:sldMasterId id="2147483702" r:id="rId13"/>
    <p:sldMasterId id="2147483705" r:id="rId14"/>
    <p:sldMasterId id="2147483708" r:id="rId15"/>
    <p:sldMasterId id="2147483711" r:id="rId16"/>
    <p:sldMasterId id="2147483730" r:id="rId17"/>
    <p:sldMasterId id="2147483733" r:id="rId18"/>
    <p:sldMasterId id="2147483736" r:id="rId19"/>
    <p:sldMasterId id="2147483739" r:id="rId20"/>
    <p:sldMasterId id="2147483758" r:id="rId21"/>
    <p:sldMasterId id="2147483761" r:id="rId22"/>
    <p:sldMasterId id="2147483764" r:id="rId23"/>
    <p:sldMasterId id="2147483767" r:id="rId24"/>
    <p:sldMasterId id="2147483770" r:id="rId25"/>
    <p:sldMasterId id="2147483773" r:id="rId26"/>
    <p:sldMasterId id="2147483792" r:id="rId27"/>
    <p:sldMasterId id="2147483795" r:id="rId28"/>
    <p:sldMasterId id="2147483798" r:id="rId29"/>
    <p:sldMasterId id="2147483801" r:id="rId30"/>
    <p:sldMasterId id="2147483804" r:id="rId31"/>
    <p:sldMasterId id="2147483807" r:id="rId32"/>
    <p:sldMasterId id="2147483810" r:id="rId33"/>
    <p:sldMasterId id="2147483813" r:id="rId34"/>
    <p:sldMasterId id="2147483816" r:id="rId35"/>
    <p:sldMasterId id="2147483819" r:id="rId36"/>
    <p:sldMasterId id="2147483822" r:id="rId37"/>
    <p:sldMasterId id="2147483825" r:id="rId38"/>
    <p:sldMasterId id="2147483828" r:id="rId39"/>
    <p:sldMasterId id="2147483831" r:id="rId40"/>
    <p:sldMasterId id="2147483834" r:id="rId41"/>
    <p:sldMasterId id="2147483837" r:id="rId42"/>
    <p:sldMasterId id="2147483841" r:id="rId43"/>
    <p:sldMasterId id="2147483845" r:id="rId44"/>
    <p:sldMasterId id="2147483849" r:id="rId45"/>
    <p:sldMasterId id="2147483853" r:id="rId46"/>
    <p:sldMasterId id="2147483857" r:id="rId47"/>
    <p:sldMasterId id="2147483861" r:id="rId48"/>
    <p:sldMasterId id="2147483865" r:id="rId49"/>
    <p:sldMasterId id="2147483869" r:id="rId50"/>
    <p:sldMasterId id="2147483873" r:id="rId51"/>
    <p:sldMasterId id="2147483877" r:id="rId52"/>
    <p:sldMasterId id="2147483881" r:id="rId53"/>
    <p:sldMasterId id="2147483885" r:id="rId54"/>
    <p:sldMasterId id="2147483889" r:id="rId55"/>
    <p:sldMasterId id="2147483893" r:id="rId56"/>
    <p:sldMasterId id="2147483898" r:id="rId57"/>
    <p:sldMasterId id="2147483902" r:id="rId58"/>
    <p:sldMasterId id="2147483906" r:id="rId59"/>
    <p:sldMasterId id="2147483910" r:id="rId60"/>
    <p:sldMasterId id="2147483914" r:id="rId61"/>
    <p:sldMasterId id="2147483918" r:id="rId62"/>
    <p:sldMasterId id="2147483922" r:id="rId63"/>
    <p:sldMasterId id="2147483926" r:id="rId64"/>
    <p:sldMasterId id="2147483930" r:id="rId65"/>
    <p:sldMasterId id="2147483934" r:id="rId66"/>
    <p:sldMasterId id="2147483938" r:id="rId67"/>
    <p:sldMasterId id="2147483941" r:id="rId68"/>
    <p:sldMasterId id="2147483944" r:id="rId69"/>
    <p:sldMasterId id="2147483947" r:id="rId70"/>
    <p:sldMasterId id="2147483950" r:id="rId71"/>
    <p:sldMasterId id="2147483953" r:id="rId72"/>
    <p:sldMasterId id="2147483956" r:id="rId73"/>
    <p:sldMasterId id="2147483959" r:id="rId74"/>
    <p:sldMasterId id="2147483962" r:id="rId75"/>
    <p:sldMasterId id="2147483965" r:id="rId76"/>
  </p:sldMasterIdLst>
  <p:notesMasterIdLst>
    <p:notesMasterId r:id="rId78"/>
  </p:notesMasterIdLst>
  <p:handoutMasterIdLst>
    <p:handoutMasterId r:id="rId190"/>
  </p:handoutMasterIdLst>
  <p:sldIdLst>
    <p:sldId id="462" r:id="rId77"/>
    <p:sldId id="479" r:id="rId79"/>
    <p:sldId id="1568" r:id="rId80"/>
    <p:sldId id="1570" r:id="rId81"/>
    <p:sldId id="1572" r:id="rId82"/>
    <p:sldId id="1573" r:id="rId83"/>
    <p:sldId id="1574" r:id="rId84"/>
    <p:sldId id="1575" r:id="rId85"/>
    <p:sldId id="1576" r:id="rId86"/>
    <p:sldId id="1726" r:id="rId87"/>
    <p:sldId id="1577" r:id="rId88"/>
    <p:sldId id="1578" r:id="rId89"/>
    <p:sldId id="1579" r:id="rId90"/>
    <p:sldId id="1581" r:id="rId91"/>
    <p:sldId id="1582" r:id="rId92"/>
    <p:sldId id="1583" r:id="rId93"/>
    <p:sldId id="1584" r:id="rId94"/>
    <p:sldId id="1586" r:id="rId95"/>
    <p:sldId id="1587" r:id="rId96"/>
    <p:sldId id="1588" r:id="rId97"/>
    <p:sldId id="1590" r:id="rId98"/>
    <p:sldId id="1591" r:id="rId99"/>
    <p:sldId id="1592" r:id="rId100"/>
    <p:sldId id="1602" r:id="rId101"/>
    <p:sldId id="1603" r:id="rId102"/>
    <p:sldId id="1605" r:id="rId103"/>
    <p:sldId id="1606" r:id="rId104"/>
    <p:sldId id="1593" r:id="rId105"/>
    <p:sldId id="1594" r:id="rId106"/>
    <p:sldId id="1597" r:id="rId107"/>
    <p:sldId id="1598" r:id="rId108"/>
    <p:sldId id="1599" r:id="rId109"/>
    <p:sldId id="1596" r:id="rId110"/>
    <p:sldId id="1600" r:id="rId111"/>
    <p:sldId id="1601" r:id="rId112"/>
    <p:sldId id="1636" r:id="rId113"/>
    <p:sldId id="1637" r:id="rId114"/>
    <p:sldId id="1639" r:id="rId115"/>
    <p:sldId id="1641" r:id="rId116"/>
    <p:sldId id="1640" r:id="rId117"/>
    <p:sldId id="1642" r:id="rId118"/>
    <p:sldId id="1643" r:id="rId119"/>
    <p:sldId id="1644" r:id="rId120"/>
    <p:sldId id="1645" r:id="rId121"/>
    <p:sldId id="1646" r:id="rId122"/>
    <p:sldId id="1647" r:id="rId123"/>
    <p:sldId id="1648" r:id="rId124"/>
    <p:sldId id="1649" r:id="rId125"/>
    <p:sldId id="1650" r:id="rId126"/>
    <p:sldId id="1651" r:id="rId127"/>
    <p:sldId id="1652" r:id="rId128"/>
    <p:sldId id="1653" r:id="rId129"/>
    <p:sldId id="1654" r:id="rId130"/>
    <p:sldId id="1655" r:id="rId131"/>
    <p:sldId id="1607" r:id="rId132"/>
    <p:sldId id="1608" r:id="rId133"/>
    <p:sldId id="1609" r:id="rId134"/>
    <p:sldId id="1610" r:id="rId135"/>
    <p:sldId id="1611" r:id="rId136"/>
    <p:sldId id="1612" r:id="rId137"/>
    <p:sldId id="1614" r:id="rId138"/>
    <p:sldId id="1623" r:id="rId139"/>
    <p:sldId id="1624" r:id="rId140"/>
    <p:sldId id="1626" r:id="rId141"/>
    <p:sldId id="1627" r:id="rId142"/>
    <p:sldId id="1628" r:id="rId143"/>
    <p:sldId id="1629" r:id="rId144"/>
    <p:sldId id="1630" r:id="rId145"/>
    <p:sldId id="1631" r:id="rId146"/>
    <p:sldId id="1656" r:id="rId147"/>
    <p:sldId id="1657" r:id="rId148"/>
    <p:sldId id="1659" r:id="rId149"/>
    <p:sldId id="1660" r:id="rId150"/>
    <p:sldId id="1661" r:id="rId151"/>
    <p:sldId id="1662" r:id="rId152"/>
    <p:sldId id="1663" r:id="rId153"/>
    <p:sldId id="1668" r:id="rId154"/>
    <p:sldId id="1669" r:id="rId155"/>
    <p:sldId id="1685" r:id="rId156"/>
    <p:sldId id="1686" r:id="rId157"/>
    <p:sldId id="1687" r:id="rId158"/>
    <p:sldId id="1688" r:id="rId159"/>
    <p:sldId id="1689" r:id="rId160"/>
    <p:sldId id="1690" r:id="rId161"/>
    <p:sldId id="1691" r:id="rId162"/>
    <p:sldId id="1693" r:id="rId163"/>
    <p:sldId id="1692" r:id="rId164"/>
    <p:sldId id="1694" r:id="rId165"/>
    <p:sldId id="1695" r:id="rId166"/>
    <p:sldId id="1696" r:id="rId167"/>
    <p:sldId id="1698" r:id="rId168"/>
    <p:sldId id="1699" r:id="rId169"/>
    <p:sldId id="1700" r:id="rId170"/>
    <p:sldId id="1701" r:id="rId171"/>
    <p:sldId id="1702" r:id="rId172"/>
    <p:sldId id="1703" r:id="rId173"/>
    <p:sldId id="1704" r:id="rId174"/>
    <p:sldId id="1706" r:id="rId175"/>
    <p:sldId id="1707" r:id="rId176"/>
    <p:sldId id="1709" r:id="rId177"/>
    <p:sldId id="1710" r:id="rId178"/>
    <p:sldId id="1712" r:id="rId179"/>
    <p:sldId id="1713" r:id="rId180"/>
    <p:sldId id="1714" r:id="rId181"/>
    <p:sldId id="1716" r:id="rId182"/>
    <p:sldId id="1717" r:id="rId183"/>
    <p:sldId id="1719" r:id="rId184"/>
    <p:sldId id="1721" r:id="rId185"/>
    <p:sldId id="1722" r:id="rId186"/>
    <p:sldId id="1723" r:id="rId187"/>
    <p:sldId id="1724" r:id="rId188"/>
    <p:sldId id="264" r:id="rId189"/>
  </p:sldIdLst>
  <p:sldSz cx="12192000" cy="6858000"/>
  <p:notesSz cx="6858000" cy="9144000"/>
  <p:custDataLst>
    <p:tags r:id="rId19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NGJIAN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D2A26"/>
    <a:srgbClr val="AD2B26"/>
    <a:srgbClr val="49504F"/>
    <a:srgbClr val="B60206"/>
    <a:srgbClr val="B70006"/>
    <a:srgbClr val="FFFFE4"/>
    <a:srgbClr val="919191"/>
    <a:srgbClr val="333333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43" autoAdjust="0"/>
    <p:restoredTop sz="95344" autoAdjust="0"/>
  </p:normalViewPr>
  <p:slideViewPr>
    <p:cSldViewPr snapToGrid="0">
      <p:cViewPr varScale="1">
        <p:scale>
          <a:sx n="93" d="100"/>
          <a:sy n="93" d="100"/>
        </p:scale>
        <p:origin x="216" y="520"/>
      </p:cViewPr>
      <p:guideLst>
        <p:guide orient="horz" pos="592"/>
        <p:guide pos="370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22.xml"/><Relationship Id="rId98" Type="http://schemas.openxmlformats.org/officeDocument/2006/relationships/slide" Target="slides/slide21.xml"/><Relationship Id="rId97" Type="http://schemas.openxmlformats.org/officeDocument/2006/relationships/slide" Target="slides/slide20.xml"/><Relationship Id="rId96" Type="http://schemas.openxmlformats.org/officeDocument/2006/relationships/slide" Target="slides/slide19.xml"/><Relationship Id="rId95" Type="http://schemas.openxmlformats.org/officeDocument/2006/relationships/slide" Target="slides/slide18.xml"/><Relationship Id="rId94" Type="http://schemas.openxmlformats.org/officeDocument/2006/relationships/slide" Target="slides/slide17.xml"/><Relationship Id="rId93" Type="http://schemas.openxmlformats.org/officeDocument/2006/relationships/slide" Target="slides/slide16.xml"/><Relationship Id="rId92" Type="http://schemas.openxmlformats.org/officeDocument/2006/relationships/slide" Target="slides/slide15.xml"/><Relationship Id="rId91" Type="http://schemas.openxmlformats.org/officeDocument/2006/relationships/slide" Target="slides/slide14.xml"/><Relationship Id="rId90" Type="http://schemas.openxmlformats.org/officeDocument/2006/relationships/slide" Target="slides/slide13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12.xml"/><Relationship Id="rId88" Type="http://schemas.openxmlformats.org/officeDocument/2006/relationships/slide" Target="slides/slide11.xml"/><Relationship Id="rId87" Type="http://schemas.openxmlformats.org/officeDocument/2006/relationships/slide" Target="slides/slide10.xml"/><Relationship Id="rId86" Type="http://schemas.openxmlformats.org/officeDocument/2006/relationships/slide" Target="slides/slide9.xml"/><Relationship Id="rId85" Type="http://schemas.openxmlformats.org/officeDocument/2006/relationships/slide" Target="slides/slide8.xml"/><Relationship Id="rId84" Type="http://schemas.openxmlformats.org/officeDocument/2006/relationships/slide" Target="slides/slide7.xml"/><Relationship Id="rId83" Type="http://schemas.openxmlformats.org/officeDocument/2006/relationships/slide" Target="slides/slide6.xml"/><Relationship Id="rId82" Type="http://schemas.openxmlformats.org/officeDocument/2006/relationships/slide" Target="slides/slide5.xml"/><Relationship Id="rId81" Type="http://schemas.openxmlformats.org/officeDocument/2006/relationships/slide" Target="slides/slide4.xml"/><Relationship Id="rId80" Type="http://schemas.openxmlformats.org/officeDocument/2006/relationships/slide" Target="slides/slide3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2.xml"/><Relationship Id="rId78" Type="http://schemas.openxmlformats.org/officeDocument/2006/relationships/notesMaster" Target="notesMasters/notesMaster1.xml"/><Relationship Id="rId77" Type="http://schemas.openxmlformats.org/officeDocument/2006/relationships/slide" Target="slides/slide1.xml"/><Relationship Id="rId76" Type="http://schemas.openxmlformats.org/officeDocument/2006/relationships/slideMaster" Target="slideMasters/slideMaster75.xml"/><Relationship Id="rId75" Type="http://schemas.openxmlformats.org/officeDocument/2006/relationships/slideMaster" Target="slideMasters/slideMaster74.xml"/><Relationship Id="rId74" Type="http://schemas.openxmlformats.org/officeDocument/2006/relationships/slideMaster" Target="slideMasters/slideMaster73.xml"/><Relationship Id="rId73" Type="http://schemas.openxmlformats.org/officeDocument/2006/relationships/slideMaster" Target="slideMasters/slideMaster72.xml"/><Relationship Id="rId72" Type="http://schemas.openxmlformats.org/officeDocument/2006/relationships/slideMaster" Target="slideMasters/slideMaster71.xml"/><Relationship Id="rId71" Type="http://schemas.openxmlformats.org/officeDocument/2006/relationships/slideMaster" Target="slideMasters/slideMaster70.xml"/><Relationship Id="rId70" Type="http://schemas.openxmlformats.org/officeDocument/2006/relationships/slideMaster" Target="slideMasters/slideMaster69.xml"/><Relationship Id="rId7" Type="http://schemas.openxmlformats.org/officeDocument/2006/relationships/slideMaster" Target="slideMasters/slideMaster6.xml"/><Relationship Id="rId69" Type="http://schemas.openxmlformats.org/officeDocument/2006/relationships/slideMaster" Target="slideMasters/slideMaster68.xml"/><Relationship Id="rId68" Type="http://schemas.openxmlformats.org/officeDocument/2006/relationships/slideMaster" Target="slideMasters/slideMaster67.xml"/><Relationship Id="rId67" Type="http://schemas.openxmlformats.org/officeDocument/2006/relationships/slideMaster" Target="slideMasters/slideMaster66.xml"/><Relationship Id="rId66" Type="http://schemas.openxmlformats.org/officeDocument/2006/relationships/slideMaster" Target="slideMasters/slideMaster65.xml"/><Relationship Id="rId65" Type="http://schemas.openxmlformats.org/officeDocument/2006/relationships/slideMaster" Target="slideMasters/slideMaster64.xml"/><Relationship Id="rId64" Type="http://schemas.openxmlformats.org/officeDocument/2006/relationships/slideMaster" Target="slideMasters/slideMaster63.xml"/><Relationship Id="rId63" Type="http://schemas.openxmlformats.org/officeDocument/2006/relationships/slideMaster" Target="slideMasters/slideMaster62.xml"/><Relationship Id="rId62" Type="http://schemas.openxmlformats.org/officeDocument/2006/relationships/slideMaster" Target="slideMasters/slideMaster61.xml"/><Relationship Id="rId61" Type="http://schemas.openxmlformats.org/officeDocument/2006/relationships/slideMaster" Target="slideMasters/slideMaster60.xml"/><Relationship Id="rId60" Type="http://schemas.openxmlformats.org/officeDocument/2006/relationships/slideMaster" Target="slideMasters/slideMaster59.xml"/><Relationship Id="rId6" Type="http://schemas.openxmlformats.org/officeDocument/2006/relationships/slideMaster" Target="slideMasters/slideMaster5.xml"/><Relationship Id="rId59" Type="http://schemas.openxmlformats.org/officeDocument/2006/relationships/slideMaster" Target="slideMasters/slideMaster58.xml"/><Relationship Id="rId58" Type="http://schemas.openxmlformats.org/officeDocument/2006/relationships/slideMaster" Target="slideMasters/slideMaster57.xml"/><Relationship Id="rId57" Type="http://schemas.openxmlformats.org/officeDocument/2006/relationships/slideMaster" Target="slideMasters/slideMaster56.xml"/><Relationship Id="rId56" Type="http://schemas.openxmlformats.org/officeDocument/2006/relationships/slideMaster" Target="slideMasters/slideMaster55.xml"/><Relationship Id="rId55" Type="http://schemas.openxmlformats.org/officeDocument/2006/relationships/slideMaster" Target="slideMasters/slideMaster54.xml"/><Relationship Id="rId54" Type="http://schemas.openxmlformats.org/officeDocument/2006/relationships/slideMaster" Target="slideMasters/slideMaster53.xml"/><Relationship Id="rId53" Type="http://schemas.openxmlformats.org/officeDocument/2006/relationships/slideMaster" Target="slideMasters/slideMaster52.xml"/><Relationship Id="rId52" Type="http://schemas.openxmlformats.org/officeDocument/2006/relationships/slideMaster" Target="slideMasters/slideMaster51.xml"/><Relationship Id="rId51" Type="http://schemas.openxmlformats.org/officeDocument/2006/relationships/slideMaster" Target="slideMasters/slideMaster50.xml"/><Relationship Id="rId50" Type="http://schemas.openxmlformats.org/officeDocument/2006/relationships/slideMaster" Target="slideMasters/slideMaster49.xml"/><Relationship Id="rId5" Type="http://schemas.openxmlformats.org/officeDocument/2006/relationships/slideMaster" Target="slideMasters/slideMaster4.xml"/><Relationship Id="rId49" Type="http://schemas.openxmlformats.org/officeDocument/2006/relationships/slideMaster" Target="slideMasters/slideMaster48.xml"/><Relationship Id="rId48" Type="http://schemas.openxmlformats.org/officeDocument/2006/relationships/slideMaster" Target="slideMasters/slideMaster47.xml"/><Relationship Id="rId47" Type="http://schemas.openxmlformats.org/officeDocument/2006/relationships/slideMaster" Target="slideMasters/slideMaster46.xml"/><Relationship Id="rId46" Type="http://schemas.openxmlformats.org/officeDocument/2006/relationships/slideMaster" Target="slideMasters/slideMaster45.xml"/><Relationship Id="rId45" Type="http://schemas.openxmlformats.org/officeDocument/2006/relationships/slideMaster" Target="slideMasters/slideMaster44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5" Type="http://schemas.openxmlformats.org/officeDocument/2006/relationships/tags" Target="tags/tag7.xml"/><Relationship Id="rId194" Type="http://schemas.openxmlformats.org/officeDocument/2006/relationships/commentAuthors" Target="commentAuthors.xml"/><Relationship Id="rId193" Type="http://schemas.openxmlformats.org/officeDocument/2006/relationships/tableStyles" Target="tableStyles.xml"/><Relationship Id="rId192" Type="http://schemas.openxmlformats.org/officeDocument/2006/relationships/viewProps" Target="viewProps.xml"/><Relationship Id="rId191" Type="http://schemas.openxmlformats.org/officeDocument/2006/relationships/presProps" Target="presProps.xml"/><Relationship Id="rId190" Type="http://schemas.openxmlformats.org/officeDocument/2006/relationships/handoutMaster" Target="handoutMasters/handoutMaster1.xml"/><Relationship Id="rId19" Type="http://schemas.openxmlformats.org/officeDocument/2006/relationships/slideMaster" Target="slideMasters/slideMaster18.xml"/><Relationship Id="rId189" Type="http://schemas.openxmlformats.org/officeDocument/2006/relationships/slide" Target="slides/slide112.xml"/><Relationship Id="rId188" Type="http://schemas.openxmlformats.org/officeDocument/2006/relationships/slide" Target="slides/slide111.xml"/><Relationship Id="rId187" Type="http://schemas.openxmlformats.org/officeDocument/2006/relationships/slide" Target="slides/slide110.xml"/><Relationship Id="rId186" Type="http://schemas.openxmlformats.org/officeDocument/2006/relationships/slide" Target="slides/slide109.xml"/><Relationship Id="rId185" Type="http://schemas.openxmlformats.org/officeDocument/2006/relationships/slide" Target="slides/slide108.xml"/><Relationship Id="rId184" Type="http://schemas.openxmlformats.org/officeDocument/2006/relationships/slide" Target="slides/slide107.xml"/><Relationship Id="rId183" Type="http://schemas.openxmlformats.org/officeDocument/2006/relationships/slide" Target="slides/slide106.xml"/><Relationship Id="rId182" Type="http://schemas.openxmlformats.org/officeDocument/2006/relationships/slide" Target="slides/slide105.xml"/><Relationship Id="rId181" Type="http://schemas.openxmlformats.org/officeDocument/2006/relationships/slide" Target="slides/slide104.xml"/><Relationship Id="rId180" Type="http://schemas.openxmlformats.org/officeDocument/2006/relationships/slide" Target="slides/slide103.xml"/><Relationship Id="rId18" Type="http://schemas.openxmlformats.org/officeDocument/2006/relationships/slideMaster" Target="slideMasters/slideMaster17.xml"/><Relationship Id="rId179" Type="http://schemas.openxmlformats.org/officeDocument/2006/relationships/slide" Target="slides/slide102.xml"/><Relationship Id="rId178" Type="http://schemas.openxmlformats.org/officeDocument/2006/relationships/slide" Target="slides/slide101.xml"/><Relationship Id="rId177" Type="http://schemas.openxmlformats.org/officeDocument/2006/relationships/slide" Target="slides/slide100.xml"/><Relationship Id="rId176" Type="http://schemas.openxmlformats.org/officeDocument/2006/relationships/slide" Target="slides/slide99.xml"/><Relationship Id="rId175" Type="http://schemas.openxmlformats.org/officeDocument/2006/relationships/slide" Target="slides/slide98.xml"/><Relationship Id="rId174" Type="http://schemas.openxmlformats.org/officeDocument/2006/relationships/slide" Target="slides/slide97.xml"/><Relationship Id="rId173" Type="http://schemas.openxmlformats.org/officeDocument/2006/relationships/slide" Target="slides/slide96.xml"/><Relationship Id="rId172" Type="http://schemas.openxmlformats.org/officeDocument/2006/relationships/slide" Target="slides/slide95.xml"/><Relationship Id="rId171" Type="http://schemas.openxmlformats.org/officeDocument/2006/relationships/slide" Target="slides/slide94.xml"/><Relationship Id="rId170" Type="http://schemas.openxmlformats.org/officeDocument/2006/relationships/slide" Target="slides/slide93.xml"/><Relationship Id="rId17" Type="http://schemas.openxmlformats.org/officeDocument/2006/relationships/slideMaster" Target="slideMasters/slideMaster16.xml"/><Relationship Id="rId169" Type="http://schemas.openxmlformats.org/officeDocument/2006/relationships/slide" Target="slides/slide92.xml"/><Relationship Id="rId168" Type="http://schemas.openxmlformats.org/officeDocument/2006/relationships/slide" Target="slides/slide91.xml"/><Relationship Id="rId167" Type="http://schemas.openxmlformats.org/officeDocument/2006/relationships/slide" Target="slides/slide90.xml"/><Relationship Id="rId166" Type="http://schemas.openxmlformats.org/officeDocument/2006/relationships/slide" Target="slides/slide89.xml"/><Relationship Id="rId165" Type="http://schemas.openxmlformats.org/officeDocument/2006/relationships/slide" Target="slides/slide88.xml"/><Relationship Id="rId164" Type="http://schemas.openxmlformats.org/officeDocument/2006/relationships/slide" Target="slides/slide87.xml"/><Relationship Id="rId163" Type="http://schemas.openxmlformats.org/officeDocument/2006/relationships/slide" Target="slides/slide86.xml"/><Relationship Id="rId162" Type="http://schemas.openxmlformats.org/officeDocument/2006/relationships/slide" Target="slides/slide85.xml"/><Relationship Id="rId161" Type="http://schemas.openxmlformats.org/officeDocument/2006/relationships/slide" Target="slides/slide84.xml"/><Relationship Id="rId160" Type="http://schemas.openxmlformats.org/officeDocument/2006/relationships/slide" Target="slides/slide83.xml"/><Relationship Id="rId16" Type="http://schemas.openxmlformats.org/officeDocument/2006/relationships/slideMaster" Target="slideMasters/slideMaster15.xml"/><Relationship Id="rId159" Type="http://schemas.openxmlformats.org/officeDocument/2006/relationships/slide" Target="slides/slide82.xml"/><Relationship Id="rId158" Type="http://schemas.openxmlformats.org/officeDocument/2006/relationships/slide" Target="slides/slide81.xml"/><Relationship Id="rId157" Type="http://schemas.openxmlformats.org/officeDocument/2006/relationships/slide" Target="slides/slide80.xml"/><Relationship Id="rId156" Type="http://schemas.openxmlformats.org/officeDocument/2006/relationships/slide" Target="slides/slide79.xml"/><Relationship Id="rId155" Type="http://schemas.openxmlformats.org/officeDocument/2006/relationships/slide" Target="slides/slide78.xml"/><Relationship Id="rId154" Type="http://schemas.openxmlformats.org/officeDocument/2006/relationships/slide" Target="slides/slide77.xml"/><Relationship Id="rId153" Type="http://schemas.openxmlformats.org/officeDocument/2006/relationships/slide" Target="slides/slide76.xml"/><Relationship Id="rId152" Type="http://schemas.openxmlformats.org/officeDocument/2006/relationships/slide" Target="slides/slide75.xml"/><Relationship Id="rId151" Type="http://schemas.openxmlformats.org/officeDocument/2006/relationships/slide" Target="slides/slide74.xml"/><Relationship Id="rId150" Type="http://schemas.openxmlformats.org/officeDocument/2006/relationships/slide" Target="slides/slide73.xml"/><Relationship Id="rId15" Type="http://schemas.openxmlformats.org/officeDocument/2006/relationships/slideMaster" Target="slideMasters/slideMaster14.xml"/><Relationship Id="rId149" Type="http://schemas.openxmlformats.org/officeDocument/2006/relationships/slide" Target="slides/slide72.xml"/><Relationship Id="rId148" Type="http://schemas.openxmlformats.org/officeDocument/2006/relationships/slide" Target="slides/slide71.xml"/><Relationship Id="rId147" Type="http://schemas.openxmlformats.org/officeDocument/2006/relationships/slide" Target="slides/slide70.xml"/><Relationship Id="rId146" Type="http://schemas.openxmlformats.org/officeDocument/2006/relationships/slide" Target="slides/slide69.xml"/><Relationship Id="rId145" Type="http://schemas.openxmlformats.org/officeDocument/2006/relationships/slide" Target="slides/slide68.xml"/><Relationship Id="rId144" Type="http://schemas.openxmlformats.org/officeDocument/2006/relationships/slide" Target="slides/slide67.xml"/><Relationship Id="rId143" Type="http://schemas.openxmlformats.org/officeDocument/2006/relationships/slide" Target="slides/slide66.xml"/><Relationship Id="rId142" Type="http://schemas.openxmlformats.org/officeDocument/2006/relationships/slide" Target="slides/slide65.xml"/><Relationship Id="rId141" Type="http://schemas.openxmlformats.org/officeDocument/2006/relationships/slide" Target="slides/slide64.xml"/><Relationship Id="rId140" Type="http://schemas.openxmlformats.org/officeDocument/2006/relationships/slide" Target="slides/slide63.xml"/><Relationship Id="rId14" Type="http://schemas.openxmlformats.org/officeDocument/2006/relationships/slideMaster" Target="slideMasters/slideMaster13.xml"/><Relationship Id="rId139" Type="http://schemas.openxmlformats.org/officeDocument/2006/relationships/slide" Target="slides/slide62.xml"/><Relationship Id="rId138" Type="http://schemas.openxmlformats.org/officeDocument/2006/relationships/slide" Target="slides/slide61.xml"/><Relationship Id="rId137" Type="http://schemas.openxmlformats.org/officeDocument/2006/relationships/slide" Target="slides/slide60.xml"/><Relationship Id="rId136" Type="http://schemas.openxmlformats.org/officeDocument/2006/relationships/slide" Target="slides/slide59.xml"/><Relationship Id="rId135" Type="http://schemas.openxmlformats.org/officeDocument/2006/relationships/slide" Target="slides/slide58.xml"/><Relationship Id="rId134" Type="http://schemas.openxmlformats.org/officeDocument/2006/relationships/slide" Target="slides/slide57.xml"/><Relationship Id="rId133" Type="http://schemas.openxmlformats.org/officeDocument/2006/relationships/slide" Target="slides/slide56.xml"/><Relationship Id="rId132" Type="http://schemas.openxmlformats.org/officeDocument/2006/relationships/slide" Target="slides/slide55.xml"/><Relationship Id="rId131" Type="http://schemas.openxmlformats.org/officeDocument/2006/relationships/slide" Target="slides/slide54.xml"/><Relationship Id="rId130" Type="http://schemas.openxmlformats.org/officeDocument/2006/relationships/slide" Target="slides/slide53.xml"/><Relationship Id="rId13" Type="http://schemas.openxmlformats.org/officeDocument/2006/relationships/slideMaster" Target="slideMasters/slideMaster12.xml"/><Relationship Id="rId129" Type="http://schemas.openxmlformats.org/officeDocument/2006/relationships/slide" Target="slides/slide52.xml"/><Relationship Id="rId128" Type="http://schemas.openxmlformats.org/officeDocument/2006/relationships/slide" Target="slides/slide51.xml"/><Relationship Id="rId127" Type="http://schemas.openxmlformats.org/officeDocument/2006/relationships/slide" Target="slides/slide50.xml"/><Relationship Id="rId126" Type="http://schemas.openxmlformats.org/officeDocument/2006/relationships/slide" Target="slides/slide49.xml"/><Relationship Id="rId125" Type="http://schemas.openxmlformats.org/officeDocument/2006/relationships/slide" Target="slides/slide48.xml"/><Relationship Id="rId124" Type="http://schemas.openxmlformats.org/officeDocument/2006/relationships/slide" Target="slides/slide47.xml"/><Relationship Id="rId123" Type="http://schemas.openxmlformats.org/officeDocument/2006/relationships/slide" Target="slides/slide46.xml"/><Relationship Id="rId122" Type="http://schemas.openxmlformats.org/officeDocument/2006/relationships/slide" Target="slides/slide45.xml"/><Relationship Id="rId121" Type="http://schemas.openxmlformats.org/officeDocument/2006/relationships/slide" Target="slides/slide44.xml"/><Relationship Id="rId120" Type="http://schemas.openxmlformats.org/officeDocument/2006/relationships/slide" Target="slides/slide43.xml"/><Relationship Id="rId12" Type="http://schemas.openxmlformats.org/officeDocument/2006/relationships/slideMaster" Target="slideMasters/slideMaster11.xml"/><Relationship Id="rId119" Type="http://schemas.openxmlformats.org/officeDocument/2006/relationships/slide" Target="slides/slide42.xml"/><Relationship Id="rId118" Type="http://schemas.openxmlformats.org/officeDocument/2006/relationships/slide" Target="slides/slide41.xml"/><Relationship Id="rId117" Type="http://schemas.openxmlformats.org/officeDocument/2006/relationships/slide" Target="slides/slide40.xml"/><Relationship Id="rId116" Type="http://schemas.openxmlformats.org/officeDocument/2006/relationships/slide" Target="slides/slide39.xml"/><Relationship Id="rId115" Type="http://schemas.openxmlformats.org/officeDocument/2006/relationships/slide" Target="slides/slide38.xml"/><Relationship Id="rId114" Type="http://schemas.openxmlformats.org/officeDocument/2006/relationships/slide" Target="slides/slide37.xml"/><Relationship Id="rId113" Type="http://schemas.openxmlformats.org/officeDocument/2006/relationships/slide" Target="slides/slide36.xml"/><Relationship Id="rId112" Type="http://schemas.openxmlformats.org/officeDocument/2006/relationships/slide" Target="slides/slide35.xml"/><Relationship Id="rId111" Type="http://schemas.openxmlformats.org/officeDocument/2006/relationships/slide" Target="slides/slide34.xml"/><Relationship Id="rId110" Type="http://schemas.openxmlformats.org/officeDocument/2006/relationships/slide" Target="slides/slide33.xml"/><Relationship Id="rId11" Type="http://schemas.openxmlformats.org/officeDocument/2006/relationships/slideMaster" Target="slideMasters/slideMaster10.xml"/><Relationship Id="rId109" Type="http://schemas.openxmlformats.org/officeDocument/2006/relationships/slide" Target="slides/slide32.xml"/><Relationship Id="rId108" Type="http://schemas.openxmlformats.org/officeDocument/2006/relationships/slide" Target="slides/slide31.xml"/><Relationship Id="rId107" Type="http://schemas.openxmlformats.org/officeDocument/2006/relationships/slide" Target="slides/slide30.xml"/><Relationship Id="rId106" Type="http://schemas.openxmlformats.org/officeDocument/2006/relationships/slide" Target="slides/slide29.xml"/><Relationship Id="rId105" Type="http://schemas.openxmlformats.org/officeDocument/2006/relationships/slide" Target="slides/slide28.xml"/><Relationship Id="rId104" Type="http://schemas.openxmlformats.org/officeDocument/2006/relationships/slide" Target="slides/slide27.xml"/><Relationship Id="rId103" Type="http://schemas.openxmlformats.org/officeDocument/2006/relationships/slide" Target="slides/slide26.xml"/><Relationship Id="rId102" Type="http://schemas.openxmlformats.org/officeDocument/2006/relationships/slide" Target="slides/slide25.xml"/><Relationship Id="rId101" Type="http://schemas.openxmlformats.org/officeDocument/2006/relationships/slide" Target="slides/slide24.xml"/><Relationship Id="rId100" Type="http://schemas.openxmlformats.org/officeDocument/2006/relationships/slide" Target="slides/slide23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9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0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1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3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4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0" Type="http://schemas.openxmlformats.org/officeDocument/2006/relationships/theme" Target="../theme/theme6.xml"/><Relationship Id="rId2" Type="http://schemas.openxmlformats.org/officeDocument/2006/relationships/slideLayout" Target="../slideLayouts/slideLayout1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5.xml"/></Relationships>
</file>

<file path=ppt/slideMasters/_rels/slideMaster8.xml.rels><?xml version="1.0" encoding="UTF-8" standalone="yes"?>
<Relationships xmlns="http://schemas.openxmlformats.org/package/2006/relationships"><Relationship Id="rId5" Type="http://schemas.openxmlformats.org/officeDocument/2006/relationships/theme" Target="../theme/theme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/Relationships>
</file>

<file path=ppt/slideMasters/_rels/slideMaster9.xml.rels><?xml version="1.0" encoding="UTF-8" standalone="yes"?>
<Relationships xmlns="http://schemas.openxmlformats.org/package/2006/relationships"><Relationship Id="rId5" Type="http://schemas.openxmlformats.org/officeDocument/2006/relationships/theme" Target="../theme/theme9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/Relationships>
</file>

<file path=ppt/slideMasters/_rels/slideMaster10.xml.rels><?xml version="1.0" encoding="UTF-8" standalone="yes"?>
<Relationships xmlns="http://schemas.openxmlformats.org/package/2006/relationships"><Relationship Id="rId5" Type="http://schemas.openxmlformats.org/officeDocument/2006/relationships/theme" Target="../theme/theme1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/Relationships>
</file>

<file path=ppt/slideMasters/_rels/slideMaster1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/Relationships>
</file>

<file path=ppt/slideMasters/_rels/slideMaster12.xml.rels><?xml version="1.0" encoding="UTF-8" standalone="yes"?>
<Relationships xmlns="http://schemas.openxmlformats.org/package/2006/relationships"><Relationship Id="rId5" Type="http://schemas.openxmlformats.org/officeDocument/2006/relationships/theme" Target="../theme/theme1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/Relationships>
</file>

<file path=ppt/slideMasters/_rels/slideMaster13.xml.rels><?xml version="1.0" encoding="UTF-8" standalone="yes"?>
<Relationships xmlns="http://schemas.openxmlformats.org/package/2006/relationships"><Relationship Id="rId5" Type="http://schemas.openxmlformats.org/officeDocument/2006/relationships/theme" Target="../theme/theme1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/Relationships>
</file>

<file path=ppt/slideMasters/_rels/slideMaster14.xml.rels><?xml version="1.0" encoding="UTF-8" standalone="yes"?>
<Relationships xmlns="http://schemas.openxmlformats.org/package/2006/relationships"><Relationship Id="rId5" Type="http://schemas.openxmlformats.org/officeDocument/2006/relationships/theme" Target="../theme/theme14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2.xml"/><Relationship Id="rId20" Type="http://schemas.openxmlformats.org/officeDocument/2006/relationships/theme" Target="../theme/theme15.xml"/><Relationship Id="rId2" Type="http://schemas.openxmlformats.org/officeDocument/2006/relationships/slideLayout" Target="../slideLayouts/slideLayout51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0.xml"/></Relationships>
</file>

<file path=ppt/slideMasters/_rels/slideMaster16.xml.rels><?xml version="1.0" encoding="UTF-8" standalone="yes"?>
<Relationships xmlns="http://schemas.openxmlformats.org/package/2006/relationships"><Relationship Id="rId5" Type="http://schemas.openxmlformats.org/officeDocument/2006/relationships/theme" Target="../theme/theme16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/Relationships>
</file>

<file path=ppt/slideMasters/_rels/slideMaster17.xml.rels><?xml version="1.0" encoding="UTF-8" standalone="yes"?>
<Relationships xmlns="http://schemas.openxmlformats.org/package/2006/relationships"><Relationship Id="rId5" Type="http://schemas.openxmlformats.org/officeDocument/2006/relationships/theme" Target="../theme/theme17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1.xml"/><Relationship Id="rId1" Type="http://schemas.openxmlformats.org/officeDocument/2006/relationships/slideLayout" Target="../slideLayouts/slideLayout70.xml"/></Relationships>
</file>

<file path=ppt/slideMasters/_rels/slideMaster18.xml.rels><?xml version="1.0" encoding="UTF-8" standalone="yes"?>
<Relationships xmlns="http://schemas.openxmlformats.org/package/2006/relationships"><Relationship Id="rId5" Type="http://schemas.openxmlformats.org/officeDocument/2006/relationships/theme" Target="../theme/theme1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2.xml"/><Relationship Id="rId8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0.xml"/><Relationship Id="rId6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7.xml"/><Relationship Id="rId3" Type="http://schemas.openxmlformats.org/officeDocument/2006/relationships/slideLayout" Target="../slideLayouts/slideLayout76.xml"/><Relationship Id="rId20" Type="http://schemas.openxmlformats.org/officeDocument/2006/relationships/theme" Target="../theme/theme19.xml"/><Relationship Id="rId2" Type="http://schemas.openxmlformats.org/officeDocument/2006/relationships/slideLayout" Target="../slideLayouts/slideLayout75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91.xml"/><Relationship Id="rId17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88.xml"/><Relationship Id="rId14" Type="http://schemas.openxmlformats.org/officeDocument/2006/relationships/slideLayout" Target="../slideLayouts/slideLayout87.xml"/><Relationship Id="rId13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3.xml"/><Relationship Id="rId1" Type="http://schemas.openxmlformats.org/officeDocument/2006/relationships/slideLayout" Target="../slideLayouts/slideLayout74.xml"/></Relationships>
</file>

<file path=ppt/slideMasters/_rels/slideMaster20.xml.rels><?xml version="1.0" encoding="UTF-8" standalone="yes"?>
<Relationships xmlns="http://schemas.openxmlformats.org/package/2006/relationships"><Relationship Id="rId5" Type="http://schemas.openxmlformats.org/officeDocument/2006/relationships/theme" Target="../theme/theme2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3.xml"/><Relationship Id="rId1" Type="http://schemas.openxmlformats.org/officeDocument/2006/relationships/slideLayout" Target="../slideLayouts/slideLayout92.xml"/></Relationships>
</file>

<file path=ppt/slideMasters/_rels/slideMaster21.xml.rels><?xml version="1.0" encoding="UTF-8" standalone="yes"?>
<Relationships xmlns="http://schemas.openxmlformats.org/package/2006/relationships"><Relationship Id="rId5" Type="http://schemas.openxmlformats.org/officeDocument/2006/relationships/theme" Target="../theme/theme2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5.xml"/><Relationship Id="rId1" Type="http://schemas.openxmlformats.org/officeDocument/2006/relationships/slideLayout" Target="../slideLayouts/slideLayout94.xml"/></Relationships>
</file>

<file path=ppt/slideMasters/_rels/slideMaster2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7.xml"/><Relationship Id="rId1" Type="http://schemas.openxmlformats.org/officeDocument/2006/relationships/slideLayout" Target="../slideLayouts/slideLayout96.xml"/></Relationships>
</file>

<file path=ppt/slideMasters/_rels/slideMaster23.xml.rels><?xml version="1.0" encoding="UTF-8" standalone="yes"?>
<Relationships xmlns="http://schemas.openxmlformats.org/package/2006/relationships"><Relationship Id="rId5" Type="http://schemas.openxmlformats.org/officeDocument/2006/relationships/theme" Target="../theme/theme2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9.xml"/><Relationship Id="rId1" Type="http://schemas.openxmlformats.org/officeDocument/2006/relationships/slideLayout" Target="../slideLayouts/slideLayout98.xml"/></Relationships>
</file>

<file path=ppt/slideMasters/_rels/slideMaster24.xml.rels><?xml version="1.0" encoding="UTF-8" standalone="yes"?>
<Relationships xmlns="http://schemas.openxmlformats.org/package/2006/relationships"><Relationship Id="rId5" Type="http://schemas.openxmlformats.org/officeDocument/2006/relationships/theme" Target="../theme/theme24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0.xml"/><Relationship Id="rId8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108.xml"/><Relationship Id="rId6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5.xml"/><Relationship Id="rId3" Type="http://schemas.openxmlformats.org/officeDocument/2006/relationships/slideLayout" Target="../slideLayouts/slideLayout104.xml"/><Relationship Id="rId20" Type="http://schemas.openxmlformats.org/officeDocument/2006/relationships/theme" Target="../theme/theme25.xml"/><Relationship Id="rId2" Type="http://schemas.openxmlformats.org/officeDocument/2006/relationships/slideLayout" Target="../slideLayouts/slideLayout103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19.xml"/><Relationship Id="rId17" Type="http://schemas.openxmlformats.org/officeDocument/2006/relationships/slideLayout" Target="../slideLayouts/slideLayout118.xml"/><Relationship Id="rId16" Type="http://schemas.openxmlformats.org/officeDocument/2006/relationships/slideLayout" Target="../slideLayouts/slideLayout117.xml"/><Relationship Id="rId15" Type="http://schemas.openxmlformats.org/officeDocument/2006/relationships/slideLayout" Target="../slideLayouts/slideLayout116.xml"/><Relationship Id="rId14" Type="http://schemas.openxmlformats.org/officeDocument/2006/relationships/slideLayout" Target="../slideLayouts/slideLayout115.xml"/><Relationship Id="rId13" Type="http://schemas.openxmlformats.org/officeDocument/2006/relationships/slideLayout" Target="../slideLayouts/slideLayout114.xml"/><Relationship Id="rId12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112.xml"/><Relationship Id="rId10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102.xml"/></Relationships>
</file>

<file path=ppt/slideMasters/_rels/slideMaster26.xml.rels><?xml version="1.0" encoding="UTF-8" standalone="yes"?>
<Relationships xmlns="http://schemas.openxmlformats.org/package/2006/relationships"><Relationship Id="rId5" Type="http://schemas.openxmlformats.org/officeDocument/2006/relationships/theme" Target="../theme/theme26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1.xml"/><Relationship Id="rId1" Type="http://schemas.openxmlformats.org/officeDocument/2006/relationships/slideLayout" Target="../slideLayouts/slideLayout120.xml"/></Relationships>
</file>

<file path=ppt/slideMasters/_rels/slideMaster27.xml.rels><?xml version="1.0" encoding="UTF-8" standalone="yes"?>
<Relationships xmlns="http://schemas.openxmlformats.org/package/2006/relationships"><Relationship Id="rId5" Type="http://schemas.openxmlformats.org/officeDocument/2006/relationships/theme" Target="../theme/theme27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/Relationships>
</file>

<file path=ppt/slideMasters/_rels/slideMaster28.xml.rels><?xml version="1.0" encoding="UTF-8" standalone="yes"?>
<Relationships xmlns="http://schemas.openxmlformats.org/package/2006/relationships"><Relationship Id="rId5" Type="http://schemas.openxmlformats.org/officeDocument/2006/relationships/theme" Target="../theme/theme2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124.xml"/></Relationships>
</file>

<file path=ppt/slideMasters/_rels/slideMaster29.xml.rels><?xml version="1.0" encoding="UTF-8" standalone="yes"?>
<Relationships xmlns="http://schemas.openxmlformats.org/package/2006/relationships"><Relationship Id="rId5" Type="http://schemas.openxmlformats.org/officeDocument/2006/relationships/theme" Target="../theme/theme29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7.xml"/><Relationship Id="rId1" Type="http://schemas.openxmlformats.org/officeDocument/2006/relationships/slideLayout" Target="../slideLayouts/slideLayout126.xml"/></Relationships>
</file>

<file path=ppt/slideMasters/_rels/slideMaster30.xml.rels><?xml version="1.0" encoding="UTF-8" standalone="yes"?>
<Relationships xmlns="http://schemas.openxmlformats.org/package/2006/relationships"><Relationship Id="rId5" Type="http://schemas.openxmlformats.org/officeDocument/2006/relationships/theme" Target="../theme/theme3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9.xml"/><Relationship Id="rId1" Type="http://schemas.openxmlformats.org/officeDocument/2006/relationships/slideLayout" Target="../slideLayouts/slideLayout128.xml"/></Relationships>
</file>

<file path=ppt/slideMasters/_rels/slideMaster31.xml.rels><?xml version="1.0" encoding="UTF-8" standalone="yes"?>
<Relationships xmlns="http://schemas.openxmlformats.org/package/2006/relationships"><Relationship Id="rId5" Type="http://schemas.openxmlformats.org/officeDocument/2006/relationships/theme" Target="../theme/theme3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30.xml"/></Relationships>
</file>

<file path=ppt/slideMasters/_rels/slideMaster32.xml.rels><?xml version="1.0" encoding="UTF-8" standalone="yes"?>
<Relationships xmlns="http://schemas.openxmlformats.org/package/2006/relationships"><Relationship Id="rId5" Type="http://schemas.openxmlformats.org/officeDocument/2006/relationships/theme" Target="../theme/theme3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3.xml"/><Relationship Id="rId1" Type="http://schemas.openxmlformats.org/officeDocument/2006/relationships/slideLayout" Target="../slideLayouts/slideLayout132.xml"/></Relationships>
</file>

<file path=ppt/slideMasters/_rels/slideMaster3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5.xml"/><Relationship Id="rId1" Type="http://schemas.openxmlformats.org/officeDocument/2006/relationships/slideLayout" Target="../slideLayouts/slideLayout134.xml"/></Relationships>
</file>

<file path=ppt/slideMasters/_rels/slideMaster34.xml.rels><?xml version="1.0" encoding="UTF-8" standalone="yes"?>
<Relationships xmlns="http://schemas.openxmlformats.org/package/2006/relationships"><Relationship Id="rId5" Type="http://schemas.openxmlformats.org/officeDocument/2006/relationships/theme" Target="../theme/theme34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7.xml"/><Relationship Id="rId1" Type="http://schemas.openxmlformats.org/officeDocument/2006/relationships/slideLayout" Target="../slideLayouts/slideLayout136.xml"/></Relationships>
</file>

<file path=ppt/slideMasters/_rels/slideMaster35.xml.rels><?xml version="1.0" encoding="UTF-8" standalone="yes"?>
<Relationships xmlns="http://schemas.openxmlformats.org/package/2006/relationships"><Relationship Id="rId5" Type="http://schemas.openxmlformats.org/officeDocument/2006/relationships/theme" Target="../theme/theme35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39.xml"/><Relationship Id="rId1" Type="http://schemas.openxmlformats.org/officeDocument/2006/relationships/slideLayout" Target="../slideLayouts/slideLayout138.xml"/></Relationships>
</file>

<file path=ppt/slideMasters/_rels/slideMaster36.xml.rels><?xml version="1.0" encoding="UTF-8" standalone="yes"?>
<Relationships xmlns="http://schemas.openxmlformats.org/package/2006/relationships"><Relationship Id="rId5" Type="http://schemas.openxmlformats.org/officeDocument/2006/relationships/theme" Target="../theme/theme36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1.xml"/><Relationship Id="rId1" Type="http://schemas.openxmlformats.org/officeDocument/2006/relationships/slideLayout" Target="../slideLayouts/slideLayout140.xml"/></Relationships>
</file>

<file path=ppt/slideMasters/_rels/slideMaster37.xml.rels><?xml version="1.0" encoding="UTF-8" standalone="yes"?>
<Relationships xmlns="http://schemas.openxmlformats.org/package/2006/relationships"><Relationship Id="rId5" Type="http://schemas.openxmlformats.org/officeDocument/2006/relationships/theme" Target="../theme/theme37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3.xml"/><Relationship Id="rId1" Type="http://schemas.openxmlformats.org/officeDocument/2006/relationships/slideLayout" Target="../slideLayouts/slideLayout142.xml"/></Relationships>
</file>

<file path=ppt/slideMasters/_rels/slideMaster38.xml.rels><?xml version="1.0" encoding="UTF-8" standalone="yes"?>
<Relationships xmlns="http://schemas.openxmlformats.org/package/2006/relationships"><Relationship Id="rId5" Type="http://schemas.openxmlformats.org/officeDocument/2006/relationships/theme" Target="../theme/theme3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/Relationships>
</file>

<file path=ppt/slideMasters/_rels/slideMaster39.xml.rels><?xml version="1.0" encoding="UTF-8" standalone="yes"?>
<Relationships xmlns="http://schemas.openxmlformats.org/package/2006/relationships"><Relationship Id="rId5" Type="http://schemas.openxmlformats.org/officeDocument/2006/relationships/theme" Target="../theme/theme39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7.xml"/><Relationship Id="rId1" Type="http://schemas.openxmlformats.org/officeDocument/2006/relationships/slideLayout" Target="../slideLayouts/slideLayout146.xml"/></Relationships>
</file>

<file path=ppt/slideMasters/_rels/slideMaster40.xml.rels><?xml version="1.0" encoding="UTF-8" standalone="yes"?>
<Relationships xmlns="http://schemas.openxmlformats.org/package/2006/relationships"><Relationship Id="rId5" Type="http://schemas.openxmlformats.org/officeDocument/2006/relationships/theme" Target="../theme/theme4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9.xml"/><Relationship Id="rId1" Type="http://schemas.openxmlformats.org/officeDocument/2006/relationships/slideLayout" Target="../slideLayouts/slideLayout148.xml"/></Relationships>
</file>

<file path=ppt/slideMasters/_rels/slideMaster41.xml.rels><?xml version="1.0" encoding="UTF-8" standalone="yes"?>
<Relationships xmlns="http://schemas.openxmlformats.org/package/2006/relationships"><Relationship Id="rId6" Type="http://schemas.openxmlformats.org/officeDocument/2006/relationships/theme" Target="../theme/theme41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52.xml"/><Relationship Id="rId2" Type="http://schemas.openxmlformats.org/officeDocument/2006/relationships/slideLayout" Target="../slideLayouts/slideLayout151.xml"/><Relationship Id="rId1" Type="http://schemas.openxmlformats.org/officeDocument/2006/relationships/slideLayout" Target="../slideLayouts/slideLayout150.xml"/></Relationships>
</file>

<file path=ppt/slideMasters/_rels/slideMaster42.xml.rels><?xml version="1.0" encoding="UTF-8" standalone="yes"?>
<Relationships xmlns="http://schemas.openxmlformats.org/package/2006/relationships"><Relationship Id="rId6" Type="http://schemas.openxmlformats.org/officeDocument/2006/relationships/theme" Target="../theme/theme42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55.xml"/><Relationship Id="rId2" Type="http://schemas.openxmlformats.org/officeDocument/2006/relationships/slideLayout" Target="../slideLayouts/slideLayout154.xml"/><Relationship Id="rId1" Type="http://schemas.openxmlformats.org/officeDocument/2006/relationships/slideLayout" Target="../slideLayouts/slideLayout153.xml"/></Relationships>
</file>

<file path=ppt/slideMasters/_rels/slideMaster43.xml.rels><?xml version="1.0" encoding="UTF-8" standalone="yes"?>
<Relationships xmlns="http://schemas.openxmlformats.org/package/2006/relationships"><Relationship Id="rId6" Type="http://schemas.openxmlformats.org/officeDocument/2006/relationships/theme" Target="../theme/theme43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58.xml"/><Relationship Id="rId2" Type="http://schemas.openxmlformats.org/officeDocument/2006/relationships/slideLayout" Target="../slideLayouts/slideLayout157.xml"/><Relationship Id="rId1" Type="http://schemas.openxmlformats.org/officeDocument/2006/relationships/slideLayout" Target="../slideLayouts/slideLayout156.xml"/></Relationships>
</file>

<file path=ppt/slideMasters/_rels/slideMaster44.xml.rels><?xml version="1.0" encoding="UTF-8" standalone="yes"?>
<Relationships xmlns="http://schemas.openxmlformats.org/package/2006/relationships"><Relationship Id="rId6" Type="http://schemas.openxmlformats.org/officeDocument/2006/relationships/theme" Target="../theme/theme44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59.xml"/></Relationships>
</file>

<file path=ppt/slideMasters/_rels/slideMaster45.xml.rels><?xml version="1.0" encoding="UTF-8" standalone="yes"?>
<Relationships xmlns="http://schemas.openxmlformats.org/package/2006/relationships"><Relationship Id="rId6" Type="http://schemas.openxmlformats.org/officeDocument/2006/relationships/theme" Target="../theme/theme45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64.xml"/><Relationship Id="rId2" Type="http://schemas.openxmlformats.org/officeDocument/2006/relationships/slideLayout" Target="../slideLayouts/slideLayout163.xml"/><Relationship Id="rId1" Type="http://schemas.openxmlformats.org/officeDocument/2006/relationships/slideLayout" Target="../slideLayouts/slideLayout162.xml"/></Relationships>
</file>

<file path=ppt/slideMasters/_rels/slideMaster46.xml.rels><?xml version="1.0" encoding="UTF-8" standalone="yes"?>
<Relationships xmlns="http://schemas.openxmlformats.org/package/2006/relationships"><Relationship Id="rId6" Type="http://schemas.openxmlformats.org/officeDocument/2006/relationships/theme" Target="../theme/theme46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67.xml"/><Relationship Id="rId2" Type="http://schemas.openxmlformats.org/officeDocument/2006/relationships/slideLayout" Target="../slideLayouts/slideLayout166.xml"/><Relationship Id="rId1" Type="http://schemas.openxmlformats.org/officeDocument/2006/relationships/slideLayout" Target="../slideLayouts/slideLayout165.xml"/></Relationships>
</file>

<file path=ppt/slideMasters/_rels/slideMaster47.xml.rels><?xml version="1.0" encoding="UTF-8" standalone="yes"?>
<Relationships xmlns="http://schemas.openxmlformats.org/package/2006/relationships"><Relationship Id="rId6" Type="http://schemas.openxmlformats.org/officeDocument/2006/relationships/theme" Target="../theme/theme47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70.xml"/><Relationship Id="rId2" Type="http://schemas.openxmlformats.org/officeDocument/2006/relationships/slideLayout" Target="../slideLayouts/slideLayout169.xml"/><Relationship Id="rId1" Type="http://schemas.openxmlformats.org/officeDocument/2006/relationships/slideLayout" Target="../slideLayouts/slideLayout168.xml"/></Relationships>
</file>

<file path=ppt/slideMasters/_rels/slideMaster48.xml.rels><?xml version="1.0" encoding="UTF-8" standalone="yes"?>
<Relationships xmlns="http://schemas.openxmlformats.org/package/2006/relationships"><Relationship Id="rId6" Type="http://schemas.openxmlformats.org/officeDocument/2006/relationships/theme" Target="../theme/theme48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73.xml"/><Relationship Id="rId2" Type="http://schemas.openxmlformats.org/officeDocument/2006/relationships/slideLayout" Target="../slideLayouts/slideLayout172.xml"/><Relationship Id="rId1" Type="http://schemas.openxmlformats.org/officeDocument/2006/relationships/slideLayout" Target="../slideLayouts/slideLayout171.xml"/></Relationships>
</file>

<file path=ppt/slideMasters/_rels/slideMaster49.xml.rels><?xml version="1.0" encoding="UTF-8" standalone="yes"?>
<Relationships xmlns="http://schemas.openxmlformats.org/package/2006/relationships"><Relationship Id="rId6" Type="http://schemas.openxmlformats.org/officeDocument/2006/relationships/theme" Target="../theme/theme49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76.xml"/><Relationship Id="rId2" Type="http://schemas.openxmlformats.org/officeDocument/2006/relationships/slideLayout" Target="../slideLayouts/slideLayout175.xml"/><Relationship Id="rId1" Type="http://schemas.openxmlformats.org/officeDocument/2006/relationships/slideLayout" Target="../slideLayouts/slideLayout174.xml"/></Relationships>
</file>

<file path=ppt/slideMasters/_rels/slideMaster50.xml.rels><?xml version="1.0" encoding="UTF-8" standalone="yes"?>
<Relationships xmlns="http://schemas.openxmlformats.org/package/2006/relationships"><Relationship Id="rId6" Type="http://schemas.openxmlformats.org/officeDocument/2006/relationships/theme" Target="../theme/theme50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78.xml"/><Relationship Id="rId1" Type="http://schemas.openxmlformats.org/officeDocument/2006/relationships/slideLayout" Target="../slideLayouts/slideLayout177.xml"/></Relationships>
</file>

<file path=ppt/slideMasters/_rels/slideMaster51.xml.rels><?xml version="1.0" encoding="UTF-8" standalone="yes"?>
<Relationships xmlns="http://schemas.openxmlformats.org/package/2006/relationships"><Relationship Id="rId6" Type="http://schemas.openxmlformats.org/officeDocument/2006/relationships/theme" Target="../theme/theme51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82.xml"/><Relationship Id="rId2" Type="http://schemas.openxmlformats.org/officeDocument/2006/relationships/slideLayout" Target="../slideLayouts/slideLayout181.xml"/><Relationship Id="rId1" Type="http://schemas.openxmlformats.org/officeDocument/2006/relationships/slideLayout" Target="../slideLayouts/slideLayout180.xml"/></Relationships>
</file>

<file path=ppt/slideMasters/_rels/slideMaster52.xml.rels><?xml version="1.0" encoding="UTF-8" standalone="yes"?>
<Relationships xmlns="http://schemas.openxmlformats.org/package/2006/relationships"><Relationship Id="rId6" Type="http://schemas.openxmlformats.org/officeDocument/2006/relationships/theme" Target="../theme/theme52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85.xml"/><Relationship Id="rId2" Type="http://schemas.openxmlformats.org/officeDocument/2006/relationships/slideLayout" Target="../slideLayouts/slideLayout184.xml"/><Relationship Id="rId1" Type="http://schemas.openxmlformats.org/officeDocument/2006/relationships/slideLayout" Target="../slideLayouts/slideLayout183.xml"/></Relationships>
</file>

<file path=ppt/slideMasters/_rels/slideMaster53.xml.rels><?xml version="1.0" encoding="UTF-8" standalone="yes"?>
<Relationships xmlns="http://schemas.openxmlformats.org/package/2006/relationships"><Relationship Id="rId6" Type="http://schemas.openxmlformats.org/officeDocument/2006/relationships/theme" Target="../theme/theme53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88.xml"/><Relationship Id="rId2" Type="http://schemas.openxmlformats.org/officeDocument/2006/relationships/slideLayout" Target="../slideLayouts/slideLayout187.xml"/><Relationship Id="rId1" Type="http://schemas.openxmlformats.org/officeDocument/2006/relationships/slideLayout" Target="../slideLayouts/slideLayout186.xml"/></Relationships>
</file>

<file path=ppt/slideMasters/_rels/slideMaster54.xml.rels><?xml version="1.0" encoding="UTF-8" standalone="yes"?>
<Relationships xmlns="http://schemas.openxmlformats.org/package/2006/relationships"><Relationship Id="rId6" Type="http://schemas.openxmlformats.org/officeDocument/2006/relationships/theme" Target="../theme/theme54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91.xml"/><Relationship Id="rId2" Type="http://schemas.openxmlformats.org/officeDocument/2006/relationships/slideLayout" Target="../slideLayouts/slideLayout190.xml"/><Relationship Id="rId1" Type="http://schemas.openxmlformats.org/officeDocument/2006/relationships/slideLayout" Target="../slideLayouts/slideLayout189.xml"/></Relationships>
</file>

<file path=ppt/slideMasters/_rels/slideMaster55.xml.rels><?xml version="1.0" encoding="UTF-8" standalone="yes"?>
<Relationships xmlns="http://schemas.openxmlformats.org/package/2006/relationships"><Relationship Id="rId7" Type="http://schemas.openxmlformats.org/officeDocument/2006/relationships/theme" Target="../theme/theme55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95.xml"/><Relationship Id="rId3" Type="http://schemas.openxmlformats.org/officeDocument/2006/relationships/slideLayout" Target="../slideLayouts/slideLayout194.xml"/><Relationship Id="rId2" Type="http://schemas.openxmlformats.org/officeDocument/2006/relationships/slideLayout" Target="../slideLayouts/slideLayout193.xml"/><Relationship Id="rId1" Type="http://schemas.openxmlformats.org/officeDocument/2006/relationships/slideLayout" Target="../slideLayouts/slideLayout192.xml"/></Relationships>
</file>

<file path=ppt/slideMasters/_rels/slideMaster56.xml.rels><?xml version="1.0" encoding="UTF-8" standalone="yes"?>
<Relationships xmlns="http://schemas.openxmlformats.org/package/2006/relationships"><Relationship Id="rId6" Type="http://schemas.openxmlformats.org/officeDocument/2006/relationships/theme" Target="../theme/theme56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98.xml"/><Relationship Id="rId2" Type="http://schemas.openxmlformats.org/officeDocument/2006/relationships/slideLayout" Target="../slideLayouts/slideLayout197.xml"/><Relationship Id="rId1" Type="http://schemas.openxmlformats.org/officeDocument/2006/relationships/slideLayout" Target="../slideLayouts/slideLayout196.xml"/></Relationships>
</file>

<file path=ppt/slideMasters/_rels/slideMaster57.xml.rels><?xml version="1.0" encoding="UTF-8" standalone="yes"?>
<Relationships xmlns="http://schemas.openxmlformats.org/package/2006/relationships"><Relationship Id="rId6" Type="http://schemas.openxmlformats.org/officeDocument/2006/relationships/theme" Target="../theme/theme57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201.xml"/><Relationship Id="rId2" Type="http://schemas.openxmlformats.org/officeDocument/2006/relationships/slideLayout" Target="../slideLayouts/slideLayout200.xml"/><Relationship Id="rId1" Type="http://schemas.openxmlformats.org/officeDocument/2006/relationships/slideLayout" Target="../slideLayouts/slideLayout199.xml"/></Relationships>
</file>

<file path=ppt/slideMasters/_rels/slideMaster58.xml.rels><?xml version="1.0" encoding="UTF-8" standalone="yes"?>
<Relationships xmlns="http://schemas.openxmlformats.org/package/2006/relationships"><Relationship Id="rId6" Type="http://schemas.openxmlformats.org/officeDocument/2006/relationships/theme" Target="../theme/theme58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204.xml"/><Relationship Id="rId2" Type="http://schemas.openxmlformats.org/officeDocument/2006/relationships/slideLayout" Target="../slideLayouts/slideLayout203.xml"/><Relationship Id="rId1" Type="http://schemas.openxmlformats.org/officeDocument/2006/relationships/slideLayout" Target="../slideLayouts/slideLayout202.xml"/></Relationships>
</file>

<file path=ppt/slideMasters/_rels/slideMaster59.xml.rels><?xml version="1.0" encoding="UTF-8" standalone="yes"?>
<Relationships xmlns="http://schemas.openxmlformats.org/package/2006/relationships"><Relationship Id="rId6" Type="http://schemas.openxmlformats.org/officeDocument/2006/relationships/theme" Target="../theme/theme59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207.xml"/><Relationship Id="rId2" Type="http://schemas.openxmlformats.org/officeDocument/2006/relationships/slideLayout" Target="../slideLayouts/slideLayout206.xml"/><Relationship Id="rId1" Type="http://schemas.openxmlformats.org/officeDocument/2006/relationships/slideLayout" Target="../slideLayouts/slideLayout205.xml"/></Relationships>
</file>

<file path=ppt/slideMasters/_rels/slideMaster60.xml.rels><?xml version="1.0" encoding="UTF-8" standalone="yes"?>
<Relationships xmlns="http://schemas.openxmlformats.org/package/2006/relationships"><Relationship Id="rId6" Type="http://schemas.openxmlformats.org/officeDocument/2006/relationships/theme" Target="../theme/theme60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210.xml"/><Relationship Id="rId2" Type="http://schemas.openxmlformats.org/officeDocument/2006/relationships/slideLayout" Target="../slideLayouts/slideLayout209.xml"/><Relationship Id="rId1" Type="http://schemas.openxmlformats.org/officeDocument/2006/relationships/slideLayout" Target="../slideLayouts/slideLayout208.xml"/></Relationships>
</file>

<file path=ppt/slideMasters/_rels/slideMaster61.xml.rels><?xml version="1.0" encoding="UTF-8" standalone="yes"?>
<Relationships xmlns="http://schemas.openxmlformats.org/package/2006/relationships"><Relationship Id="rId6" Type="http://schemas.openxmlformats.org/officeDocument/2006/relationships/theme" Target="../theme/theme61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213.xml"/><Relationship Id="rId2" Type="http://schemas.openxmlformats.org/officeDocument/2006/relationships/slideLayout" Target="../slideLayouts/slideLayout212.xml"/><Relationship Id="rId1" Type="http://schemas.openxmlformats.org/officeDocument/2006/relationships/slideLayout" Target="../slideLayouts/slideLayout211.xml"/></Relationships>
</file>

<file path=ppt/slideMasters/_rels/slideMaster62.xml.rels><?xml version="1.0" encoding="UTF-8" standalone="yes"?>
<Relationships xmlns="http://schemas.openxmlformats.org/package/2006/relationships"><Relationship Id="rId6" Type="http://schemas.openxmlformats.org/officeDocument/2006/relationships/theme" Target="../theme/theme62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216.xml"/><Relationship Id="rId2" Type="http://schemas.openxmlformats.org/officeDocument/2006/relationships/slideLayout" Target="../slideLayouts/slideLayout215.xml"/><Relationship Id="rId1" Type="http://schemas.openxmlformats.org/officeDocument/2006/relationships/slideLayout" Target="../slideLayouts/slideLayout214.xml"/></Relationships>
</file>

<file path=ppt/slideMasters/_rels/slideMaster63.xml.rels><?xml version="1.0" encoding="UTF-8" standalone="yes"?>
<Relationships xmlns="http://schemas.openxmlformats.org/package/2006/relationships"><Relationship Id="rId6" Type="http://schemas.openxmlformats.org/officeDocument/2006/relationships/theme" Target="../theme/theme63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219.xml"/><Relationship Id="rId2" Type="http://schemas.openxmlformats.org/officeDocument/2006/relationships/slideLayout" Target="../slideLayouts/slideLayout218.xml"/><Relationship Id="rId1" Type="http://schemas.openxmlformats.org/officeDocument/2006/relationships/slideLayout" Target="../slideLayouts/slideLayout217.xml"/></Relationships>
</file>

<file path=ppt/slideMasters/_rels/slideMaster64.xml.rels><?xml version="1.0" encoding="UTF-8" standalone="yes"?>
<Relationships xmlns="http://schemas.openxmlformats.org/package/2006/relationships"><Relationship Id="rId6" Type="http://schemas.openxmlformats.org/officeDocument/2006/relationships/theme" Target="../theme/theme64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222.xml"/><Relationship Id="rId2" Type="http://schemas.openxmlformats.org/officeDocument/2006/relationships/slideLayout" Target="../slideLayouts/slideLayout221.xml"/><Relationship Id="rId1" Type="http://schemas.openxmlformats.org/officeDocument/2006/relationships/slideLayout" Target="../slideLayouts/slideLayout220.xml"/></Relationships>
</file>

<file path=ppt/slideMasters/_rels/slideMaster65.xml.rels><?xml version="1.0" encoding="UTF-8" standalone="yes"?>
<Relationships xmlns="http://schemas.openxmlformats.org/package/2006/relationships"><Relationship Id="rId6" Type="http://schemas.openxmlformats.org/officeDocument/2006/relationships/theme" Target="../theme/theme65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225.xml"/><Relationship Id="rId2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23.xml"/></Relationships>
</file>

<file path=ppt/slideMasters/_rels/slideMaster66.xml.rels><?xml version="1.0" encoding="UTF-8" standalone="yes"?>
<Relationships xmlns="http://schemas.openxmlformats.org/package/2006/relationships"><Relationship Id="rId5" Type="http://schemas.openxmlformats.org/officeDocument/2006/relationships/theme" Target="../theme/theme66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27.xml"/><Relationship Id="rId1" Type="http://schemas.openxmlformats.org/officeDocument/2006/relationships/slideLayout" Target="../slideLayouts/slideLayout226.xml"/></Relationships>
</file>

<file path=ppt/slideMasters/_rels/slideMaster67.xml.rels><?xml version="1.0" encoding="UTF-8" standalone="yes"?>
<Relationships xmlns="http://schemas.openxmlformats.org/package/2006/relationships"><Relationship Id="rId5" Type="http://schemas.openxmlformats.org/officeDocument/2006/relationships/theme" Target="../theme/theme67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29.xml"/><Relationship Id="rId1" Type="http://schemas.openxmlformats.org/officeDocument/2006/relationships/slideLayout" Target="../slideLayouts/slideLayout228.xml"/></Relationships>
</file>

<file path=ppt/slideMasters/_rels/slideMaster68.xml.rels><?xml version="1.0" encoding="UTF-8" standalone="yes"?>
<Relationships xmlns="http://schemas.openxmlformats.org/package/2006/relationships"><Relationship Id="rId5" Type="http://schemas.openxmlformats.org/officeDocument/2006/relationships/theme" Target="../theme/theme6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31.xml"/><Relationship Id="rId1" Type="http://schemas.openxmlformats.org/officeDocument/2006/relationships/slideLayout" Target="../slideLayouts/slideLayout230.xml"/></Relationships>
</file>

<file path=ppt/slideMasters/_rels/slideMaster69.xml.rels><?xml version="1.0" encoding="UTF-8" standalone="yes"?>
<Relationships xmlns="http://schemas.openxmlformats.org/package/2006/relationships"><Relationship Id="rId5" Type="http://schemas.openxmlformats.org/officeDocument/2006/relationships/theme" Target="../theme/theme69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33.xml"/><Relationship Id="rId1" Type="http://schemas.openxmlformats.org/officeDocument/2006/relationships/slideLayout" Target="../slideLayouts/slideLayout232.xml"/></Relationships>
</file>

<file path=ppt/slideMasters/_rels/slideMaster70.xml.rels><?xml version="1.0" encoding="UTF-8" standalone="yes"?>
<Relationships xmlns="http://schemas.openxmlformats.org/package/2006/relationships"><Relationship Id="rId5" Type="http://schemas.openxmlformats.org/officeDocument/2006/relationships/theme" Target="../theme/theme7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35.xml"/><Relationship Id="rId1" Type="http://schemas.openxmlformats.org/officeDocument/2006/relationships/slideLayout" Target="../slideLayouts/slideLayout234.xml"/></Relationships>
</file>

<file path=ppt/slideMasters/_rels/slideMaster71.xml.rels><?xml version="1.0" encoding="UTF-8" standalone="yes"?>
<Relationships xmlns="http://schemas.openxmlformats.org/package/2006/relationships"><Relationship Id="rId5" Type="http://schemas.openxmlformats.org/officeDocument/2006/relationships/theme" Target="../theme/theme7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37.xml"/><Relationship Id="rId1" Type="http://schemas.openxmlformats.org/officeDocument/2006/relationships/slideLayout" Target="../slideLayouts/slideLayout236.xml"/></Relationships>
</file>

<file path=ppt/slideMasters/_rels/slideMaster72.xml.rels><?xml version="1.0" encoding="UTF-8" standalone="yes"?>
<Relationships xmlns="http://schemas.openxmlformats.org/package/2006/relationships"><Relationship Id="rId5" Type="http://schemas.openxmlformats.org/officeDocument/2006/relationships/theme" Target="../theme/theme7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39.xml"/><Relationship Id="rId1" Type="http://schemas.openxmlformats.org/officeDocument/2006/relationships/slideLayout" Target="../slideLayouts/slideLayout238.xml"/></Relationships>
</file>

<file path=ppt/slideMasters/_rels/slideMaster73.xml.rels><?xml version="1.0" encoding="UTF-8" standalone="yes"?>
<Relationships xmlns="http://schemas.openxmlformats.org/package/2006/relationships"><Relationship Id="rId5" Type="http://schemas.openxmlformats.org/officeDocument/2006/relationships/theme" Target="../theme/theme7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41.xml"/><Relationship Id="rId1" Type="http://schemas.openxmlformats.org/officeDocument/2006/relationships/slideLayout" Target="../slideLayouts/slideLayout240.xml"/></Relationships>
</file>

<file path=ppt/slideMasters/_rels/slideMaster74.xml.rels><?xml version="1.0" encoding="UTF-8" standalone="yes"?>
<Relationships xmlns="http://schemas.openxmlformats.org/package/2006/relationships"><Relationship Id="rId5" Type="http://schemas.openxmlformats.org/officeDocument/2006/relationships/theme" Target="../theme/theme74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43.xml"/><Relationship Id="rId1" Type="http://schemas.openxmlformats.org/officeDocument/2006/relationships/slideLayout" Target="../slideLayouts/slideLayout242.xml"/></Relationships>
</file>

<file path=ppt/slideMasters/_rels/slideMaster75.xml.rels><?xml version="1.0" encoding="UTF-8" standalone="yes"?>
<Relationships xmlns="http://schemas.openxmlformats.org/package/2006/relationships"><Relationship Id="rId5" Type="http://schemas.openxmlformats.org/officeDocument/2006/relationships/theme" Target="../theme/theme75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45.xml"/><Relationship Id="rId1" Type="http://schemas.openxmlformats.org/officeDocument/2006/relationships/slideLayout" Target="../slideLayouts/slideLayout2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最短时间，教会更实用的技术！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多一句没有，少一句不行，用最短时间，教会最实用的技术！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多一句没有，少一句不行，用最短时间，教会最实用的技术！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  <p:sldLayoutId id="2147483756" r:id="rId17"/>
    <p:sldLayoutId id="214748375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多一句没有，少一句不行，用最短时间，教会最实用的技术！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9" r:id="rId2"/>
    <p:sldLayoutId id="2147483880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91" r:id="rId2"/>
    <p:sldLayoutId id="2147483892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  <p:sldLayoutId id="2147483924" r:id="rId2"/>
    <p:sldLayoutId id="2147483925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  <p:sldLayoutId id="2147483928" r:id="rId2"/>
    <p:sldLayoutId id="2147483929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  <p:sldLayoutId id="2147483937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2" r:id="rId1"/>
    <p:sldLayoutId id="214748394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5" r:id="rId1"/>
    <p:sldLayoutId id="214748394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4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  <p:sldLayoutId id="214748395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395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  <p:sldLayoutId id="214748396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3" r:id="rId1"/>
    <p:sldLayoutId id="214748396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image" Target="../media/image20.png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0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image" Target="../media/image25.png"/><Relationship Id="rId1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1.xml"/><Relationship Id="rId3" Type="http://schemas.openxmlformats.org/officeDocument/2006/relationships/image" Target="../media/image34.png"/><Relationship Id="rId2" Type="http://schemas.openxmlformats.org/officeDocument/2006/relationships/image" Target="../media/image38.png"/><Relationship Id="rId1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48.png"/><Relationship Id="rId3" Type="http://schemas.openxmlformats.org/officeDocument/2006/relationships/image" Target="../media/image44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4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image" Target="../media/image50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58.png"/></Relationships>
</file>

<file path=ppt/slides/_rels/slide4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tags" Target="../tags/tag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3.xml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79.png"/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image" Target="../media/image76.png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image" Target="../media/image8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84.png"/><Relationship Id="rId1" Type="http://schemas.openxmlformats.org/officeDocument/2006/relationships/image" Target="../media/image83.png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tags" Target="../tags/tag3.xml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1.xml"/><Relationship Id="rId3" Type="http://schemas.openxmlformats.org/officeDocument/2006/relationships/image" Target="../media/image83.png"/><Relationship Id="rId2" Type="http://schemas.openxmlformats.org/officeDocument/2006/relationships/image" Target="../media/image80.png"/><Relationship Id="rId1" Type="http://schemas.openxmlformats.org/officeDocument/2006/relationships/image" Target="../media/image7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image" Target="../media/image87.png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92.png"/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image" Target="../media/image49.png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93.png"/><Relationship Id="rId2" Type="http://schemas.openxmlformats.org/officeDocument/2006/relationships/tags" Target="../tags/tag4.xml"/><Relationship Id="rId1" Type="http://schemas.openxmlformats.org/officeDocument/2006/relationships/image" Target="../media/image9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95.png"/><Relationship Id="rId1" Type="http://schemas.openxmlformats.org/officeDocument/2006/relationships/image" Target="../media/image94.png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24.png"/><Relationship Id="rId2" Type="http://schemas.openxmlformats.org/officeDocument/2006/relationships/image" Target="../media/image97.png"/><Relationship Id="rId1" Type="http://schemas.openxmlformats.org/officeDocument/2006/relationships/image" Target="../media/image96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4.xml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65.png"/><Relationship Id="rId2" Type="http://schemas.openxmlformats.org/officeDocument/2006/relationships/image" Target="../media/image99.png"/><Relationship Id="rId1" Type="http://schemas.openxmlformats.org/officeDocument/2006/relationships/image" Target="../media/image98.png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101.png"/><Relationship Id="rId2" Type="http://schemas.openxmlformats.org/officeDocument/2006/relationships/image" Target="../media/image99.png"/><Relationship Id="rId1" Type="http://schemas.openxmlformats.org/officeDocument/2006/relationships/image" Target="../media/image10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03.png"/><Relationship Id="rId1" Type="http://schemas.openxmlformats.org/officeDocument/2006/relationships/image" Target="../media/image102.png"/></Relationships>
</file>

<file path=ppt/slides/_rels/slide7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image" Target="../media/image82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8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10.png"/><Relationship Id="rId1" Type="http://schemas.openxmlformats.org/officeDocument/2006/relationships/image" Target="../media/image109.png"/></Relationships>
</file>

<file path=ppt/slides/_rels/slide8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image" Target="../media/image86.png"/><Relationship Id="rId4" Type="http://schemas.openxmlformats.org/officeDocument/2006/relationships/image" Target="../media/image114.png"/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image" Target="../media/image11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16.png"/><Relationship Id="rId1" Type="http://schemas.openxmlformats.org/officeDocument/2006/relationships/image" Target="../media/image115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50.png"/><Relationship Id="rId1" Type="http://schemas.openxmlformats.org/officeDocument/2006/relationships/image" Target="../media/image117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58.png"/><Relationship Id="rId1" Type="http://schemas.openxmlformats.org/officeDocument/2006/relationships/image" Target="../media/image118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20.png"/><Relationship Id="rId1" Type="http://schemas.openxmlformats.org/officeDocument/2006/relationships/image" Target="../media/image119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22.png"/><Relationship Id="rId1" Type="http://schemas.openxmlformats.org/officeDocument/2006/relationships/image" Target="../media/image12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82.png"/><Relationship Id="rId1" Type="http://schemas.openxmlformats.org/officeDocument/2006/relationships/image" Target="../media/image123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24.png"/><Relationship Id="rId1" Type="http://schemas.openxmlformats.org/officeDocument/2006/relationships/image" Target="../media/image79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0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92.png"/><Relationship Id="rId1" Type="http://schemas.openxmlformats.org/officeDocument/2006/relationships/image" Target="../media/image49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26.png"/><Relationship Id="rId1" Type="http://schemas.openxmlformats.org/officeDocument/2006/relationships/image" Target="../media/image125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28.png"/><Relationship Id="rId1" Type="http://schemas.openxmlformats.org/officeDocument/2006/relationships/image" Target="../media/image127.png"/></Relationships>
</file>

<file path=ppt/slides/_rels/slide9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image" Target="../media/image129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33.png"/><Relationship Id="rId1" Type="http://schemas.openxmlformats.org/officeDocument/2006/relationships/image" Target="../media/image132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34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35.png"/></Relationships>
</file>

<file path=ppt/slides/_rels/slide10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tags" Target="../tags/tag5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135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92.png"/></Relationships>
</file>

<file path=ppt/slides/_rels/slide10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93.png"/><Relationship Id="rId2" Type="http://schemas.openxmlformats.org/officeDocument/2006/relationships/tags" Target="../tags/tag6.xml"/><Relationship Id="rId1" Type="http://schemas.openxmlformats.org/officeDocument/2006/relationships/image" Target="../media/image138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95.png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4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65.png"/><Relationship Id="rId1" Type="http://schemas.openxmlformats.org/officeDocument/2006/relationships/image" Target="../media/image139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01.png"/><Relationship Id="rId1" Type="http://schemas.openxmlformats.org/officeDocument/2006/relationships/image" Target="../media/image140.png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p>
            <a:r>
              <a:rPr lang="en-US" sz="6600" dirty="0">
                <a:solidFill>
                  <a:schemeClr val="accent3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L</a:t>
            </a:r>
            <a:r>
              <a:rPr lang="en-US" sz="6600" dirty="0">
                <a:solidFill>
                  <a:schemeClr val="accent4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i</a:t>
            </a:r>
            <a:r>
              <a:rPr lang="en-US" sz="6600" dirty="0">
                <a:solidFill>
                  <a:schemeClr val="accent5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n</a:t>
            </a:r>
            <a:r>
              <a:rPr lang="en-US" sz="6600" dirty="0">
                <a:solidFill>
                  <a:schemeClr val="accent6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u</a:t>
            </a:r>
            <a:r>
              <a:rPr lang="en-US" sz="6600" dirty="0">
                <a:solidFill>
                  <a:schemeClr val="tx2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x</a:t>
            </a:r>
            <a:r>
              <a:rPr lang="zh-CN" altLang="en-US" sz="6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实用</a:t>
            </a:r>
            <a:r>
              <a:rPr lang="zh-CN" altLang="en-US" sz="66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操作</a:t>
            </a:r>
            <a:endParaRPr lang="zh-CN" altLang="en-US" sz="66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pic>
        <p:nvPicPr>
          <p:cNvPr id="6" name="图片 5" descr="01 (14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6720" y="4218305"/>
            <a:ext cx="1179195" cy="1179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675" y="679450"/>
            <a:ext cx="5973445" cy="5344160"/>
          </a:xfrm>
        </p:spPr>
        <p:txBody>
          <a:bodyPr/>
          <a:lstStyle/>
          <a:p>
            <a:pPr algn="l"/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各类小技巧（快捷键）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软件安装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systemctl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软连接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日期、时区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IP</a:t>
            </a:r>
            <a:r>
              <a:rPr kumimoji="1" lang="zh-CN" altLang="en-US" sz="1600" dirty="0">
                <a:sym typeface="+mn-ea"/>
              </a:rPr>
              <a:t>地址、主机名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网络传输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进程管理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主机状态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环境变量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上传、下载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压缩、解压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09465" y="26924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掌握各类实用小</a:t>
            </a:r>
            <a:r>
              <a:rPr lang="zh-CN" altLang="en-US">
                <a:solidFill>
                  <a:srgbClr val="FF0000"/>
                </a:solidFill>
              </a:rPr>
              <a:t>技巧</a:t>
            </a:r>
            <a:endParaRPr lang="zh-CN" altLang="en-US">
              <a:solidFill>
                <a:srgbClr val="FF0000"/>
              </a:solidFill>
            </a:endParaRPr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zh-CN" altLang="en-US" sz="1600" b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强制停止</a:t>
            </a:r>
            <a:endParaRPr lang="zh-CN" altLang="en-US" sz="1600" b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zh-CN" altLang="en-US" sz="1600" b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退出、登出</a:t>
            </a:r>
            <a:endParaRPr lang="zh-CN" altLang="en-US" sz="1600" b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zh-CN" altLang="en-US" sz="1600" b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历史命令搜索</a:t>
            </a:r>
            <a:endParaRPr lang="zh-CN" altLang="en-US" sz="1600" b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895350" lvl="1" indent="-285750">
              <a:buFont typeface="Arial" panose="020B0604020202020204" pitchFamily="34" charset="0"/>
              <a:buChar char="•"/>
            </a:pPr>
            <a:r>
              <a:rPr lang="zh-CN" altLang="en-US" sz="1600" b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光标</a:t>
            </a:r>
            <a:r>
              <a:rPr lang="zh-CN" altLang="en-US" sz="1600" b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移动</a:t>
            </a:r>
            <a:endParaRPr lang="zh-CN" altLang="en-US" sz="1600" b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ctrl + c </a:t>
            </a:r>
            <a:r>
              <a:t>强制</a:t>
            </a:r>
            <a:r>
              <a:t>停止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Linux</a:t>
            </a:r>
            <a:r>
              <a:rPr lang="zh-CN" altLang="en-US"/>
              <a:t>某些程序的运行，如果想要强制停止它，可以使用快捷键</a:t>
            </a:r>
            <a:r>
              <a:rPr lang="en-US" altLang="zh-CN"/>
              <a:t>ctrl + c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命令输入错误，也可以通过快捷键</a:t>
            </a:r>
            <a:r>
              <a:rPr lang="en-US" altLang="zh-CN"/>
              <a:t>ctrl + c</a:t>
            </a:r>
            <a:r>
              <a:rPr lang="zh-CN" altLang="en-US"/>
              <a:t>，退出当前输入，重新输入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en-US" altLang="zh-CN"/>
          </a:p>
          <a:p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00455" y="2108200"/>
            <a:ext cx="2659380" cy="6629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455" y="3422015"/>
            <a:ext cx="3627120" cy="441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ctrl + d </a:t>
            </a:r>
            <a:r>
              <a:t>退出或</a:t>
            </a:r>
            <a:r>
              <a:t>登出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可以通过快捷键：</a:t>
            </a:r>
            <a:r>
              <a:rPr lang="en-US" altLang="zh-CN"/>
              <a:t>ctrl + d</a:t>
            </a:r>
            <a:r>
              <a:rPr lang="zh-CN" altLang="en-US"/>
              <a:t>，</a:t>
            </a:r>
            <a:r>
              <a:rPr lang="zh-CN" altLang="en-US"/>
              <a:t>退出账户的</a:t>
            </a:r>
            <a:r>
              <a:rPr lang="zh-CN" altLang="en-US"/>
              <a:t>登录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或者</a:t>
            </a:r>
            <a:r>
              <a:rPr lang="zh-CN" altLang="en-US"/>
              <a:t>退出某些特定程序的专属</a:t>
            </a:r>
            <a:r>
              <a:rPr lang="zh-CN" altLang="en-US"/>
              <a:t>页面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>
                <a:solidFill>
                  <a:srgbClr val="FF0000"/>
                </a:solidFill>
              </a:rPr>
              <a:t>ps</a:t>
            </a:r>
            <a:r>
              <a:rPr lang="zh-CN" altLang="en-US">
                <a:solidFill>
                  <a:srgbClr val="FF0000"/>
                </a:solidFill>
              </a:rPr>
              <a:t>：不能用于退出</a:t>
            </a:r>
            <a:r>
              <a:rPr lang="en-US" altLang="zh-CN">
                <a:solidFill>
                  <a:srgbClr val="FF0000"/>
                </a:solidFill>
              </a:rPr>
              <a:t>vi/vim</a:t>
            </a:r>
            <a:endParaRPr lang="en-US" altLang="zh-CN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075" y="2068830"/>
            <a:ext cx="4594860" cy="11582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075" y="3700145"/>
            <a:ext cx="672084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历史命令</a:t>
            </a:r>
            <a:r>
              <a:rPr lang="zh-CN" altLang="en-US"/>
              <a:t>搜索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可以通过</a:t>
            </a:r>
            <a:r>
              <a:rPr lang="en-US" altLang="zh-CN"/>
              <a:t>history</a:t>
            </a:r>
            <a:r>
              <a:rPr lang="zh-CN" altLang="en-US"/>
              <a:t>命令，查看历史输入过的命令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805" y="2098675"/>
            <a:ext cx="35204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历史命令搜索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可以通过：</a:t>
            </a:r>
            <a:r>
              <a:rPr lang="en-US" altLang="zh-CN"/>
              <a:t>!</a:t>
            </a:r>
            <a:r>
              <a:rPr lang="zh-CN" altLang="en-US"/>
              <a:t>命令前缀，自动执行上一次匹配前缀的</a:t>
            </a:r>
            <a:r>
              <a:rPr lang="zh-CN" altLang="en-US"/>
              <a:t>命令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25" y="2093595"/>
            <a:ext cx="5918200" cy="42868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历史命令搜索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可以通过快捷键：</a:t>
            </a:r>
            <a:r>
              <a:rPr lang="en-US" altLang="zh-CN"/>
              <a:t>ctrl + r</a:t>
            </a:r>
            <a:r>
              <a:rPr lang="zh-CN" altLang="en-US"/>
              <a:t>，输入内容去匹配历史</a:t>
            </a:r>
            <a:r>
              <a:rPr lang="zh-CN" altLang="en-US"/>
              <a:t>命令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如果搜索到的内容是你需要的，</a:t>
            </a:r>
            <a:r>
              <a:rPr lang="zh-CN" altLang="en-US"/>
              <a:t>那么：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回车键可以直接</a:t>
            </a:r>
            <a:r>
              <a:rPr lang="zh-CN" altLang="en-US"/>
              <a:t>执行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键盘左右键，可以得到此命令（不</a:t>
            </a:r>
            <a:r>
              <a:rPr lang="zh-CN" altLang="en-US"/>
              <a:t>执行）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555" y="2103120"/>
            <a:ext cx="307848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光标移动</a:t>
            </a:r>
            <a:r>
              <a:rPr lang="zh-CN" altLang="en-US"/>
              <a:t>快捷键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ctrl + a</a:t>
            </a:r>
            <a:r>
              <a:rPr lang="zh-CN" altLang="en-US"/>
              <a:t>，跳到命令</a:t>
            </a:r>
            <a:r>
              <a:rPr lang="zh-CN" altLang="en-US"/>
              <a:t>开头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ctrl + e</a:t>
            </a:r>
            <a:r>
              <a:rPr lang="zh-CN" altLang="en-US"/>
              <a:t>，跳到命令</a:t>
            </a:r>
            <a:r>
              <a:rPr lang="zh-CN" altLang="en-US"/>
              <a:t>结尾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ctrl + </a:t>
            </a:r>
            <a:r>
              <a:rPr lang="zh-CN" altLang="en-US"/>
              <a:t>键盘左键，向左跳一个</a:t>
            </a:r>
            <a:r>
              <a:rPr lang="zh-CN" altLang="en-US"/>
              <a:t>单词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ctrl + </a:t>
            </a:r>
            <a:r>
              <a:rPr lang="zh-CN" altLang="en-US">
                <a:sym typeface="+mn-ea"/>
              </a:rPr>
              <a:t>键盘右键，向</a:t>
            </a:r>
            <a:r>
              <a:rPr lang="zh-CN" altLang="en-US">
                <a:sym typeface="+mn-ea"/>
              </a:rPr>
              <a:t>右跳一个单词</a:t>
            </a:r>
            <a:endParaRPr lang="zh-CN" altLang="en-US">
              <a:sym typeface="+mn-ea"/>
            </a:endParaRPr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清屏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通过快捷键</a:t>
            </a:r>
            <a:r>
              <a:rPr lang="en-US" altLang="zh-CN"/>
              <a:t>ctrl + l</a:t>
            </a:r>
            <a:r>
              <a:rPr lang="zh-CN" altLang="en-US"/>
              <a:t>，可以清空终端内容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或通过命令</a:t>
            </a:r>
            <a:r>
              <a:rPr lang="en-US" altLang="zh-CN"/>
              <a:t>clear</a:t>
            </a:r>
            <a:r>
              <a:rPr lang="zh-CN" altLang="en-US"/>
              <a:t>得到同样效果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ctrl + c </a:t>
            </a:r>
            <a:r>
              <a:rPr lang="zh-CN" altLang="en-US"/>
              <a:t>强制</a:t>
            </a:r>
            <a:r>
              <a:rPr lang="zh-CN" altLang="en-US"/>
              <a:t>停止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2. ctrl + d </a:t>
            </a:r>
            <a:r>
              <a:rPr lang="zh-CN" altLang="en-US"/>
              <a:t>退出</a:t>
            </a:r>
            <a:r>
              <a:rPr lang="zh-CN" altLang="en-US"/>
              <a:t>登出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3. history </a:t>
            </a:r>
            <a:r>
              <a:rPr lang="zh-CN" altLang="en-US"/>
              <a:t>查看历史</a:t>
            </a:r>
            <a:r>
              <a:rPr lang="zh-CN" altLang="en-US"/>
              <a:t>命令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4. !</a:t>
            </a:r>
            <a:r>
              <a:rPr lang="zh-CN" altLang="en-US"/>
              <a:t>命令前缀，自动匹配上一个</a:t>
            </a:r>
            <a:r>
              <a:rPr lang="zh-CN" altLang="en-US"/>
              <a:t>命令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5. ctrl + r</a:t>
            </a:r>
            <a:r>
              <a:rPr lang="zh-CN" altLang="en-US"/>
              <a:t>，搜索历史</a:t>
            </a:r>
            <a:r>
              <a:rPr lang="zh-CN" altLang="en-US"/>
              <a:t>命令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6. ctrl + a | e</a:t>
            </a:r>
            <a:r>
              <a:rPr lang="zh-CN" altLang="en-US"/>
              <a:t>，光标</a:t>
            </a:r>
            <a:r>
              <a:rPr lang="zh-CN" altLang="en-US"/>
              <a:t>移动到命令开始或</a:t>
            </a:r>
            <a:r>
              <a:rPr lang="zh-CN" altLang="en-US"/>
              <a:t>结束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7. ctrl + ← | →</a:t>
            </a:r>
            <a:r>
              <a:rPr lang="zh-CN" altLang="en-US"/>
              <a:t>，左右跳</a:t>
            </a:r>
            <a:r>
              <a:rPr lang="zh-CN" altLang="en-US"/>
              <a:t>单词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8. ctrl + l </a:t>
            </a:r>
            <a:r>
              <a:rPr lang="zh-CN" altLang="en-US"/>
              <a:t>或</a:t>
            </a:r>
            <a:r>
              <a:rPr lang="en-US" altLang="zh-CN"/>
              <a:t> clear</a:t>
            </a:r>
            <a:r>
              <a:rPr lang="zh-CN" altLang="en-US"/>
              <a:t>命令</a:t>
            </a:r>
            <a:r>
              <a:rPr lang="en-US" altLang="zh-CN"/>
              <a:t> </a:t>
            </a:r>
            <a:r>
              <a:rPr lang="zh-CN" altLang="en-US"/>
              <a:t>清屏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675" y="679450"/>
            <a:ext cx="5973445" cy="5344160"/>
          </a:xfrm>
        </p:spPr>
        <p:txBody>
          <a:bodyPr/>
          <a:lstStyle/>
          <a:p>
            <a:pPr algn="l"/>
            <a:r>
              <a:rPr kumimoji="1" lang="zh-CN" altLang="en-US" sz="1600" dirty="0">
                <a:sym typeface="+mn-ea"/>
              </a:rPr>
              <a:t>各类小技巧（快捷键）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软件安装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systemctl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软连接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日期、时区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IP</a:t>
            </a:r>
            <a:r>
              <a:rPr kumimoji="1" lang="zh-CN" altLang="en-US" sz="1600" dirty="0">
                <a:sym typeface="+mn-ea"/>
              </a:rPr>
              <a:t>地址、主机名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网络传输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进程管理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主机状态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环境变量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上传、下载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压缩、解压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81089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 altLang="en-US" sz="2000" b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掌握使用</a:t>
            </a:r>
            <a:r>
              <a:rPr lang="en-US" altLang="zh-CN" sz="2000" b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yum</a:t>
            </a:r>
            <a:r>
              <a:rPr lang="zh-CN" altLang="en-US" sz="2000" b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为</a:t>
            </a:r>
            <a:r>
              <a:rPr lang="en-US" altLang="zh-CN" sz="2000" b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CentOS</a:t>
            </a:r>
            <a:r>
              <a:rPr lang="zh-CN" altLang="en-US" sz="2000" b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系统安装软件</a:t>
            </a:r>
            <a:endParaRPr lang="zh-CN" altLang="en-US" sz="2000" b="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r>
              <a:rPr lang="zh-CN" altLang="en-US" sz="2000" b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掌握使用</a:t>
            </a:r>
            <a:r>
              <a:rPr lang="en-US" altLang="zh-CN" sz="2000" b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apt</a:t>
            </a:r>
            <a:r>
              <a:rPr lang="zh-CN" altLang="en-US" sz="2000" b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为</a:t>
            </a:r>
            <a:r>
              <a:rPr lang="en-US" altLang="zh-CN" sz="2000" b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Ubuntu</a:t>
            </a:r>
            <a:r>
              <a:rPr lang="zh-CN" altLang="en-US" sz="2000" b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安装软件（扩展）</a:t>
            </a:r>
            <a:endParaRPr lang="zh-CN" altLang="en-US" sz="2000" b="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Linux</a:t>
            </a:r>
            <a:r>
              <a:t>系统的应用</a:t>
            </a:r>
            <a:r>
              <a:t>商店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操作系统安装软件有许多种方式，一般</a:t>
            </a:r>
            <a:r>
              <a:rPr lang="zh-CN" altLang="en-US"/>
              <a:t>分为：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下载安装包自行安装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如</a:t>
            </a:r>
            <a:r>
              <a:rPr lang="en-US" altLang="zh-CN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win</a:t>
            </a:r>
            <a:r>
              <a:rPr lang="zh-CN" altLang="en-US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系统使用</a:t>
            </a:r>
            <a:r>
              <a:rPr lang="en-US" altLang="zh-CN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exe</a:t>
            </a:r>
            <a:r>
              <a:rPr lang="zh-CN" altLang="en-US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文件、</a:t>
            </a:r>
            <a:r>
              <a:rPr lang="en-US" altLang="zh-CN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msi</a:t>
            </a:r>
            <a:r>
              <a:rPr lang="zh-CN" altLang="en-US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文件等</a:t>
            </a:r>
            <a:endParaRPr lang="zh-CN" altLang="en-US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如</a:t>
            </a:r>
            <a:r>
              <a:rPr lang="en-US" altLang="zh-CN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mac</a:t>
            </a:r>
            <a:r>
              <a:rPr lang="zh-CN" altLang="en-US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系统使用</a:t>
            </a:r>
            <a:r>
              <a:rPr lang="en-US" altLang="zh-CN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dmg</a:t>
            </a:r>
            <a:r>
              <a:rPr lang="zh-CN" altLang="en-US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文件、</a:t>
            </a:r>
            <a:r>
              <a:rPr lang="en-US" altLang="zh-CN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pkg</a:t>
            </a:r>
            <a:r>
              <a:rPr lang="zh-CN" altLang="en-US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文件等</a:t>
            </a:r>
            <a:endParaRPr lang="zh-CN" altLang="en-US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系统的应用</a:t>
            </a:r>
            <a:r>
              <a:rPr lang="zh-CN" altLang="en-US"/>
              <a:t>商店内</a:t>
            </a:r>
            <a:r>
              <a:rPr lang="zh-CN" altLang="en-US"/>
              <a:t>安装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8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如</a:t>
            </a:r>
            <a:r>
              <a:rPr lang="en-US" altLang="zh-CN" sz="18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win</a:t>
            </a:r>
            <a:r>
              <a:rPr lang="zh-CN" altLang="en-US" sz="18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系统有</a:t>
            </a:r>
            <a:r>
              <a:rPr lang="en-US" altLang="zh-CN" sz="18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Microsoft Store</a:t>
            </a:r>
            <a:r>
              <a:rPr lang="zh-CN" altLang="en-US" sz="18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商店</a:t>
            </a:r>
            <a:endParaRPr lang="zh-CN" altLang="en-US" sz="180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8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如</a:t>
            </a:r>
            <a:r>
              <a:rPr lang="en-US" altLang="zh-CN" sz="18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mac</a:t>
            </a:r>
            <a:r>
              <a:rPr lang="zh-CN" altLang="en-US" sz="18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系统有</a:t>
            </a:r>
            <a:r>
              <a:rPr lang="en-US" altLang="zh-CN" sz="18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AppStore</a:t>
            </a:r>
            <a:r>
              <a:rPr lang="zh-CN" altLang="en-US" sz="18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商店</a:t>
            </a:r>
            <a:endParaRPr lang="zh-CN" altLang="en-US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Linux</a:t>
            </a:r>
            <a:r>
              <a:rPr lang="zh-CN" altLang="en-US"/>
              <a:t>系统同样支持这两种方式，我们首先，先来学习使用：</a:t>
            </a:r>
            <a:r>
              <a:rPr lang="en-US" altLang="zh-CN"/>
              <a:t>Linux</a:t>
            </a:r>
            <a:r>
              <a:rPr lang="zh-CN" altLang="en-US"/>
              <a:t>命令行内的</a:t>
            </a:r>
            <a:r>
              <a:rPr lang="en-US" altLang="zh-CN"/>
              <a:t>”</a:t>
            </a:r>
            <a:r>
              <a:rPr lang="zh-CN" altLang="en-US"/>
              <a:t>应用商店</a:t>
            </a:r>
            <a:r>
              <a:rPr lang="en-US" altLang="zh-CN"/>
              <a:t>”</a:t>
            </a:r>
            <a:r>
              <a:rPr lang="zh-CN" altLang="en-US"/>
              <a:t>，</a:t>
            </a:r>
            <a:r>
              <a:rPr lang="en-US" altLang="zh-CN"/>
              <a:t>yum</a:t>
            </a:r>
            <a:r>
              <a:rPr lang="zh-CN" altLang="en-US"/>
              <a:t>命令安装</a:t>
            </a:r>
            <a:r>
              <a:rPr lang="zh-CN" altLang="en-US"/>
              <a:t>软件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yum</a:t>
            </a:r>
            <a: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yum</a:t>
            </a:r>
            <a:r>
              <a:rPr lang="zh-CN" altLang="en-US"/>
              <a:t>：</a:t>
            </a:r>
            <a:r>
              <a:rPr lang="en-US" altLang="zh-CN"/>
              <a:t>RPM</a:t>
            </a:r>
            <a:r>
              <a:rPr lang="zh-CN" altLang="en-US"/>
              <a:t>包软件管理器，用于自动化安装配置</a:t>
            </a:r>
            <a:r>
              <a:rPr lang="en-US" altLang="zh-CN"/>
              <a:t>Linux</a:t>
            </a:r>
            <a:r>
              <a:rPr lang="zh-CN" altLang="en-US"/>
              <a:t>软件，并可以自动解决依赖</a:t>
            </a:r>
            <a:r>
              <a:rPr lang="zh-CN" altLang="en-US"/>
              <a:t>问题。</a:t>
            </a:r>
            <a:endParaRPr lang="zh-CN" altLang="en-US"/>
          </a:p>
          <a:p>
            <a:r>
              <a:rPr lang="zh-CN" altLang="en-US"/>
              <a:t>语法：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选项：</a:t>
            </a:r>
            <a:r>
              <a:rPr lang="en-US" altLang="zh-CN"/>
              <a:t>-y</a:t>
            </a:r>
            <a:r>
              <a:rPr lang="zh-CN" altLang="en-US"/>
              <a:t>，自动确认，无需手动确认安装或卸载</a:t>
            </a:r>
            <a:r>
              <a:rPr lang="zh-CN" altLang="en-US"/>
              <a:t>过程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install</a:t>
            </a:r>
            <a:r>
              <a:rPr lang="zh-CN" altLang="en-US"/>
              <a:t>：</a:t>
            </a:r>
            <a:r>
              <a:rPr lang="zh-CN" altLang="en-US"/>
              <a:t>安装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remove</a:t>
            </a:r>
            <a:r>
              <a:rPr lang="zh-CN" altLang="en-US"/>
              <a:t>：</a:t>
            </a:r>
            <a:r>
              <a:rPr lang="zh-CN" altLang="en-US"/>
              <a:t>卸载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search</a:t>
            </a:r>
            <a:r>
              <a:rPr lang="zh-CN" altLang="en-US"/>
              <a:t>：</a:t>
            </a:r>
            <a:r>
              <a:rPr lang="zh-CN" altLang="en-US"/>
              <a:t>搜索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>
                <a:solidFill>
                  <a:srgbClr val="FF0000"/>
                </a:solidFill>
              </a:rPr>
              <a:t>yum</a:t>
            </a:r>
            <a:r>
              <a:rPr lang="zh-CN" altLang="en-US">
                <a:solidFill>
                  <a:srgbClr val="FF0000"/>
                </a:solidFill>
              </a:rPr>
              <a:t>命令需要</a:t>
            </a:r>
            <a:r>
              <a:rPr lang="en-US" altLang="zh-CN">
                <a:solidFill>
                  <a:srgbClr val="FF0000"/>
                </a:solidFill>
              </a:rPr>
              <a:t>root</a:t>
            </a:r>
            <a:r>
              <a:rPr lang="zh-CN" altLang="en-US">
                <a:solidFill>
                  <a:srgbClr val="FF0000"/>
                </a:solidFill>
              </a:rPr>
              <a:t>权限哦，可以</a:t>
            </a:r>
            <a:r>
              <a:rPr lang="en-US" altLang="zh-CN">
                <a:solidFill>
                  <a:srgbClr val="FF0000"/>
                </a:solidFill>
              </a:rPr>
              <a:t>su</a:t>
            </a:r>
            <a:r>
              <a:rPr lang="zh-CN" altLang="en-US">
                <a:solidFill>
                  <a:srgbClr val="FF0000"/>
                </a:solidFill>
              </a:rPr>
              <a:t>切换到</a:t>
            </a:r>
            <a:r>
              <a:rPr lang="en-US" altLang="zh-CN">
                <a:solidFill>
                  <a:srgbClr val="FF0000"/>
                </a:solidFill>
              </a:rPr>
              <a:t>root</a:t>
            </a:r>
            <a:r>
              <a:rPr lang="zh-CN" altLang="en-US">
                <a:solidFill>
                  <a:srgbClr val="FF0000"/>
                </a:solidFill>
              </a:rPr>
              <a:t>，或使用</a:t>
            </a:r>
            <a:r>
              <a:rPr lang="en-US" altLang="zh-CN">
                <a:solidFill>
                  <a:srgbClr val="FF0000"/>
                </a:solidFill>
              </a:rPr>
              <a:t>sudo</a:t>
            </a:r>
            <a:r>
              <a:rPr lang="zh-CN" altLang="en-US">
                <a:solidFill>
                  <a:srgbClr val="FF0000"/>
                </a:solidFill>
              </a:rPr>
              <a:t>提权。</a:t>
            </a:r>
            <a:endParaRPr lang="zh-CN" altLang="en-US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en-US" altLang="zh-CN">
                <a:solidFill>
                  <a:srgbClr val="FF0000"/>
                </a:solidFill>
              </a:rPr>
              <a:t>yum</a:t>
            </a:r>
            <a:r>
              <a:rPr lang="zh-CN" altLang="en-US">
                <a:solidFill>
                  <a:srgbClr val="FF0000"/>
                </a:solidFill>
              </a:rPr>
              <a:t>命令需要联网</a:t>
            </a:r>
            <a:endParaRPr lang="zh-CN" altLang="en-US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225" y="2202180"/>
            <a:ext cx="4960620" cy="2819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yum</a:t>
            </a:r>
            <a: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/>
              <a:t>yum [-y] install wget</a:t>
            </a:r>
            <a:r>
              <a:rPr lang="zh-CN" altLang="en-US"/>
              <a:t>，</a:t>
            </a:r>
            <a:r>
              <a:rPr lang="en-US" altLang="zh-CN"/>
              <a:t> </a:t>
            </a:r>
            <a:r>
              <a:rPr lang="zh-CN" altLang="en-US"/>
              <a:t>通过</a:t>
            </a:r>
            <a:r>
              <a:rPr lang="en-US" altLang="zh-CN"/>
              <a:t>yum</a:t>
            </a:r>
            <a:r>
              <a:rPr lang="zh-CN" altLang="en-US"/>
              <a:t>命令安装</a:t>
            </a:r>
            <a:r>
              <a:rPr lang="en-US" altLang="zh-CN"/>
              <a:t>wget</a:t>
            </a:r>
            <a:r>
              <a:rPr lang="zh-CN" altLang="en-US"/>
              <a:t>程序</a:t>
            </a:r>
            <a:endParaRPr lang="zh-CN" alt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/>
              <a:t>yum [-y] remove wget</a:t>
            </a:r>
            <a:r>
              <a:rPr lang="zh-CN" altLang="en-US"/>
              <a:t>，通过</a:t>
            </a:r>
            <a:r>
              <a:rPr lang="en-US" altLang="zh-CN"/>
              <a:t>yum</a:t>
            </a:r>
            <a:r>
              <a:rPr lang="zh-CN" altLang="en-US"/>
              <a:t>命令卸载</a:t>
            </a:r>
            <a:r>
              <a:rPr lang="en-US" altLang="zh-CN"/>
              <a:t>wget</a:t>
            </a:r>
            <a:r>
              <a:rPr lang="zh-CN" altLang="en-US"/>
              <a:t>命令</a:t>
            </a:r>
            <a:endParaRPr lang="zh-CN" alt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/>
              <a:t>yum search wget</a:t>
            </a:r>
            <a:r>
              <a:rPr lang="zh-CN" altLang="en-US"/>
              <a:t>，通过</a:t>
            </a:r>
            <a:r>
              <a:rPr lang="en-US" altLang="zh-CN"/>
              <a:t>yum</a:t>
            </a:r>
            <a:r>
              <a:rPr lang="zh-CN" altLang="en-US"/>
              <a:t>命令，搜索是否有</a:t>
            </a:r>
            <a:r>
              <a:rPr lang="en-US" altLang="zh-CN"/>
              <a:t>wget</a:t>
            </a:r>
            <a:r>
              <a:rPr lang="zh-CN" altLang="en-US"/>
              <a:t>安装包</a:t>
            </a:r>
            <a:endParaRPr lang="zh-CN" alt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b="56152"/>
          <a:stretch>
            <a:fillRect/>
          </a:stretch>
        </p:blipFill>
        <p:spPr>
          <a:xfrm>
            <a:off x="1062355" y="2089785"/>
            <a:ext cx="4438015" cy="12084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apt</a:t>
            </a:r>
            <a:r>
              <a:t>命令</a:t>
            </a:r>
            <a:r>
              <a:rPr lang="en-US" altLang="zh-CN"/>
              <a:t> - </a:t>
            </a:r>
            <a:r>
              <a:t>扩展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前面学习的各类</a:t>
            </a:r>
            <a:r>
              <a:rPr lang="en-US" altLang="zh-CN"/>
              <a:t>Linux</a:t>
            </a:r>
            <a:r>
              <a:rPr lang="zh-CN" altLang="en-US"/>
              <a:t>命令，都是通用的。</a:t>
            </a:r>
            <a:r>
              <a:rPr lang="en-US" altLang="zh-CN"/>
              <a:t> </a:t>
            </a:r>
            <a:r>
              <a:rPr lang="zh-CN" altLang="en-US"/>
              <a:t>但是软件安装，</a:t>
            </a:r>
            <a:r>
              <a:rPr lang="en-US" altLang="zh-CN"/>
              <a:t>CentOS</a:t>
            </a:r>
            <a:r>
              <a:rPr lang="zh-CN" altLang="en-US"/>
              <a:t>系统和</a:t>
            </a:r>
            <a:r>
              <a:rPr lang="en-US" altLang="zh-CN"/>
              <a:t>Ubuntu</a:t>
            </a:r>
            <a:r>
              <a:rPr lang="zh-CN" altLang="en-US"/>
              <a:t>是使用不同的包</a:t>
            </a:r>
            <a:r>
              <a:rPr lang="zh-CN" altLang="en-US"/>
              <a:t>管理器。</a:t>
            </a:r>
            <a:endParaRPr lang="zh-CN" altLang="en-US"/>
          </a:p>
          <a:p>
            <a:r>
              <a:rPr lang="en-US" altLang="zh-CN"/>
              <a:t>CentOS</a:t>
            </a:r>
            <a:r>
              <a:rPr lang="zh-CN" altLang="en-US"/>
              <a:t>使用</a:t>
            </a:r>
            <a:r>
              <a:rPr lang="en-US" altLang="zh-CN"/>
              <a:t>yum</a:t>
            </a:r>
            <a:r>
              <a:rPr lang="zh-CN" altLang="en-US"/>
              <a:t>管理器，</a:t>
            </a:r>
            <a:r>
              <a:rPr lang="en-US" altLang="zh-CN"/>
              <a:t>Ubuntu</a:t>
            </a:r>
            <a:r>
              <a:rPr lang="zh-CN" altLang="en-US"/>
              <a:t>使用</a:t>
            </a:r>
            <a:r>
              <a:rPr lang="en-US" altLang="zh-CN"/>
              <a:t>apt</a:t>
            </a:r>
            <a:r>
              <a:rPr lang="zh-CN" altLang="en-US"/>
              <a:t>管理器</a:t>
            </a:r>
            <a:endParaRPr lang="zh-CN" altLang="en-US"/>
          </a:p>
          <a:p>
            <a:r>
              <a:rPr lang="zh-CN" altLang="en-US"/>
              <a:t>通过前面学习的</a:t>
            </a:r>
            <a:r>
              <a:rPr lang="en-US" altLang="zh-CN"/>
              <a:t>WSL</a:t>
            </a:r>
            <a:r>
              <a:rPr lang="zh-CN" altLang="en-US"/>
              <a:t>环境，我们可以得到</a:t>
            </a:r>
            <a:r>
              <a:rPr lang="en-US" altLang="zh-CN"/>
              <a:t>Ubuntu</a:t>
            </a:r>
            <a:r>
              <a:rPr lang="zh-CN" altLang="en-US"/>
              <a:t>运行</a:t>
            </a:r>
            <a:r>
              <a:rPr lang="zh-CN" altLang="en-US"/>
              <a:t>环境。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语法：</a:t>
            </a:r>
            <a:endParaRPr lang="zh-CN" altLang="en-US"/>
          </a:p>
          <a:p>
            <a:r>
              <a:rPr lang="zh-CN" altLang="en-US"/>
              <a:t>用法和</a:t>
            </a:r>
            <a:r>
              <a:rPr lang="en-US" altLang="zh-CN"/>
              <a:t>yum</a:t>
            </a:r>
            <a:r>
              <a:rPr lang="zh-CN" altLang="en-US"/>
              <a:t>一致，同样需要</a:t>
            </a:r>
            <a:r>
              <a:rPr lang="en-US" altLang="zh-CN"/>
              <a:t>root</a:t>
            </a:r>
            <a:r>
              <a:rPr lang="zh-CN" altLang="en-US"/>
              <a:t>权限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apt install wget</a:t>
            </a:r>
            <a:r>
              <a:rPr lang="zh-CN" altLang="en-US"/>
              <a:t>，安装</a:t>
            </a:r>
            <a:r>
              <a:rPr lang="en-US" altLang="zh-CN"/>
              <a:t>wget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apt remove wget</a:t>
            </a:r>
            <a:r>
              <a:rPr lang="zh-CN" altLang="en-US"/>
              <a:t>，移除</a:t>
            </a:r>
            <a:r>
              <a:rPr lang="en-US" altLang="zh-CN"/>
              <a:t>wget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apt search wget</a:t>
            </a:r>
            <a:r>
              <a:rPr lang="zh-CN" altLang="en-US"/>
              <a:t>，搜索</a:t>
            </a:r>
            <a:r>
              <a:rPr lang="en-US" altLang="zh-CN"/>
              <a:t>wget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9715" y="3432810"/>
            <a:ext cx="49453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在</a:t>
            </a:r>
            <a:r>
              <a:rPr lang="en-US" altLang="zh-CN"/>
              <a:t>CentOS</a:t>
            </a:r>
            <a:r>
              <a:rPr lang="zh-CN" altLang="en-US"/>
              <a:t>系统中，使用</a:t>
            </a:r>
            <a:r>
              <a:rPr lang="en-US" altLang="zh-CN"/>
              <a:t>yum</a:t>
            </a:r>
            <a:r>
              <a:rPr lang="zh-CN" altLang="en-US"/>
              <a:t>命令联网管理软件</a:t>
            </a:r>
            <a:r>
              <a:rPr lang="zh-CN" altLang="en-US"/>
              <a:t>安装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yum</a:t>
            </a:r>
            <a:r>
              <a:rPr lang="zh-CN" altLang="en-US"/>
              <a:t>语法：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在</a:t>
            </a:r>
            <a:r>
              <a:rPr lang="en-US" altLang="zh-CN"/>
              <a:t>Ubuntu</a:t>
            </a:r>
            <a:r>
              <a:rPr lang="zh-CN" altLang="en-US"/>
              <a:t>系统中，使用</a:t>
            </a:r>
            <a:r>
              <a:rPr lang="en-US" altLang="zh-CN"/>
              <a:t>apt</a:t>
            </a:r>
            <a:r>
              <a:rPr lang="zh-CN" altLang="en-US"/>
              <a:t>命令</a:t>
            </a:r>
            <a:r>
              <a:rPr lang="zh-CN" altLang="en-US">
                <a:sym typeface="+mn-ea"/>
              </a:rPr>
              <a:t>联网</a:t>
            </a:r>
            <a:r>
              <a:rPr lang="zh-CN" altLang="en-US"/>
              <a:t>管理软件</a:t>
            </a:r>
            <a:r>
              <a:rPr lang="zh-CN" altLang="en-US"/>
              <a:t>安装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apt</a:t>
            </a:r>
            <a:r>
              <a:rPr lang="zh-CN" altLang="en-US"/>
              <a:t>语法：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975" y="3329940"/>
            <a:ext cx="4960620" cy="2819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975" y="4525010"/>
            <a:ext cx="494538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675" y="679450"/>
            <a:ext cx="5973445" cy="5344160"/>
          </a:xfrm>
        </p:spPr>
        <p:txBody>
          <a:bodyPr/>
          <a:lstStyle/>
          <a:p>
            <a:pPr algn="l"/>
            <a:r>
              <a:rPr kumimoji="1" lang="zh-CN" altLang="en-US" sz="1600" dirty="0">
                <a:sym typeface="+mn-ea"/>
              </a:rPr>
              <a:t>各类小技巧（快捷键）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软件安装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systemctl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软连接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日期、时区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IP</a:t>
            </a:r>
            <a:r>
              <a:rPr kumimoji="1" lang="zh-CN" altLang="en-US" sz="1600" dirty="0">
                <a:sym typeface="+mn-ea"/>
              </a:rPr>
              <a:t>地址、主机名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网络传输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进程管理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主机状态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环境变量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上传、下载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压缩、解压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135763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 altLang="en-US" sz="2000" b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掌握使用</a:t>
            </a:r>
            <a:r>
              <a:rPr lang="en-US" altLang="zh-CN" sz="2000" b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systemctl</a:t>
            </a:r>
            <a:r>
              <a:rPr lang="zh-CN" altLang="en-US" sz="2000" b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命令控制软件的启动和</a:t>
            </a:r>
            <a:r>
              <a:rPr lang="zh-CN" altLang="en-US" sz="2000" b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关闭</a:t>
            </a:r>
            <a:endParaRPr lang="zh-CN" altLang="en-US" sz="2000" b="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systemctl</a:t>
            </a:r>
            <a: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Linux</a:t>
            </a:r>
            <a:r>
              <a:rPr lang="zh-CN" altLang="en-US"/>
              <a:t>系统很多软件（内置或第三方）均支持使用</a:t>
            </a:r>
            <a:r>
              <a:rPr lang="en-US" altLang="zh-CN"/>
              <a:t>systemctl</a:t>
            </a:r>
            <a:r>
              <a:rPr lang="zh-CN" altLang="en-US"/>
              <a:t>命令控制：启动、停止、</a:t>
            </a:r>
            <a:r>
              <a:rPr lang="zh-CN" altLang="en-US"/>
              <a:t>开机自启</a:t>
            </a:r>
            <a:endParaRPr lang="zh-CN" altLang="en-US"/>
          </a:p>
          <a:p>
            <a:r>
              <a:rPr lang="zh-CN" altLang="en-US"/>
              <a:t>能够被</a:t>
            </a:r>
            <a:r>
              <a:rPr lang="en-US" altLang="zh-CN"/>
              <a:t>systemctl</a:t>
            </a:r>
            <a:r>
              <a:rPr lang="zh-CN" altLang="en-US"/>
              <a:t>管理的软件，一般也称之为：</a:t>
            </a:r>
            <a:r>
              <a:rPr lang="zh-CN" altLang="en-US"/>
              <a:t>服务</a:t>
            </a:r>
            <a:endParaRPr lang="zh-CN" altLang="en-US"/>
          </a:p>
          <a:p>
            <a:r>
              <a:rPr lang="zh-CN" altLang="en-US"/>
              <a:t>语法：</a:t>
            </a:r>
            <a:endParaRPr lang="zh-CN" altLang="en-US"/>
          </a:p>
          <a:p>
            <a:endParaRPr lang="zh-CN" altLang="en-US" sz="1200"/>
          </a:p>
          <a:p>
            <a:r>
              <a:rPr lang="zh-CN" altLang="en-US"/>
              <a:t>系统内置的服务比较多，比如：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NetworkManager，主网络服务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network</a:t>
            </a:r>
            <a:r>
              <a:rPr lang="zh-CN" altLang="en-US"/>
              <a:t>，副网络服务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firewalld</a:t>
            </a:r>
            <a:r>
              <a:rPr lang="zh-CN" altLang="en-US"/>
              <a:t>，防火墙服务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sshd</a:t>
            </a:r>
            <a:r>
              <a:rPr lang="zh-CN" altLang="en-US"/>
              <a:t>，</a:t>
            </a:r>
            <a:r>
              <a:rPr lang="en-US" altLang="zh-CN"/>
              <a:t>ssh</a:t>
            </a:r>
            <a:r>
              <a:rPr lang="zh-CN" altLang="en-US"/>
              <a:t>服务（</a:t>
            </a:r>
            <a:r>
              <a:rPr lang="en-US" altLang="zh-CN"/>
              <a:t>FinalShell</a:t>
            </a:r>
            <a:r>
              <a:rPr lang="zh-CN" altLang="en-US"/>
              <a:t>远程登录</a:t>
            </a:r>
            <a:r>
              <a:rPr lang="en-US" altLang="zh-CN"/>
              <a:t>Linux</a:t>
            </a:r>
            <a:r>
              <a:rPr lang="zh-CN" altLang="en-US"/>
              <a:t>使用的就是这个服务）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现在可以使用</a:t>
            </a:r>
            <a:r>
              <a:rPr lang="en-US" altLang="zh-CN"/>
              <a:t>systemctl</a:t>
            </a:r>
            <a:r>
              <a:rPr lang="zh-CN" altLang="en-US"/>
              <a:t>去尝试一下，控制这些服务的启动、关闭、自启动</a:t>
            </a:r>
            <a:r>
              <a:rPr lang="zh-CN" altLang="en-US"/>
              <a:t>啦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9385" y="2620645"/>
            <a:ext cx="6347460" cy="2819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776845" y="2261870"/>
            <a:ext cx="2317115" cy="132207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600">
                <a:sym typeface="+mn-ea"/>
              </a:rPr>
              <a:t>start </a:t>
            </a:r>
            <a:r>
              <a:rPr lang="zh-CN" altLang="en-US" sz="1600">
                <a:sym typeface="+mn-ea"/>
              </a:rPr>
              <a:t>启动</a:t>
            </a:r>
            <a:endParaRPr lang="zh-CN" altLang="en-US" sz="16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600">
                <a:sym typeface="+mn-ea"/>
              </a:rPr>
              <a:t>stop </a:t>
            </a:r>
            <a:r>
              <a:rPr lang="zh-CN" altLang="en-US" sz="1600">
                <a:sym typeface="+mn-ea"/>
              </a:rPr>
              <a:t>关闭</a:t>
            </a:r>
            <a:endParaRPr lang="zh-CN" altLang="en-US" sz="16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600">
                <a:sym typeface="+mn-ea"/>
              </a:rPr>
              <a:t>status </a:t>
            </a:r>
            <a:r>
              <a:rPr lang="zh-CN" altLang="en-US" sz="1600">
                <a:sym typeface="+mn-ea"/>
              </a:rPr>
              <a:t>查看状态</a:t>
            </a:r>
            <a:endParaRPr lang="zh-CN" altLang="en-US" sz="16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600">
                <a:sym typeface="+mn-ea"/>
              </a:rPr>
              <a:t>enable </a:t>
            </a:r>
            <a:r>
              <a:rPr lang="zh-CN" altLang="en-US" sz="1600">
                <a:sym typeface="+mn-ea"/>
              </a:rPr>
              <a:t>开启开机自启</a:t>
            </a:r>
            <a:endParaRPr lang="zh-CN" altLang="en-US" sz="160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600">
                <a:sym typeface="+mn-ea"/>
              </a:rPr>
              <a:t>disable </a:t>
            </a:r>
            <a:r>
              <a:rPr lang="zh-CN" altLang="en-US" sz="1600">
                <a:sym typeface="+mn-ea"/>
              </a:rPr>
              <a:t>关闭开机自启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systemctl</a:t>
            </a:r>
            <a:r>
              <a:rPr>
                <a:sym typeface="+mn-ea"/>
              </a:rPr>
              <a:t>命令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除了内置的服务以外，部分第三方软件安装后也可以以</a:t>
            </a:r>
            <a:r>
              <a:rPr lang="en-US" altLang="zh-CN"/>
              <a:t>systemctl</a:t>
            </a:r>
            <a:r>
              <a:rPr lang="zh-CN" altLang="en-US"/>
              <a:t>进行</a:t>
            </a:r>
            <a:r>
              <a:rPr lang="zh-CN" altLang="en-US"/>
              <a:t>控制。</a:t>
            </a:r>
            <a:endParaRPr lang="zh-CN" altLang="en-US"/>
          </a:p>
          <a:p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yum install -y ntp</a:t>
            </a:r>
            <a:r>
              <a:rPr lang="zh-CN" altLang="en-US"/>
              <a:t>，安装</a:t>
            </a:r>
            <a:r>
              <a:rPr lang="en-US" altLang="zh-CN"/>
              <a:t>ntp</a:t>
            </a:r>
            <a:r>
              <a:rPr lang="zh-CN" altLang="en-US"/>
              <a:t>软件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可以通过</a:t>
            </a:r>
            <a:r>
              <a:rPr lang="en-US" altLang="zh-CN"/>
              <a:t>ntpd</a:t>
            </a:r>
            <a:r>
              <a:rPr lang="zh-CN" altLang="en-US"/>
              <a:t>服务名，配合</a:t>
            </a:r>
            <a:r>
              <a:rPr lang="en-US" altLang="zh-CN"/>
              <a:t>systemctl</a:t>
            </a:r>
            <a:r>
              <a:rPr lang="zh-CN" altLang="en-US"/>
              <a:t>进行</a:t>
            </a:r>
            <a:r>
              <a:rPr lang="zh-CN" altLang="en-US"/>
              <a:t>控制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yum install -y httpd</a:t>
            </a:r>
            <a:r>
              <a:rPr lang="zh-CN" altLang="en-US"/>
              <a:t>，安装</a:t>
            </a:r>
            <a:r>
              <a:rPr lang="en-US" altLang="zh-CN"/>
              <a:t>apache</a:t>
            </a:r>
            <a:r>
              <a:rPr lang="zh-CN" altLang="en-US"/>
              <a:t>服务器</a:t>
            </a:r>
            <a:r>
              <a:rPr lang="zh-CN" altLang="en-US"/>
              <a:t>软件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可以通过</a:t>
            </a:r>
            <a:r>
              <a:rPr lang="en-US" altLang="zh-CN"/>
              <a:t>httpd</a:t>
            </a:r>
            <a:r>
              <a:rPr lang="zh-CN" altLang="en-US"/>
              <a:t>服务名，配合</a:t>
            </a:r>
            <a:r>
              <a:rPr lang="en-US" altLang="zh-CN"/>
              <a:t>systemctl</a:t>
            </a:r>
            <a:r>
              <a:rPr lang="zh-CN" altLang="en-US"/>
              <a:t>进行</a:t>
            </a:r>
            <a:r>
              <a:rPr lang="zh-CN" altLang="en-US"/>
              <a:t>控制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>
                <a:solidFill>
                  <a:srgbClr val="FF0000"/>
                </a:solidFill>
              </a:rPr>
              <a:t>部分软件安装后没有自动集成到</a:t>
            </a:r>
            <a:r>
              <a:rPr lang="en-US" altLang="zh-CN">
                <a:solidFill>
                  <a:srgbClr val="FF0000"/>
                </a:solidFill>
              </a:rPr>
              <a:t>systemctl</a:t>
            </a:r>
            <a:r>
              <a:rPr lang="zh-CN" altLang="en-US">
                <a:solidFill>
                  <a:srgbClr val="FF0000"/>
                </a:solidFill>
              </a:rPr>
              <a:t>中，我们可以手动添加。</a:t>
            </a:r>
            <a:endParaRPr lang="zh-CN" altLang="en-US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zh-CN" altLang="en-US">
                <a:solidFill>
                  <a:srgbClr val="FF0000"/>
                </a:solidFill>
              </a:rPr>
              <a:t>这部分内容在后续章节和大家详细讲解。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689090" cy="4511040"/>
          </a:xfrm>
        </p:spPr>
        <p:txBody>
          <a:bodyPr/>
          <a:p>
            <a:pPr marL="0" indent="0">
              <a:buNone/>
            </a:pPr>
            <a:r>
              <a:rPr lang="en-US" altLang="zh-CN"/>
              <a:t>1. systemctl</a:t>
            </a:r>
            <a:r>
              <a:rPr lang="zh-CN" altLang="en-US"/>
              <a:t>命令的作用</a:t>
            </a:r>
            <a:r>
              <a:rPr lang="zh-CN" altLang="en-US"/>
              <a:t>是？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可以控制软件（服务）的启动、关闭、开机自启动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系统内置服务均可被</a:t>
            </a:r>
            <a:r>
              <a:rPr lang="en-US" altLang="zh-CN" sz="1400"/>
              <a:t>systemctl</a:t>
            </a:r>
            <a:r>
              <a:rPr lang="zh-CN" altLang="en-US" sz="1400"/>
              <a:t>控制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第三方软件，如果自动注册了可以被</a:t>
            </a:r>
            <a:r>
              <a:rPr lang="en-US" altLang="zh-CN" sz="1400"/>
              <a:t>systemctl</a:t>
            </a:r>
            <a:r>
              <a:rPr lang="zh-CN" altLang="en-US" sz="1400"/>
              <a:t>控制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第三方软件，如果没有自动注册，可以手动注册（后续学习）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语法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2395" y="4914900"/>
            <a:ext cx="6347460" cy="2819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675" y="679450"/>
            <a:ext cx="5973445" cy="5344160"/>
          </a:xfrm>
        </p:spPr>
        <p:txBody>
          <a:bodyPr/>
          <a:lstStyle/>
          <a:p>
            <a:pPr algn="l"/>
            <a:r>
              <a:rPr kumimoji="1" lang="zh-CN" altLang="en-US" sz="1600" dirty="0">
                <a:sym typeface="+mn-ea"/>
              </a:rPr>
              <a:t>各类小技巧（快捷键）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软件安装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systemctl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软连接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日期、时区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IP</a:t>
            </a:r>
            <a:r>
              <a:rPr kumimoji="1" lang="zh-CN" altLang="en-US" sz="1600" dirty="0">
                <a:sym typeface="+mn-ea"/>
              </a:rPr>
              <a:t>地址、主机名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网络传输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进程管理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主机状态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环境变量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上传、下载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压缩、解压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187452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618105"/>
          </a:xfrm>
        </p:spPr>
        <p:txBody>
          <a:bodyPr/>
          <a:p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掌握使用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ln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命令创建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软连接</a:t>
            </a:r>
            <a:endParaRPr lang="zh-CN" altLang="en-US" sz="200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ln</a:t>
            </a:r>
            <a:r>
              <a:t>命令创建</a:t>
            </a:r>
            <a:r>
              <a:t>软连接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在系统中创建软链接，可以将文件、文件夹链接到其它</a:t>
            </a:r>
            <a:r>
              <a:rPr lang="zh-CN" altLang="en-US"/>
              <a:t>位置。</a:t>
            </a:r>
            <a:endParaRPr lang="zh-CN" altLang="en-US"/>
          </a:p>
          <a:p>
            <a:r>
              <a:rPr lang="zh-CN" altLang="en-US"/>
              <a:t>类似</a:t>
            </a:r>
            <a:r>
              <a:rPr lang="en-US" altLang="zh-CN"/>
              <a:t>Windows</a:t>
            </a:r>
            <a:r>
              <a:rPr lang="zh-CN" altLang="en-US"/>
              <a:t>系统中的《</a:t>
            </a:r>
            <a:r>
              <a:rPr lang="zh-CN" altLang="en-US"/>
              <a:t>快捷方式》</a:t>
            </a:r>
            <a:endParaRPr lang="zh-CN" altLang="en-US"/>
          </a:p>
          <a:p>
            <a:r>
              <a:rPr lang="zh-CN" altLang="en-US"/>
              <a:t>语法：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-s</a:t>
            </a:r>
            <a:r>
              <a:rPr lang="zh-CN" altLang="en-US"/>
              <a:t>选项，创建</a:t>
            </a:r>
            <a:r>
              <a:rPr lang="zh-CN" altLang="en-US"/>
              <a:t>软连接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参数</a:t>
            </a:r>
            <a:r>
              <a:rPr lang="en-US" altLang="zh-CN"/>
              <a:t>1</a:t>
            </a:r>
            <a:r>
              <a:rPr lang="zh-CN" altLang="en-US"/>
              <a:t>：被链接的文件或</a:t>
            </a:r>
            <a:r>
              <a:rPr lang="zh-CN" altLang="en-US"/>
              <a:t>文件夹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参数</a:t>
            </a:r>
            <a:r>
              <a:rPr lang="en-US" altLang="zh-CN"/>
              <a:t>2</a:t>
            </a:r>
            <a:r>
              <a:rPr lang="zh-CN" altLang="en-US"/>
              <a:t>：要链接去的</a:t>
            </a:r>
            <a:r>
              <a:rPr lang="zh-CN" altLang="en-US"/>
              <a:t>目的地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实例：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ln -s /etc/yum.conf ~/yum.conf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ln -s /etc/yum ~/yum</a:t>
            </a:r>
            <a:endParaRPr lang="en-US" altLang="zh-CN"/>
          </a:p>
          <a:p>
            <a:pPr>
              <a:buFont typeface="Arial" panose="020B0604020202020204" pitchFamily="34" charset="0"/>
            </a:pP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0015" y="2589530"/>
            <a:ext cx="1874520" cy="3200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815" y="5364480"/>
            <a:ext cx="6987540" cy="388620"/>
          </a:xfrm>
          <a:prstGeom prst="rect">
            <a:avLst/>
          </a:prstGeom>
        </p:spPr>
      </p:pic>
      <p:pic>
        <p:nvPicPr>
          <p:cNvPr id="6" name="图片 5" descr="01 (99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105" y="4834255"/>
            <a:ext cx="2078990" cy="207899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689090" cy="4511040"/>
          </a:xfrm>
        </p:spPr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什么是软连接？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可以将文件、文件夹链接到其它</a:t>
            </a:r>
            <a:r>
              <a:rPr lang="zh-CN" altLang="en-US" sz="1400"/>
              <a:t>位置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链接只是一个指向，并不是物理移动，类似</a:t>
            </a:r>
            <a:r>
              <a:rPr lang="en-US" altLang="zh-CN" sz="1400"/>
              <a:t>Windows</a:t>
            </a:r>
            <a:r>
              <a:rPr lang="zh-CN" altLang="en-US" sz="1400"/>
              <a:t>系统的</a:t>
            </a:r>
            <a:r>
              <a:rPr lang="zh-CN" altLang="en-US" sz="1400"/>
              <a:t>快捷方式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软连接的使用语法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6700" y="4549140"/>
            <a:ext cx="1874520" cy="3200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700" y="4907915"/>
            <a:ext cx="2305685" cy="76390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675" y="679450"/>
            <a:ext cx="5973445" cy="5344160"/>
          </a:xfrm>
        </p:spPr>
        <p:txBody>
          <a:bodyPr/>
          <a:lstStyle/>
          <a:p>
            <a:pPr algn="l"/>
            <a:r>
              <a:rPr kumimoji="1" lang="zh-CN" altLang="en-US" sz="1600" dirty="0">
                <a:sym typeface="+mn-ea"/>
              </a:rPr>
              <a:t>各类小技巧（快捷键）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软件安装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systemctl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软连接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日期、时区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IP</a:t>
            </a:r>
            <a:r>
              <a:rPr kumimoji="1" lang="zh-CN" altLang="en-US" sz="1600" dirty="0">
                <a:sym typeface="+mn-ea"/>
              </a:rPr>
              <a:t>地址、主机名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网络传输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进程管理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主机状态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环境变量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上传、下载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压缩、解压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240284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618105"/>
          </a:xfrm>
        </p:spPr>
        <p:txBody>
          <a:bodyPr/>
          <a:p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掌握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date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命令查看日期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时间</a:t>
            </a:r>
            <a:endParaRPr lang="zh-CN" altLang="en-US" sz="2000" b="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掌握修改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Linux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系统的时区</a:t>
            </a:r>
            <a:endParaRPr lang="zh-CN" altLang="en-US" sz="200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  <a:p>
            <a:r>
              <a:rPr lang="zh-CN" altLang="en-US" sz="2000" b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掌握使用</a:t>
            </a:r>
            <a:r>
              <a:rPr lang="en-US" altLang="zh-CN" sz="2000" b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ntp</a:t>
            </a:r>
            <a:r>
              <a:rPr lang="zh-CN" altLang="en-US" sz="2000" b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进行时间同步和</a:t>
            </a:r>
            <a:r>
              <a:rPr lang="zh-CN" altLang="en-US" sz="2000" b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校准</a:t>
            </a:r>
            <a:endParaRPr lang="zh-CN" altLang="en-US" sz="2000" b="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date</a:t>
            </a:r>
            <a: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通过</a:t>
            </a:r>
            <a:r>
              <a:rPr lang="en-US" altLang="zh-CN"/>
              <a:t>date</a:t>
            </a:r>
            <a:r>
              <a:rPr lang="zh-CN" altLang="en-US"/>
              <a:t>命令可以在命令行</a:t>
            </a:r>
            <a:r>
              <a:rPr lang="zh-CN" altLang="en-US"/>
              <a:t>中查看系统的</a:t>
            </a:r>
            <a:r>
              <a:rPr lang="zh-CN" altLang="en-US"/>
              <a:t>时间</a:t>
            </a:r>
            <a:endParaRPr lang="zh-CN" altLang="en-US"/>
          </a:p>
          <a:p>
            <a:r>
              <a:rPr lang="zh-CN" altLang="en-US"/>
              <a:t>语法：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-d </a:t>
            </a:r>
            <a:r>
              <a:rPr lang="zh-CN" altLang="en-US"/>
              <a:t>按照给定的字符串显示日期，一般用于日期</a:t>
            </a:r>
            <a:r>
              <a:rPr lang="zh-CN" altLang="en-US"/>
              <a:t>计算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格式化字符串：通过特定的字符串标记，来控制显示的日期</a:t>
            </a:r>
            <a:r>
              <a:rPr lang="zh-CN" altLang="en-US"/>
              <a:t>格式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%Y   年</a:t>
            </a:r>
            <a:endParaRPr lang="zh-CN" altLang="en-US" sz="140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%y   年份后两位数字 (00..99)</a:t>
            </a:r>
            <a:endParaRPr lang="zh-CN" altLang="en-US" sz="140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%m   月份 (01..12)</a:t>
            </a:r>
            <a:endParaRPr lang="zh-CN" altLang="en-US" sz="140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%d   日 (01..31)</a:t>
            </a:r>
            <a:endParaRPr lang="en-US" altLang="zh-CN" sz="140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%H   小时 (00..23)</a:t>
            </a:r>
            <a:endParaRPr lang="en-US" altLang="zh-CN" sz="140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%M   分钟 (00..59)</a:t>
            </a:r>
            <a:endParaRPr lang="en-US" altLang="zh-CN" sz="140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%S   秒 (00..60)</a:t>
            </a:r>
            <a:endParaRPr lang="en-US" altLang="zh-CN" sz="140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%s   自 1970-01-01 00:00:00 UTC 到现在的秒数</a:t>
            </a:r>
            <a:endParaRPr lang="en-US" altLang="zh-CN" sz="140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560" y="2224405"/>
            <a:ext cx="2590800" cy="236220"/>
          </a:xfrm>
          <a:prstGeom prst="rect">
            <a:avLst/>
          </a:prstGeom>
        </p:spPr>
      </p:pic>
      <p:pic>
        <p:nvPicPr>
          <p:cNvPr id="5" name="图片 4" descr="01 (40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4215" y="5052695"/>
            <a:ext cx="1651000" cy="1651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date</a:t>
            </a:r>
            <a:r>
              <a:rPr>
                <a:sym typeface="+mn-ea"/>
              </a:rPr>
              <a:t>命令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使用</a:t>
            </a:r>
            <a:r>
              <a:rPr lang="en-US" altLang="zh-CN"/>
              <a:t>date</a:t>
            </a:r>
            <a:r>
              <a:rPr lang="zh-CN" altLang="en-US"/>
              <a:t>命令本体，无选项，直接查看</a:t>
            </a:r>
            <a:r>
              <a:rPr lang="zh-CN" altLang="en-US"/>
              <a:t>时间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可以看到这个格式非常的不习惯。我们可以通过格式化字符串自定义显示</a:t>
            </a:r>
            <a:r>
              <a:rPr lang="zh-CN" altLang="en-US"/>
              <a:t>格式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按照</a:t>
            </a:r>
            <a:r>
              <a:rPr lang="en-US" altLang="zh-CN"/>
              <a:t>2022-01-01</a:t>
            </a:r>
            <a:r>
              <a:rPr lang="zh-CN" altLang="en-US"/>
              <a:t>的格式显示</a:t>
            </a:r>
            <a:r>
              <a:rPr lang="zh-CN" altLang="en-US"/>
              <a:t>日期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按照</a:t>
            </a:r>
            <a:r>
              <a:rPr lang="en-US" altLang="zh-CN"/>
              <a:t>2022-01-01 10:00:00</a:t>
            </a:r>
            <a:r>
              <a:rPr lang="zh-CN" altLang="en-US"/>
              <a:t>的格式显示</a:t>
            </a:r>
            <a:r>
              <a:rPr lang="zh-CN" altLang="en-US"/>
              <a:t>日期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如上，由于中间带有空格，所以使用双引号包围格式化字符串，作为</a:t>
            </a:r>
            <a:r>
              <a:rPr lang="zh-CN" altLang="en-US"/>
              <a:t>整体。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155" y="2065655"/>
            <a:ext cx="3520440" cy="457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155" y="3364230"/>
            <a:ext cx="3154680" cy="3962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155" y="4136390"/>
            <a:ext cx="4244340" cy="1097280"/>
          </a:xfrm>
          <a:prstGeom prst="rect">
            <a:avLst/>
          </a:prstGeom>
        </p:spPr>
      </p:pic>
      <p:pic>
        <p:nvPicPr>
          <p:cNvPr id="7" name="图片 6" descr="01 (41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5805" y="5003800"/>
            <a:ext cx="1685290" cy="168529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date</a:t>
            </a:r>
            <a:r>
              <a:t>命令进行日期</a:t>
            </a:r>
            <a:r>
              <a:t>加减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-d</a:t>
            </a:r>
            <a:r>
              <a:rPr lang="zh-CN" altLang="en-US"/>
              <a:t>选项，可以按照给定的字符串显示日期，一般用于日期计算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其中支持的时间标记</a:t>
            </a:r>
            <a:r>
              <a:rPr lang="zh-CN" altLang="en-US"/>
              <a:t>为：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+mn-ea"/>
              </a:rPr>
              <a:t>year</a:t>
            </a:r>
            <a:r>
              <a:rPr lang="zh-CN" altLang="en-US" sz="16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+mn-ea"/>
              </a:rPr>
              <a:t>年</a:t>
            </a:r>
            <a:endParaRPr lang="zh-CN" altLang="en-US" sz="160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month</a:t>
            </a:r>
            <a:r>
              <a:rPr lang="zh-CN" altLang="en-US" sz="16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月</a:t>
            </a:r>
            <a:endParaRPr lang="zh-CN" altLang="en-US" sz="160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+mn-ea"/>
              </a:rPr>
              <a:t>day</a:t>
            </a:r>
            <a:r>
              <a:rPr lang="zh-CN" altLang="en-US" sz="16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+mn-ea"/>
              </a:rPr>
              <a:t>天</a:t>
            </a:r>
            <a:endParaRPr lang="zh-CN" altLang="en-US" sz="160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hour</a:t>
            </a:r>
            <a:r>
              <a:rPr lang="zh-CN" altLang="en-US" sz="16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小时</a:t>
            </a:r>
            <a:endParaRPr lang="zh-CN" altLang="en-US" sz="160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minute</a:t>
            </a:r>
            <a:r>
              <a:rPr lang="zh-CN" altLang="en-US" sz="16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分钟</a:t>
            </a:r>
            <a:endParaRPr lang="zh-CN" altLang="en-US" sz="160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second</a:t>
            </a:r>
            <a:r>
              <a:rPr lang="zh-CN" altLang="en-US" sz="160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秒</a:t>
            </a:r>
            <a:endParaRPr lang="zh-CN" altLang="en-US" sz="160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/>
              <a:t>-d选项可以和 格式化字符串配合一起使用哦</a:t>
            </a:r>
            <a:endParaRPr lang="zh-CN" altLang="en-US" sz="1600"/>
          </a:p>
          <a:p>
            <a:pPr>
              <a:buFont typeface="Arial" panose="020B0604020202020204" pitchFamily="34" charset="0"/>
            </a:pP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485" y="2131695"/>
            <a:ext cx="2446020" cy="906780"/>
          </a:xfrm>
          <a:prstGeom prst="rect">
            <a:avLst/>
          </a:prstGeom>
        </p:spPr>
      </p:pic>
      <p:pic>
        <p:nvPicPr>
          <p:cNvPr id="7" name="图片 6" descr="01 (4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9725" y="4606290"/>
            <a:ext cx="2099310" cy="209931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修改</a:t>
            </a:r>
            <a:r>
              <a:rPr lang="en-US" altLang="zh-CN"/>
              <a:t>Linux</a:t>
            </a:r>
            <a:r>
              <a:t>时区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细心的同学可能会发现，通过</a:t>
            </a:r>
            <a:r>
              <a:rPr lang="en-US" altLang="zh-CN"/>
              <a:t>date</a:t>
            </a:r>
            <a:r>
              <a:rPr lang="zh-CN" altLang="en-US"/>
              <a:t>查看的日期时间是不准确的，这是因为：系统默认时区非中国的</a:t>
            </a:r>
            <a:r>
              <a:rPr lang="zh-CN" altLang="en-US"/>
              <a:t>东八区。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使用</a:t>
            </a:r>
            <a:r>
              <a:rPr lang="en-US" altLang="zh-CN">
                <a:solidFill>
                  <a:srgbClr val="FF0000"/>
                </a:solidFill>
              </a:rPr>
              <a:t>root</a:t>
            </a:r>
            <a:r>
              <a:rPr lang="zh-CN" altLang="en-US">
                <a:solidFill>
                  <a:srgbClr val="FF0000"/>
                </a:solidFill>
              </a:rPr>
              <a:t>权限，执行如下命令</a:t>
            </a:r>
            <a:r>
              <a:rPr lang="zh-CN" altLang="en-US"/>
              <a:t>，修改时区为东八区</a:t>
            </a:r>
            <a:r>
              <a:rPr lang="zh-CN" altLang="en-US"/>
              <a:t>时区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将系统自带的</a:t>
            </a:r>
            <a:r>
              <a:rPr lang="en-US" altLang="zh-CN"/>
              <a:t>localtime</a:t>
            </a:r>
            <a:r>
              <a:rPr lang="zh-CN" altLang="en-US"/>
              <a:t>文件删除，并将</a:t>
            </a:r>
            <a:r>
              <a:rPr lang="en-US" altLang="zh-CN"/>
              <a:t>/usr/share/zoneinfo/Asia/Shanghai</a:t>
            </a:r>
            <a:r>
              <a:rPr lang="zh-CN" altLang="en-US"/>
              <a:t>文件链接为</a:t>
            </a:r>
            <a:r>
              <a:rPr lang="en-US" altLang="zh-CN"/>
              <a:t>localtime</a:t>
            </a:r>
            <a:r>
              <a:rPr lang="zh-CN" altLang="en-US"/>
              <a:t>文件</a:t>
            </a:r>
            <a:r>
              <a:rPr lang="zh-CN" altLang="en-US"/>
              <a:t>即可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370" y="3010535"/>
            <a:ext cx="6644640" cy="533400"/>
          </a:xfrm>
          <a:prstGeom prst="rect">
            <a:avLst/>
          </a:prstGeom>
        </p:spPr>
      </p:pic>
      <p:pic>
        <p:nvPicPr>
          <p:cNvPr id="5" name="图片 4" descr="01 (4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0245" y="5031740"/>
            <a:ext cx="1671955" cy="167195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ntp</a:t>
            </a:r>
            <a:r>
              <a:t>程序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我们可以通过</a:t>
            </a:r>
            <a:r>
              <a:rPr lang="en-US" altLang="zh-CN"/>
              <a:t>ntp</a:t>
            </a:r>
            <a:r>
              <a:rPr lang="zh-CN" altLang="en-US"/>
              <a:t>程序自动校准系统</a:t>
            </a:r>
            <a:r>
              <a:rPr lang="zh-CN" altLang="en-US"/>
              <a:t>时间</a:t>
            </a:r>
            <a:endParaRPr lang="zh-CN" altLang="en-US"/>
          </a:p>
          <a:p>
            <a:r>
              <a:rPr lang="zh-CN" altLang="en-US"/>
              <a:t>安装</a:t>
            </a:r>
            <a:r>
              <a:rPr lang="en-US" altLang="zh-CN"/>
              <a:t>ntp</a:t>
            </a:r>
            <a:r>
              <a:rPr lang="zh-CN" altLang="en-US"/>
              <a:t>：</a:t>
            </a:r>
            <a:r>
              <a:rPr lang="en-US" altLang="zh-CN"/>
              <a:t>yum -y install ntp</a:t>
            </a:r>
            <a:endParaRPr lang="en-US" altLang="zh-CN"/>
          </a:p>
          <a:p>
            <a:r>
              <a:rPr lang="zh-CN" altLang="en-US"/>
              <a:t>启动并设置开机</a:t>
            </a:r>
            <a:r>
              <a:rPr lang="zh-CN" altLang="en-US"/>
              <a:t>自启：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systemctl start ntpd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systemctl enable ntpd</a:t>
            </a:r>
            <a:endParaRPr lang="en-US" altLang="zh-CN"/>
          </a:p>
          <a:p>
            <a:pPr>
              <a:buFont typeface="Arial" panose="020B0604020202020204" pitchFamily="34" charset="0"/>
            </a:pPr>
            <a:r>
              <a:rPr lang="zh-CN" altLang="en-US"/>
              <a:t>当</a:t>
            </a:r>
            <a:r>
              <a:rPr lang="en-US" altLang="zh-CN"/>
              <a:t>ntpd</a:t>
            </a:r>
            <a:r>
              <a:rPr lang="zh-CN" altLang="en-US"/>
              <a:t>启动后会定期的帮助我们</a:t>
            </a:r>
            <a:r>
              <a:rPr lang="zh-CN" altLang="en-US">
                <a:solidFill>
                  <a:srgbClr val="FF0000"/>
                </a:solidFill>
              </a:rPr>
              <a:t>联网</a:t>
            </a:r>
            <a:r>
              <a:rPr lang="zh-CN" altLang="en-US"/>
              <a:t>校准系统的</a:t>
            </a:r>
            <a:r>
              <a:rPr lang="zh-CN" altLang="en-US"/>
              <a:t>时间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也可以手动校准（</a:t>
            </a:r>
            <a:r>
              <a:rPr lang="zh-CN" altLang="en-US">
                <a:solidFill>
                  <a:srgbClr val="FF0000"/>
                </a:solidFill>
              </a:rPr>
              <a:t>需</a:t>
            </a:r>
            <a:r>
              <a:rPr lang="en-US" altLang="zh-CN">
                <a:solidFill>
                  <a:srgbClr val="FF0000"/>
                </a:solidFill>
              </a:rPr>
              <a:t>root</a:t>
            </a:r>
            <a:r>
              <a:rPr lang="zh-CN" altLang="en-US">
                <a:solidFill>
                  <a:srgbClr val="FF0000"/>
                </a:solidFill>
              </a:rPr>
              <a:t>权限</a:t>
            </a:r>
            <a:r>
              <a:rPr lang="zh-CN" altLang="en-US"/>
              <a:t>）：</a:t>
            </a:r>
            <a:r>
              <a:rPr lang="en-US" altLang="zh-CN"/>
              <a:t>ntpdate -u ntp.aliyun.com</a:t>
            </a:r>
            <a:endParaRPr lang="en-US" altLang="zh-CN"/>
          </a:p>
          <a:p>
            <a:pPr>
              <a:buFont typeface="Arial" panose="020B0604020202020204" pitchFamily="34" charset="0"/>
            </a:pPr>
            <a:r>
              <a:rPr lang="zh-CN" altLang="en-US"/>
              <a:t>通过阿里云提供的服务网址配合</a:t>
            </a:r>
            <a:r>
              <a:rPr lang="en-US" altLang="zh-CN"/>
              <a:t>ntpdate</a:t>
            </a:r>
            <a:r>
              <a:rPr lang="zh-CN" altLang="en-US"/>
              <a:t>（安装</a:t>
            </a:r>
            <a:r>
              <a:rPr lang="en-US" altLang="zh-CN"/>
              <a:t>ntp</a:t>
            </a:r>
            <a:r>
              <a:rPr lang="zh-CN" altLang="en-US"/>
              <a:t>后会</a:t>
            </a:r>
            <a:r>
              <a:rPr lang="zh-CN" altLang="en-US"/>
              <a:t>附带这个</a:t>
            </a:r>
            <a:r>
              <a:rPr lang="zh-CN" altLang="en-US"/>
              <a:t>命令）命令自动</a:t>
            </a:r>
            <a:r>
              <a:rPr lang="zh-CN" altLang="en-US"/>
              <a:t>校准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165" y="5384165"/>
            <a:ext cx="8031480" cy="434340"/>
          </a:xfrm>
          <a:prstGeom prst="rect">
            <a:avLst/>
          </a:prstGeom>
        </p:spPr>
      </p:pic>
      <p:pic>
        <p:nvPicPr>
          <p:cNvPr id="7" name="图片 6" descr="01 (4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6775" y="5229225"/>
            <a:ext cx="1453515" cy="145351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689090" cy="4511040"/>
          </a:xfrm>
        </p:spPr>
        <p:txBody>
          <a:bodyPr/>
          <a:p>
            <a:pPr marL="0" indent="0">
              <a:buNone/>
            </a:pPr>
            <a:r>
              <a:rPr lang="en-US" altLang="zh-CN"/>
              <a:t>1. date</a:t>
            </a:r>
            <a:r>
              <a:rPr lang="zh-CN" altLang="en-US"/>
              <a:t>命令的作用和</a:t>
            </a:r>
            <a:r>
              <a:rPr lang="zh-CN" altLang="en-US"/>
              <a:t>用法</a:t>
            </a:r>
            <a:endParaRPr lang="zh-CN" altLang="en-US"/>
          </a:p>
          <a:p>
            <a:pPr marL="0" indent="0">
              <a:buNone/>
            </a:pPr>
            <a:r>
              <a:rPr lang="en-US" altLang="zh-CN" sz="1400"/>
              <a:t>date</a:t>
            </a:r>
            <a:r>
              <a:rPr lang="zh-CN" altLang="en-US" sz="1400"/>
              <a:t>命令可以查看日期时间，并可以格式化显示形式以及做日期计算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语法：</a:t>
            </a:r>
            <a:endParaRPr lang="zh-CN" altLang="en-US" sz="1400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如何修改</a:t>
            </a:r>
            <a:r>
              <a:rPr lang="en-US" altLang="zh-CN"/>
              <a:t>Linux</a:t>
            </a:r>
            <a:r>
              <a:rPr lang="zh-CN" altLang="en-US"/>
              <a:t>时区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/>
              <a:t>3. ntp</a:t>
            </a:r>
            <a:r>
              <a:rPr lang="zh-CN" altLang="en-US"/>
              <a:t>的</a:t>
            </a:r>
            <a:r>
              <a:rPr lang="zh-CN" altLang="en-US"/>
              <a:t>作用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可以自动联网同步时间，也可以通过</a:t>
            </a:r>
            <a:r>
              <a:rPr lang="en-US" altLang="zh-CN" sz="1400"/>
              <a:t>ntpdate -u ntp.aliyun.com</a:t>
            </a:r>
            <a:r>
              <a:rPr lang="zh-CN" altLang="en-US" sz="1400"/>
              <a:t>手动校准时间</a:t>
            </a:r>
            <a:endParaRPr lang="zh-CN" altLang="en-US" sz="1400"/>
          </a:p>
          <a:p>
            <a:pPr marL="0" indent="0">
              <a:buNone/>
            </a:pPr>
            <a:endParaRPr lang="zh-CN" altLang="en-US" sz="1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3100" y="2211705"/>
            <a:ext cx="2590800" cy="2362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040" y="2211705"/>
            <a:ext cx="2757805" cy="15373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480" y="4394835"/>
            <a:ext cx="664464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675" y="679450"/>
            <a:ext cx="5973445" cy="5344160"/>
          </a:xfrm>
        </p:spPr>
        <p:txBody>
          <a:bodyPr/>
          <a:lstStyle/>
          <a:p>
            <a:pPr algn="l"/>
            <a:r>
              <a:rPr kumimoji="1" lang="zh-CN" altLang="en-US" sz="1600" dirty="0">
                <a:sym typeface="+mn-ea"/>
              </a:rPr>
              <a:t>各类小技巧（快捷键）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软件安装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systemctl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软连接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日期、时区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IP地址、主机名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网络传输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进程管理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主机状态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环境变量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上传、下载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压缩、解压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2946400"/>
            <a:ext cx="410210" cy="41021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7061200" y="2668905"/>
            <a:ext cx="2534920" cy="932180"/>
            <a:chOff x="11247" y="4684"/>
            <a:chExt cx="3992" cy="1468"/>
          </a:xfrm>
        </p:grpSpPr>
        <p:sp>
          <p:nvSpPr>
            <p:cNvPr id="3" name="左大括号 2"/>
            <p:cNvSpPr/>
            <p:nvPr/>
          </p:nvSpPr>
          <p:spPr>
            <a:xfrm>
              <a:off x="11247" y="4971"/>
              <a:ext cx="1080" cy="946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2432" y="4684"/>
              <a:ext cx="1847" cy="5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>
                  <a:solidFill>
                    <a:srgbClr val="FF0000"/>
                  </a:solidFill>
                  <a:latin typeface="阿里巴巴普惠体" panose="00020600040101010101" charset="-122"/>
                  <a:ea typeface="阿里巴巴普惠体" panose="00020600040101010101" charset="-122"/>
                </a:rPr>
                <a:t>IP</a:t>
              </a:r>
              <a:r>
                <a:rPr lang="zh-CN" altLang="en-US" sz="1600" dirty="0">
                  <a:solidFill>
                    <a:srgbClr val="FF0000"/>
                  </a:solidFill>
                  <a:latin typeface="阿里巴巴普惠体" panose="00020600040101010101" charset="-122"/>
                  <a:ea typeface="阿里巴巴普惠体" panose="00020600040101010101" charset="-122"/>
                </a:rPr>
                <a:t>和</a:t>
              </a:r>
              <a:r>
                <a:rPr lang="zh-CN" altLang="en-US" sz="1600" dirty="0">
                  <a:solidFill>
                    <a:srgbClr val="FF0000"/>
                  </a:solidFill>
                  <a:latin typeface="阿里巴巴普惠体" panose="00020600040101010101" charset="-122"/>
                  <a:ea typeface="阿里巴巴普惠体" panose="00020600040101010101" charset="-122"/>
                </a:rPr>
                <a:t>主机名</a:t>
              </a:r>
              <a:endParaRPr lang="zh-CN" altLang="en-US" sz="160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2432" y="5621"/>
              <a:ext cx="2807" cy="5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</a:rPr>
                <a:t>虚拟机配置固定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</a:rPr>
                <a:t>IP</a:t>
              </a:r>
              <a:endPara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618105"/>
          </a:xfrm>
        </p:spPr>
        <p:txBody>
          <a:bodyPr/>
          <a:p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掌握什么是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IP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地址</a:t>
            </a:r>
            <a:endParaRPr lang="zh-CN" altLang="en-US" sz="200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  <a:p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掌握什么是主机名</a:t>
            </a:r>
            <a:endParaRPr lang="zh-CN" altLang="en-US" sz="200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  <a:p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掌握什么是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域名解析</a:t>
            </a:r>
            <a:endParaRPr lang="zh-CN" altLang="en-US" sz="200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IP</a:t>
            </a:r>
            <a:r>
              <a:t>地址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每一台联网的电脑都会有一个地址，用于和其它计算机进行</a:t>
            </a:r>
            <a:r>
              <a:rPr lang="zh-CN" altLang="en-US"/>
              <a:t>通讯</a:t>
            </a:r>
            <a:endParaRPr lang="zh-CN" altLang="en-US"/>
          </a:p>
          <a:p>
            <a:r>
              <a:rPr lang="en-US" altLang="zh-CN"/>
              <a:t>IP</a:t>
            </a:r>
            <a:r>
              <a:rPr lang="zh-CN" altLang="en-US"/>
              <a:t>地址主要有</a:t>
            </a:r>
            <a:r>
              <a:rPr lang="en-US" altLang="zh-CN"/>
              <a:t>2</a:t>
            </a:r>
            <a:r>
              <a:rPr lang="zh-CN" altLang="en-US"/>
              <a:t>个版本，</a:t>
            </a:r>
            <a:r>
              <a:rPr lang="en-US" altLang="zh-CN"/>
              <a:t>V4</a:t>
            </a:r>
            <a:r>
              <a:rPr lang="zh-CN" altLang="en-US"/>
              <a:t>版本和</a:t>
            </a:r>
            <a:r>
              <a:rPr lang="en-US" altLang="zh-CN"/>
              <a:t>V6</a:t>
            </a:r>
            <a:r>
              <a:rPr lang="zh-CN" altLang="en-US"/>
              <a:t>版本（</a:t>
            </a:r>
            <a:r>
              <a:rPr lang="en-US" altLang="zh-CN"/>
              <a:t>V6</a:t>
            </a:r>
            <a:r>
              <a:rPr lang="zh-CN" altLang="en-US"/>
              <a:t>很少用，课程</a:t>
            </a:r>
            <a:r>
              <a:rPr lang="zh-CN" altLang="en-US"/>
              <a:t>暂不涉及）</a:t>
            </a:r>
            <a:endParaRPr lang="zh-CN" altLang="en-US"/>
          </a:p>
          <a:p>
            <a:r>
              <a:rPr lang="en-US" altLang="zh-CN"/>
              <a:t>IPv4</a:t>
            </a:r>
            <a:r>
              <a:rPr lang="zh-CN" altLang="en-US"/>
              <a:t>版本的地址格式是：</a:t>
            </a:r>
            <a:r>
              <a:rPr lang="en-US" altLang="zh-CN"/>
              <a:t>a.b.c.d</a:t>
            </a:r>
            <a:r>
              <a:rPr lang="zh-CN" altLang="en-US"/>
              <a:t>，其中</a:t>
            </a:r>
            <a:r>
              <a:rPr lang="en-US" altLang="zh-CN"/>
              <a:t>abcd</a:t>
            </a:r>
            <a:r>
              <a:rPr lang="zh-CN" altLang="en-US"/>
              <a:t>表示</a:t>
            </a:r>
            <a:r>
              <a:rPr lang="en-US" altLang="zh-CN"/>
              <a:t>0~255</a:t>
            </a:r>
            <a:r>
              <a:rPr lang="zh-CN" altLang="en-US"/>
              <a:t>的数字，如</a:t>
            </a:r>
            <a:r>
              <a:rPr lang="en-US" altLang="zh-CN"/>
              <a:t>192.168.88.101</a:t>
            </a:r>
            <a:r>
              <a:rPr lang="zh-CN" altLang="en-US"/>
              <a:t>就是一个标准的</a:t>
            </a:r>
            <a:r>
              <a:rPr lang="en-US" altLang="zh-CN"/>
              <a:t>IP</a:t>
            </a:r>
            <a:r>
              <a:rPr lang="zh-CN" altLang="en-US"/>
              <a:t>地址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可以通过命令：</a:t>
            </a:r>
            <a:r>
              <a:rPr lang="en-US" altLang="zh-CN"/>
              <a:t>ifconfig</a:t>
            </a:r>
            <a:r>
              <a:rPr lang="zh-CN" altLang="en-US"/>
              <a:t>，查看本机的</a:t>
            </a:r>
            <a:r>
              <a:rPr lang="en-US" altLang="zh-CN"/>
              <a:t>ip</a:t>
            </a:r>
            <a:r>
              <a:rPr lang="zh-CN" altLang="en-US"/>
              <a:t>地址，如无法使用</a:t>
            </a:r>
            <a:r>
              <a:rPr lang="en-US" altLang="zh-CN"/>
              <a:t>ifconfig</a:t>
            </a:r>
            <a:r>
              <a:rPr lang="zh-CN" altLang="en-US"/>
              <a:t>命令，可以</a:t>
            </a:r>
            <a:r>
              <a:rPr lang="zh-CN" altLang="en-US"/>
              <a:t>安装：</a:t>
            </a:r>
            <a:r>
              <a:rPr lang="en-US" altLang="zh-CN"/>
              <a:t>yum -y install net-tools</a:t>
            </a:r>
            <a:endParaRPr lang="en-US" altLang="zh-CN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595" y="3770630"/>
            <a:ext cx="7315200" cy="2011680"/>
          </a:xfrm>
          <a:prstGeom prst="rect">
            <a:avLst/>
          </a:prstGeom>
        </p:spPr>
      </p:pic>
      <p:pic>
        <p:nvPicPr>
          <p:cNvPr id="5" name="图片 4" descr="01 (50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8185" y="5073015"/>
            <a:ext cx="1588135" cy="158813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特殊</a:t>
            </a:r>
            <a:r>
              <a:rPr lang="en-US" altLang="zh-CN"/>
              <a:t>IP</a:t>
            </a:r>
            <a:r>
              <a:t>地址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除了标准的</a:t>
            </a:r>
            <a:r>
              <a:rPr lang="en-US" altLang="zh-CN"/>
              <a:t>IP</a:t>
            </a:r>
            <a:r>
              <a:rPr lang="zh-CN" altLang="en-US"/>
              <a:t>地址以外，还有几个特殊的</a:t>
            </a:r>
            <a:r>
              <a:rPr lang="en-US" altLang="zh-CN"/>
              <a:t>IP</a:t>
            </a:r>
            <a:r>
              <a:rPr lang="zh-CN" altLang="en-US"/>
              <a:t>地址需要我们</a:t>
            </a:r>
            <a:r>
              <a:rPr lang="zh-CN" altLang="en-US"/>
              <a:t>了解：</a:t>
            </a:r>
            <a:endParaRPr lang="zh-CN" altLang="en-US"/>
          </a:p>
          <a:p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127.0.0.1</a:t>
            </a:r>
            <a:r>
              <a:rPr lang="zh-CN" altLang="en-US"/>
              <a:t>，这个</a:t>
            </a:r>
            <a:r>
              <a:rPr lang="en-US" altLang="zh-CN"/>
              <a:t>IP</a:t>
            </a:r>
            <a:r>
              <a:rPr lang="zh-CN" altLang="en-US"/>
              <a:t>地址用于指代</a:t>
            </a:r>
            <a:r>
              <a:rPr lang="zh-CN" altLang="en-US"/>
              <a:t>本机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0.0.0.0</a:t>
            </a:r>
            <a:r>
              <a:rPr lang="zh-CN" altLang="en-US"/>
              <a:t>，特殊</a:t>
            </a:r>
            <a:r>
              <a:rPr lang="en-US" altLang="zh-CN"/>
              <a:t>IP</a:t>
            </a:r>
            <a:r>
              <a:rPr lang="zh-CN" altLang="en-US"/>
              <a:t>地址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</a:rPr>
              <a:t>可以用于指代本机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</a:rPr>
              <a:t>可以在端口绑定中用来确定绑定关系（后续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</a:rPr>
              <a:t>讲解）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</a:rPr>
              <a:t>在一些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</a:rPr>
              <a:t>IP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</a:rPr>
              <a:t>地址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</a:rPr>
              <a:t>限制中，表示所有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</a:rPr>
              <a:t>IP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</a:rPr>
              <a:t>的意思，如放行规则设置为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</a:rPr>
              <a:t>0.0.0.0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</a:rPr>
              <a:t>，表示允许任意</a:t>
            </a:r>
            <a:r>
              <a:rPr lang="en-US" altLang="zh-CN" sz="1400" b="0">
                <a:latin typeface="阿里巴巴普惠体" panose="00020600040101010101" charset="-122"/>
                <a:ea typeface="阿里巴巴普惠体" panose="00020600040101010101" charset="-122"/>
              </a:rPr>
              <a:t>IP</a:t>
            </a:r>
            <a:r>
              <a:rPr lang="zh-CN" altLang="en-US" sz="1400" b="0">
                <a:latin typeface="阿里巴巴普惠体" panose="00020600040101010101" charset="-122"/>
                <a:ea typeface="阿里巴巴普惠体" panose="00020600040101010101" charset="-122"/>
              </a:rPr>
              <a:t>访问</a:t>
            </a:r>
            <a:endParaRPr lang="zh-CN" altLang="en-US" sz="1400" b="0"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95" y="2890520"/>
            <a:ext cx="3230880" cy="1751330"/>
          </a:xfrm>
          <a:prstGeom prst="rect">
            <a:avLst/>
          </a:prstGeom>
        </p:spPr>
      </p:pic>
      <p:pic>
        <p:nvPicPr>
          <p:cNvPr id="8" name="图片 7" descr="01 (5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6880" y="4751070"/>
            <a:ext cx="1896745" cy="189674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主机名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每一台电脑除了对外联络地址（</a:t>
            </a:r>
            <a:r>
              <a:rPr lang="en-US" altLang="zh-CN"/>
              <a:t>IP</a:t>
            </a:r>
            <a:r>
              <a:rPr lang="zh-CN" altLang="en-US"/>
              <a:t>地址）以外，也可以有一个名字，称之为</a:t>
            </a:r>
            <a:r>
              <a:rPr lang="zh-CN" altLang="en-US"/>
              <a:t>主机名</a:t>
            </a:r>
            <a:endParaRPr lang="zh-CN" altLang="en-US"/>
          </a:p>
          <a:p>
            <a:r>
              <a:rPr lang="zh-CN" altLang="en-US"/>
              <a:t>无论是</a:t>
            </a:r>
            <a:r>
              <a:rPr lang="en-US" altLang="zh-CN"/>
              <a:t>Windows</a:t>
            </a:r>
            <a:r>
              <a:rPr lang="zh-CN" altLang="en-US"/>
              <a:t>或</a:t>
            </a:r>
            <a:r>
              <a:rPr lang="en-US" altLang="zh-CN"/>
              <a:t>Linux</a:t>
            </a:r>
            <a:r>
              <a:rPr lang="zh-CN" altLang="en-US"/>
              <a:t>系统，都可以给系统设置</a:t>
            </a:r>
            <a:r>
              <a:rPr lang="zh-CN" altLang="en-US"/>
              <a:t>主机名</a:t>
            </a:r>
            <a:endParaRPr lang="zh-CN" altLang="en-US"/>
          </a:p>
          <a:p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Windows</a:t>
            </a:r>
            <a:r>
              <a:rPr lang="zh-CN" altLang="en-US"/>
              <a:t>系统</a:t>
            </a:r>
            <a:r>
              <a:rPr lang="zh-CN" altLang="en-US"/>
              <a:t>主机名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Linux</a:t>
            </a:r>
            <a:r>
              <a:rPr lang="zh-CN" altLang="en-US"/>
              <a:t>系统</a:t>
            </a:r>
            <a:r>
              <a:rPr lang="zh-CN" altLang="en-US"/>
              <a:t>主机名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740" y="3345815"/>
            <a:ext cx="4163060" cy="13487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" y="4997450"/>
            <a:ext cx="2407920" cy="457200"/>
          </a:xfrm>
          <a:prstGeom prst="rect">
            <a:avLst/>
          </a:prstGeom>
        </p:spPr>
      </p:pic>
      <p:pic>
        <p:nvPicPr>
          <p:cNvPr id="8" name="图片 7" descr="01 (53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6560" y="4795520"/>
            <a:ext cx="1851660" cy="185166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在</a:t>
            </a:r>
            <a:r>
              <a:rPr lang="en-US" altLang="zh-CN"/>
              <a:t>Linux</a:t>
            </a:r>
            <a:r>
              <a:t>中修改</a:t>
            </a:r>
            <a:r>
              <a:t>主机名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可以使用命令：</a:t>
            </a:r>
            <a:r>
              <a:rPr lang="en-US" altLang="zh-CN"/>
              <a:t>hostname</a:t>
            </a:r>
            <a:r>
              <a:rPr lang="zh-CN" altLang="en-US"/>
              <a:t>查看</a:t>
            </a:r>
            <a:r>
              <a:rPr lang="zh-CN" altLang="en-US"/>
              <a:t>主机名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可以使用命令：</a:t>
            </a:r>
            <a:r>
              <a:rPr lang="en-US" altLang="zh-CN"/>
              <a:t>hostnamectl set-hostname </a:t>
            </a:r>
            <a:r>
              <a:rPr lang="zh-CN" altLang="en-US"/>
              <a:t>主机名，修改主机名（需</a:t>
            </a:r>
            <a:r>
              <a:rPr lang="en-US" altLang="zh-CN"/>
              <a:t>root</a:t>
            </a:r>
            <a:r>
              <a:rPr lang="zh-CN" altLang="en-US"/>
              <a:t>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重新登录</a:t>
            </a:r>
            <a:r>
              <a:rPr lang="en-US" altLang="zh-CN"/>
              <a:t>FinalShell</a:t>
            </a:r>
            <a:r>
              <a:rPr lang="zh-CN" altLang="en-US"/>
              <a:t>即可看到主机名已经正确</a:t>
            </a:r>
            <a:r>
              <a:rPr lang="zh-CN" altLang="en-US"/>
              <a:t>显示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740" y="3445510"/>
            <a:ext cx="4602480" cy="6400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" y="4591685"/>
            <a:ext cx="1897380" cy="2438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740" y="2140585"/>
            <a:ext cx="2407920" cy="457200"/>
          </a:xfrm>
          <a:prstGeom prst="rect">
            <a:avLst/>
          </a:prstGeom>
        </p:spPr>
      </p:pic>
      <p:pic>
        <p:nvPicPr>
          <p:cNvPr id="8" name="图片 7" descr="01 (122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1355" y="5328285"/>
            <a:ext cx="1529715" cy="152971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域名</a:t>
            </a:r>
            <a:r>
              <a:rPr lang="zh-CN" altLang="en-US"/>
              <a:t>解析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IP</a:t>
            </a:r>
            <a:r>
              <a:rPr lang="zh-CN" altLang="en-US"/>
              <a:t>地址实在是难以记忆，有没有什么办法可以通过主机名或替代的字符地址去代替数字化的</a:t>
            </a:r>
            <a:r>
              <a:rPr lang="en-US" altLang="zh-CN"/>
              <a:t>IP</a:t>
            </a:r>
            <a:r>
              <a:rPr lang="zh-CN" altLang="en-US"/>
              <a:t>地址</a:t>
            </a:r>
            <a:r>
              <a:rPr lang="zh-CN" altLang="en-US"/>
              <a:t>呢？</a:t>
            </a:r>
            <a:endParaRPr lang="zh-CN" altLang="en-US"/>
          </a:p>
          <a:p>
            <a:r>
              <a:rPr lang="zh-CN" altLang="en-US"/>
              <a:t>实际上，我们一直都是通过字符化的地址去访问服务器，很少指定</a:t>
            </a:r>
            <a:r>
              <a:rPr lang="en-US" altLang="zh-CN"/>
              <a:t>IP</a:t>
            </a:r>
            <a:r>
              <a:rPr lang="zh-CN" altLang="en-US"/>
              <a:t>地址</a:t>
            </a:r>
            <a:endParaRPr lang="zh-CN" altLang="en-US"/>
          </a:p>
          <a:p>
            <a:r>
              <a:rPr lang="zh-CN" altLang="en-US"/>
              <a:t>比如，我们在浏览器内打开：</a:t>
            </a:r>
            <a:r>
              <a:rPr lang="en-US" altLang="zh-CN"/>
              <a:t>www.baidu.com</a:t>
            </a:r>
            <a:r>
              <a:rPr lang="zh-CN" altLang="en-US"/>
              <a:t>，会打开百度的</a:t>
            </a:r>
            <a:r>
              <a:rPr lang="zh-CN" altLang="en-US"/>
              <a:t>网址</a:t>
            </a:r>
            <a:endParaRPr lang="zh-CN" altLang="en-US"/>
          </a:p>
          <a:p>
            <a:r>
              <a:rPr lang="zh-CN" altLang="en-US"/>
              <a:t>其中，</a:t>
            </a:r>
            <a:r>
              <a:rPr lang="en-US" altLang="zh-CN"/>
              <a:t>www.baidu.com</a:t>
            </a:r>
            <a:r>
              <a:rPr lang="zh-CN" altLang="en-US"/>
              <a:t>，是百度的网址，我们称之为：</a:t>
            </a:r>
            <a:r>
              <a:rPr lang="zh-CN" altLang="en-US"/>
              <a:t>域名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 descr="01 (10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200" y="3389630"/>
            <a:ext cx="2148840" cy="2148840"/>
          </a:xfrm>
          <a:prstGeom prst="rect">
            <a:avLst/>
          </a:prstGeom>
        </p:spPr>
      </p:pic>
      <p:sp>
        <p:nvSpPr>
          <p:cNvPr id="5" name="文本占位符 2"/>
          <p:cNvSpPr>
            <a:spLocks noGrp="1"/>
          </p:cNvSpPr>
          <p:nvPr/>
        </p:nvSpPr>
        <p:spPr>
          <a:xfrm>
            <a:off x="2732405" y="3432175"/>
            <a:ext cx="8804275" cy="257048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rgbClr val="FF0000"/>
                </a:solidFill>
              </a:rPr>
              <a:t>不是说通过</a:t>
            </a:r>
            <a:r>
              <a:rPr lang="en-US" altLang="zh-CN">
                <a:solidFill>
                  <a:srgbClr val="FF0000"/>
                </a:solidFill>
              </a:rPr>
              <a:t>IP</a:t>
            </a:r>
            <a:r>
              <a:rPr lang="zh-CN" altLang="en-US">
                <a:solidFill>
                  <a:srgbClr val="FF0000"/>
                </a:solidFill>
              </a:rPr>
              <a:t>地址才能访问服务器吗？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为什么域名这一串好记的字符，也可以呢？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这一切，都是域名解析帮助我们解决的。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7" name="图片 6" descr="01 (135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885" y="5236845"/>
            <a:ext cx="1529715" cy="15297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域名解析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访问</a:t>
            </a:r>
            <a:r>
              <a:rPr lang="en-US" altLang="zh-CN"/>
              <a:t>www.baidu.com</a:t>
            </a:r>
            <a:r>
              <a:rPr lang="zh-CN" altLang="en-US"/>
              <a:t>的流程</a:t>
            </a:r>
            <a:r>
              <a:rPr lang="zh-CN" altLang="en-US"/>
              <a:t>如下：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即：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先查看本机的记录（私人地址本）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Windows</a:t>
            </a:r>
            <a:r>
              <a:rPr lang="zh-CN" altLang="en-US" sz="1600" b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看：C:\Windows\System32\drivers\etc</a:t>
            </a:r>
            <a:r>
              <a:rPr lang="en-US" altLang="zh-CN" sz="1600" b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\hosts</a:t>
            </a:r>
            <a:endParaRPr lang="en-US" altLang="zh-CN" sz="1600" b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Linux</a:t>
            </a:r>
            <a:r>
              <a:rPr lang="zh-CN" altLang="en-US" sz="1600" b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看：</a:t>
            </a:r>
            <a:r>
              <a:rPr lang="en-US" altLang="zh-CN" sz="1600" b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/etc/hosts</a:t>
            </a:r>
            <a:endParaRPr lang="en-US" altLang="zh-CN" sz="1600" b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b="0"/>
              <a:t>再联网去DNS服务器（如</a:t>
            </a:r>
            <a:r>
              <a:rPr lang="en-US" altLang="zh-CN" sz="1600" b="0"/>
              <a:t>114.114.114.114</a:t>
            </a:r>
            <a:r>
              <a:rPr lang="zh-CN" altLang="en-US" sz="1600" b="0"/>
              <a:t>，</a:t>
            </a:r>
            <a:r>
              <a:rPr lang="en-US" altLang="zh-CN" sz="1600" b="0"/>
              <a:t>8.8.8.8</a:t>
            </a:r>
            <a:r>
              <a:rPr lang="zh-CN" altLang="en-US" sz="1600" b="0"/>
              <a:t>等）询问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975" y="2042795"/>
            <a:ext cx="7894320" cy="2614295"/>
          </a:xfrm>
          <a:prstGeom prst="rect">
            <a:avLst/>
          </a:prstGeom>
        </p:spPr>
      </p:pic>
      <p:pic>
        <p:nvPicPr>
          <p:cNvPr id="8" name="图片 7" descr="01 (149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8965" y="5024755"/>
            <a:ext cx="1626870" cy="162687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配置主机名</a:t>
            </a:r>
            <a:r>
              <a:rPr lang="zh-CN" altLang="en-US"/>
              <a:t>映射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比如，我们</a:t>
            </a:r>
            <a:r>
              <a:rPr lang="en-US" altLang="zh-CN"/>
              <a:t>FinalShell</a:t>
            </a:r>
            <a:r>
              <a:rPr lang="zh-CN" altLang="en-US"/>
              <a:t>是通过</a:t>
            </a:r>
            <a:r>
              <a:rPr lang="en-US" altLang="zh-CN"/>
              <a:t>IP</a:t>
            </a:r>
            <a:r>
              <a:rPr lang="zh-CN" altLang="en-US"/>
              <a:t>地址连接到的</a:t>
            </a:r>
            <a:r>
              <a:rPr lang="en-US" altLang="zh-CN"/>
              <a:t>Linux</a:t>
            </a:r>
            <a:r>
              <a:rPr lang="zh-CN" altLang="en-US"/>
              <a:t>服务器，那有没有可能通过域名（主机名）连接</a:t>
            </a:r>
            <a:r>
              <a:rPr lang="zh-CN" altLang="en-US"/>
              <a:t>呢？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可以，我们只需要在</a:t>
            </a:r>
            <a:r>
              <a:rPr lang="en-US" altLang="zh-CN"/>
              <a:t>Windows</a:t>
            </a:r>
            <a:r>
              <a:rPr lang="zh-CN" altLang="en-US"/>
              <a:t>系统的：C:\Windows\System32\drivers\etc</a:t>
            </a:r>
            <a:r>
              <a:rPr lang="en-US" altLang="zh-CN"/>
              <a:t>\hosts</a:t>
            </a:r>
            <a:r>
              <a:rPr lang="zh-CN" altLang="en-US"/>
              <a:t>文件中配置记录</a:t>
            </a:r>
            <a:r>
              <a:rPr lang="zh-CN" altLang="en-US"/>
              <a:t>即可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2914015"/>
            <a:ext cx="2954655" cy="30321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415" y="2844800"/>
            <a:ext cx="2270760" cy="31699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785" y="2935605"/>
            <a:ext cx="4754880" cy="29876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1330" y="2935605"/>
            <a:ext cx="6149340" cy="33191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7370" y="3034665"/>
            <a:ext cx="3477260" cy="3121660"/>
          </a:xfrm>
          <a:prstGeom prst="rect">
            <a:avLst/>
          </a:prstGeom>
        </p:spPr>
      </p:pic>
      <p:pic>
        <p:nvPicPr>
          <p:cNvPr id="9" name="图片 8" descr="01 (135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4885" y="5236845"/>
            <a:ext cx="1529715" cy="15297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689090" cy="4511040"/>
          </a:xfrm>
        </p:spPr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什么是</a:t>
            </a:r>
            <a:r>
              <a:rPr lang="en-US" altLang="zh-CN"/>
              <a:t>IP</a:t>
            </a:r>
            <a:r>
              <a:rPr lang="zh-CN" altLang="en-US"/>
              <a:t>地址，有什么作用？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 sz="1400"/>
              <a:t>IP</a:t>
            </a:r>
            <a:r>
              <a:rPr lang="zh-CN" altLang="en-US" sz="1400"/>
              <a:t>地址是联网计算机的网络地址，用于在网络中进行</a:t>
            </a:r>
            <a:r>
              <a:rPr lang="zh-CN" altLang="en-US" sz="1400"/>
              <a:t>定位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格式是：</a:t>
            </a:r>
            <a:r>
              <a:rPr lang="en-US" altLang="zh-CN" sz="1400"/>
              <a:t>a.b.c.d</a:t>
            </a:r>
            <a:r>
              <a:rPr lang="zh-CN" altLang="en-US" sz="1400"/>
              <a:t>，其中</a:t>
            </a:r>
            <a:r>
              <a:rPr lang="en-US" altLang="zh-CN" sz="1400"/>
              <a:t>abcd</a:t>
            </a:r>
            <a:r>
              <a:rPr lang="zh-CN" altLang="en-US" sz="1400"/>
              <a:t>是</a:t>
            </a:r>
            <a:r>
              <a:rPr lang="en-US" altLang="zh-CN" sz="1400"/>
              <a:t>0~255</a:t>
            </a:r>
            <a:r>
              <a:rPr lang="zh-CN" altLang="en-US" sz="1400"/>
              <a:t>的</a:t>
            </a:r>
            <a:r>
              <a:rPr lang="zh-CN" altLang="en-US" sz="1400"/>
              <a:t>数字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特殊</a:t>
            </a:r>
            <a:r>
              <a:rPr lang="en-US" altLang="zh-CN" sz="1400"/>
              <a:t>IP</a:t>
            </a:r>
            <a:r>
              <a:rPr lang="zh-CN" altLang="en-US" sz="1400"/>
              <a:t>有：</a:t>
            </a:r>
            <a:r>
              <a:rPr lang="en-US" altLang="zh-CN" sz="1400"/>
              <a:t>127.0.0.1</a:t>
            </a:r>
            <a:r>
              <a:rPr lang="zh-CN" altLang="en-US" sz="1400"/>
              <a:t>，本地回环</a:t>
            </a:r>
            <a:r>
              <a:rPr lang="en-US" altLang="zh-CN" sz="1400"/>
              <a:t>IP</a:t>
            </a:r>
            <a:r>
              <a:rPr lang="zh-CN" altLang="en-US" sz="1400"/>
              <a:t>，表示本机。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 sz="1400"/>
              <a:t>0.0.0.0</a:t>
            </a:r>
            <a:r>
              <a:rPr lang="zh-CN" altLang="en-US" sz="1400"/>
              <a:t>：也可表示本机，也可以在一些白名单中表示任意</a:t>
            </a:r>
            <a:r>
              <a:rPr lang="en-US" altLang="zh-CN" sz="1400"/>
              <a:t>IP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什么是主机名？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主机名就是主机的名称，用于标识一个</a:t>
            </a:r>
            <a:r>
              <a:rPr lang="zh-CN" altLang="en-US" sz="1400"/>
              <a:t>计算机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/>
              <a:t>3. </a:t>
            </a:r>
            <a:r>
              <a:rPr lang="zh-CN" altLang="en-US"/>
              <a:t>什么是域名解析（主机名映射）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可以通过主机名找到对应计算机的</a:t>
            </a:r>
            <a:r>
              <a:rPr lang="en-US" altLang="zh-CN" sz="1400"/>
              <a:t>IP</a:t>
            </a:r>
            <a:r>
              <a:rPr lang="zh-CN" altLang="en-US" sz="1400"/>
              <a:t>地址，这就是主机名映射（域名</a:t>
            </a:r>
            <a:r>
              <a:rPr lang="zh-CN" altLang="en-US" sz="1400"/>
              <a:t>解析）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先通过系统本地的记录去查找，如果找不到就联网去公开</a:t>
            </a:r>
            <a:r>
              <a:rPr lang="en-US" altLang="zh-CN" sz="1400"/>
              <a:t>DNS</a:t>
            </a:r>
            <a:r>
              <a:rPr lang="zh-CN" altLang="en-US" sz="1400"/>
              <a:t>服务器去查找</a:t>
            </a:r>
            <a:endParaRPr lang="zh-CN" altLang="en-US" sz="14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675" y="679450"/>
            <a:ext cx="5973445" cy="5344160"/>
          </a:xfrm>
        </p:spPr>
        <p:txBody>
          <a:bodyPr/>
          <a:lstStyle/>
          <a:p>
            <a:pPr algn="l"/>
            <a:r>
              <a:rPr kumimoji="1" lang="zh-CN" altLang="en-US" sz="1600" dirty="0">
                <a:sym typeface="+mn-ea"/>
              </a:rPr>
              <a:t>各类小技巧（快捷键）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软件安装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systemctl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软连接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日期、时区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IP地址、主机名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网络传输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进程管理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主机状态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环境变量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上传、下载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压缩、解压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2946400"/>
            <a:ext cx="410210" cy="410210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7061200" y="2668905"/>
            <a:ext cx="2534920" cy="932180"/>
            <a:chOff x="11247" y="4684"/>
            <a:chExt cx="3992" cy="1468"/>
          </a:xfrm>
        </p:grpSpPr>
        <p:sp>
          <p:nvSpPr>
            <p:cNvPr id="10" name="左大括号 9"/>
            <p:cNvSpPr/>
            <p:nvPr/>
          </p:nvSpPr>
          <p:spPr>
            <a:xfrm>
              <a:off x="11247" y="4971"/>
              <a:ext cx="1080" cy="946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2432" y="4684"/>
              <a:ext cx="1847" cy="5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pPr algn="l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</a:rPr>
                <a:t>IP和主机名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2432" y="5621"/>
              <a:ext cx="2807" cy="5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dirty="0">
                  <a:solidFill>
                    <a:srgbClr val="FF0000"/>
                  </a:solidFill>
                  <a:latin typeface="阿里巴巴普惠体" panose="00020600040101010101" charset="-122"/>
                  <a:ea typeface="阿里巴巴普惠体" panose="00020600040101010101" charset="-122"/>
                </a:rPr>
                <a:t>虚拟机配置固定</a:t>
              </a:r>
              <a:r>
                <a:rPr lang="en-US" altLang="zh-CN" sz="1600" dirty="0">
                  <a:solidFill>
                    <a:srgbClr val="FF0000"/>
                  </a:solidFill>
                  <a:latin typeface="阿里巴巴普惠体" panose="00020600040101010101" charset="-122"/>
                  <a:ea typeface="阿里巴巴普惠体" panose="00020600040101010101" charset="-122"/>
                </a:rPr>
                <a:t>IP</a:t>
              </a:r>
              <a:endParaRPr lang="en-US" altLang="zh-CN" sz="160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618105"/>
          </a:xfrm>
        </p:spPr>
        <p:txBody>
          <a:bodyPr/>
          <a:p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掌握如何在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VMware Workstation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中配置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Linux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系统的固定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IP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地址（用于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Windows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系统）</a:t>
            </a:r>
            <a:endParaRPr lang="zh-CN" altLang="en-US" sz="200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  <a:p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掌握如何在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VMware Fusion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中配置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Linux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系统的固定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IP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地址（用于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MacOS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系统）</a:t>
            </a:r>
            <a:endParaRPr lang="zh-CN" altLang="en-US" sz="200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为什么需要固定</a:t>
            </a:r>
            <a:r>
              <a:rPr lang="en-US" altLang="zh-CN"/>
              <a:t>IP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当前我们虚拟机的</a:t>
            </a:r>
            <a:r>
              <a:rPr lang="en-US" altLang="zh-CN"/>
              <a:t>Linux</a:t>
            </a:r>
            <a:r>
              <a:rPr lang="zh-CN" altLang="en-US"/>
              <a:t>操作系统，其</a:t>
            </a:r>
            <a:r>
              <a:rPr lang="en-US" altLang="zh-CN"/>
              <a:t>IP</a:t>
            </a:r>
            <a:r>
              <a:rPr lang="zh-CN" altLang="en-US"/>
              <a:t>地址是通过</a:t>
            </a:r>
            <a:r>
              <a:rPr lang="en-US" altLang="zh-CN"/>
              <a:t>DHCP</a:t>
            </a:r>
            <a:r>
              <a:rPr lang="zh-CN" altLang="en-US"/>
              <a:t>服务获取</a:t>
            </a:r>
            <a:r>
              <a:rPr lang="zh-CN" altLang="en-US"/>
              <a:t>的。</a:t>
            </a:r>
            <a:endParaRPr lang="zh-CN" altLang="en-US"/>
          </a:p>
          <a:p>
            <a:r>
              <a:rPr lang="en-US" altLang="zh-CN"/>
              <a:t>DHCP</a:t>
            </a:r>
            <a:r>
              <a:rPr lang="zh-CN" altLang="en-US"/>
              <a:t>：动态获取</a:t>
            </a:r>
            <a:r>
              <a:rPr lang="en-US" altLang="zh-CN"/>
              <a:t>IP</a:t>
            </a:r>
            <a:r>
              <a:rPr lang="zh-CN" altLang="en-US"/>
              <a:t>地址，即每次重启设备后都会获取一次，可能导致</a:t>
            </a:r>
            <a:r>
              <a:rPr lang="en-US" altLang="zh-CN"/>
              <a:t>IP</a:t>
            </a:r>
            <a:r>
              <a:rPr lang="zh-CN" altLang="en-US"/>
              <a:t>地址频繁</a:t>
            </a:r>
            <a:r>
              <a:rPr lang="zh-CN" altLang="en-US"/>
              <a:t>变更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原因</a:t>
            </a:r>
            <a:r>
              <a:rPr lang="en-US" altLang="zh-CN"/>
              <a:t>1</a:t>
            </a:r>
            <a:r>
              <a:rPr lang="zh-CN" altLang="en-US"/>
              <a:t>：办公电脑</a:t>
            </a:r>
            <a:r>
              <a:rPr lang="en-US" altLang="zh-CN"/>
              <a:t>IP</a:t>
            </a:r>
            <a:r>
              <a:rPr lang="zh-CN" altLang="en-US"/>
              <a:t>地址变化无所谓，但是我们要远程连接到</a:t>
            </a:r>
            <a:r>
              <a:rPr lang="en-US" altLang="zh-CN"/>
              <a:t>Linux</a:t>
            </a:r>
            <a:r>
              <a:rPr lang="zh-CN" altLang="en-US"/>
              <a:t>系统，如果</a:t>
            </a:r>
            <a:r>
              <a:rPr lang="en-US" altLang="zh-CN"/>
              <a:t>IP</a:t>
            </a:r>
            <a:r>
              <a:rPr lang="zh-CN" altLang="en-US"/>
              <a:t>地址经常变化我们就要频繁修改适配很</a:t>
            </a:r>
            <a:r>
              <a:rPr lang="zh-CN" altLang="en-US"/>
              <a:t>麻烦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原因</a:t>
            </a:r>
            <a:r>
              <a:rPr lang="en-US" altLang="zh-CN"/>
              <a:t>2</a:t>
            </a:r>
            <a:r>
              <a:rPr lang="zh-CN" altLang="en-US"/>
              <a:t>：在刚刚我们配置了虚拟机</a:t>
            </a:r>
            <a:r>
              <a:rPr lang="en-US" altLang="zh-CN"/>
              <a:t>IP</a:t>
            </a:r>
            <a:r>
              <a:rPr lang="zh-CN" altLang="en-US"/>
              <a:t>地址和主机名的映射，如果</a:t>
            </a:r>
            <a:r>
              <a:rPr lang="en-US" altLang="zh-CN"/>
              <a:t>IP</a:t>
            </a:r>
            <a:r>
              <a:rPr lang="zh-CN" altLang="en-US"/>
              <a:t>频繁更改，我们也需要频繁更新映射</a:t>
            </a:r>
            <a:r>
              <a:rPr lang="zh-CN" altLang="en-US"/>
              <a:t>关系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综上所述，我们需要</a:t>
            </a:r>
            <a:r>
              <a:rPr lang="en-US" altLang="zh-CN"/>
              <a:t>IP</a:t>
            </a:r>
            <a:r>
              <a:rPr lang="zh-CN" altLang="en-US"/>
              <a:t>地址固定下来，不要变化</a:t>
            </a:r>
            <a:r>
              <a:rPr lang="zh-CN" altLang="en-US"/>
              <a:t>了。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6" name="图片 5" descr="01 (147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7190" y="4921250"/>
            <a:ext cx="1864360" cy="186436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在</a:t>
            </a:r>
            <a:r>
              <a:rPr lang="en-US" altLang="zh-CN"/>
              <a:t>VMware Workstation</a:t>
            </a:r>
            <a:r>
              <a:t>中配置固定</a:t>
            </a:r>
            <a:r>
              <a:rPr lang="en-US" altLang="zh-CN"/>
              <a:t>IP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配置固定</a:t>
            </a:r>
            <a:r>
              <a:rPr lang="en-US" altLang="zh-CN"/>
              <a:t>IP</a:t>
            </a:r>
            <a:r>
              <a:rPr lang="zh-CN" altLang="en-US"/>
              <a:t>需要</a:t>
            </a:r>
            <a:r>
              <a:rPr lang="en-US" altLang="zh-CN"/>
              <a:t>2</a:t>
            </a:r>
            <a:r>
              <a:rPr lang="zh-CN" altLang="en-US"/>
              <a:t>个</a:t>
            </a:r>
            <a:r>
              <a:rPr lang="zh-CN" altLang="en-US"/>
              <a:t>大步骤：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在</a:t>
            </a:r>
            <a:r>
              <a:rPr lang="en-US" altLang="zh-CN"/>
              <a:t>VMware Workstation</a:t>
            </a:r>
            <a:r>
              <a:rPr lang="zh-CN" altLang="en-US"/>
              <a:t>（或</a:t>
            </a:r>
            <a:r>
              <a:rPr lang="en-US" altLang="zh-CN"/>
              <a:t>Fusion</a:t>
            </a:r>
            <a:r>
              <a:rPr lang="zh-CN" altLang="en-US"/>
              <a:t>）中配置</a:t>
            </a:r>
            <a:r>
              <a:rPr lang="en-US" altLang="zh-CN"/>
              <a:t>IP</a:t>
            </a:r>
            <a:r>
              <a:rPr lang="zh-CN" altLang="en-US"/>
              <a:t>地址网关和网段（</a:t>
            </a:r>
            <a:r>
              <a:rPr lang="en-US" altLang="zh-CN"/>
              <a:t>IP</a:t>
            </a:r>
            <a:r>
              <a:rPr lang="zh-CN" altLang="en-US"/>
              <a:t>地址的</a:t>
            </a:r>
            <a:r>
              <a:rPr lang="zh-CN" altLang="en-US"/>
              <a:t>范围）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在</a:t>
            </a:r>
            <a:r>
              <a:rPr lang="en-US" altLang="zh-CN"/>
              <a:t>Linux</a:t>
            </a:r>
            <a:r>
              <a:rPr lang="zh-CN" altLang="en-US"/>
              <a:t>系统中手动修改配置文件，固定</a:t>
            </a:r>
            <a:r>
              <a:rPr lang="en-US" altLang="zh-CN"/>
              <a:t>IP</a:t>
            </a:r>
            <a:endParaRPr lang="en-US" altLang="zh-CN"/>
          </a:p>
          <a:p>
            <a:r>
              <a:rPr lang="zh-CN" altLang="en-US"/>
              <a:t>首先让我们，先进行第一步，跟随图片进行</a:t>
            </a:r>
            <a:r>
              <a:rPr lang="zh-CN" altLang="en-US"/>
              <a:t>操作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07085" y="3346450"/>
            <a:ext cx="2301240" cy="13182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085" y="3297555"/>
            <a:ext cx="3235960" cy="29775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85" y="3297555"/>
            <a:ext cx="3235960" cy="29819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085" y="3297555"/>
            <a:ext cx="2808605" cy="3009265"/>
          </a:xfrm>
          <a:prstGeom prst="rect">
            <a:avLst/>
          </a:prstGeom>
        </p:spPr>
      </p:pic>
      <p:pic>
        <p:nvPicPr>
          <p:cNvPr id="8" name="图片 7" descr="01 (150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0259060" y="4490085"/>
            <a:ext cx="2221865" cy="22218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在</a:t>
            </a:r>
            <a:r>
              <a:rPr lang="en-US" altLang="zh-CN">
                <a:sym typeface="+mn-ea"/>
              </a:rPr>
              <a:t>VMware Workstation</a:t>
            </a:r>
            <a:r>
              <a:rPr>
                <a:sym typeface="+mn-ea"/>
              </a:rPr>
              <a:t>中配置固定</a:t>
            </a:r>
            <a:r>
              <a:rPr lang="en-US" altLang="zh-CN">
                <a:sym typeface="+mn-ea"/>
              </a:rPr>
              <a:t>IP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现在进行第二步，在</a:t>
            </a:r>
            <a:r>
              <a:rPr lang="en-US" altLang="zh-CN"/>
              <a:t>Linux</a:t>
            </a:r>
            <a:r>
              <a:rPr lang="zh-CN" altLang="en-US"/>
              <a:t>系统中修改固定</a:t>
            </a:r>
            <a:r>
              <a:rPr lang="en-US" altLang="zh-CN"/>
              <a:t>IP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使用</a:t>
            </a:r>
            <a:r>
              <a:rPr lang="en-US" altLang="zh-CN"/>
              <a:t>vim</a:t>
            </a:r>
            <a:r>
              <a:rPr lang="zh-CN" altLang="en-US"/>
              <a:t>编辑</a:t>
            </a:r>
            <a:r>
              <a:rPr lang="en-US" altLang="zh-CN"/>
              <a:t>/etc/sysconfig/network-scripts/ifcfg-ens33</a:t>
            </a:r>
            <a:r>
              <a:rPr lang="zh-CN" altLang="en-US"/>
              <a:t>文件，填入如下</a:t>
            </a:r>
            <a:r>
              <a:rPr lang="zh-CN" altLang="en-US"/>
              <a:t>内容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执行：</a:t>
            </a:r>
            <a:r>
              <a:rPr lang="en-US" altLang="zh-CN"/>
              <a:t>systemctl restart network </a:t>
            </a:r>
            <a:r>
              <a:rPr lang="zh-CN" altLang="en-US"/>
              <a:t>重启网卡，执行</a:t>
            </a:r>
            <a:r>
              <a:rPr lang="en-US" altLang="zh-CN"/>
              <a:t>ifconfig</a:t>
            </a:r>
            <a:r>
              <a:rPr lang="zh-CN" altLang="en-US"/>
              <a:t>即可看到</a:t>
            </a:r>
            <a:r>
              <a:rPr lang="en-US" altLang="zh-CN"/>
              <a:t>ip</a:t>
            </a:r>
            <a:r>
              <a:rPr lang="zh-CN" altLang="en-US"/>
              <a:t>地址固定为</a:t>
            </a:r>
            <a:r>
              <a:rPr lang="en-US" altLang="zh-CN"/>
              <a:t>192.168.88.130</a:t>
            </a:r>
            <a:r>
              <a:rPr lang="zh-CN" altLang="en-US"/>
              <a:t>了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360" y="2472690"/>
            <a:ext cx="4280535" cy="3279775"/>
          </a:xfrm>
          <a:prstGeom prst="rect">
            <a:avLst/>
          </a:prstGeom>
        </p:spPr>
      </p:pic>
      <p:pic>
        <p:nvPicPr>
          <p:cNvPr id="5" name="图片 4" descr="01 (108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860" y="5109845"/>
            <a:ext cx="1511300" cy="15113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在</a:t>
            </a:r>
            <a:r>
              <a:rPr lang="en-US" altLang="zh-CN"/>
              <a:t>VMware Fusion</a:t>
            </a:r>
            <a:r>
              <a:t>中配置固定</a:t>
            </a:r>
            <a:r>
              <a:rPr lang="en-US" altLang="zh-CN"/>
              <a:t>IP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步骤一：先修改</a:t>
            </a:r>
            <a:r>
              <a:rPr lang="en-US" altLang="zh-CN"/>
              <a:t>VMware Fusion</a:t>
            </a:r>
            <a:r>
              <a:rPr lang="zh-CN" altLang="en-US"/>
              <a:t>的网络</a:t>
            </a:r>
            <a:r>
              <a:rPr lang="zh-CN" altLang="en-US"/>
              <a:t>设置</a:t>
            </a:r>
            <a:endParaRPr lang="zh-CN" altLang="en-US"/>
          </a:p>
          <a:p>
            <a:r>
              <a:rPr lang="en-US" altLang="zh-CN"/>
              <a:t>1. </a:t>
            </a:r>
            <a:r>
              <a:rPr lang="zh-CN" altLang="en-US"/>
              <a:t>打开</a:t>
            </a:r>
            <a:r>
              <a:rPr lang="en-US" altLang="zh-CN"/>
              <a:t>Mac</a:t>
            </a:r>
            <a:r>
              <a:rPr lang="zh-CN" altLang="en-US"/>
              <a:t>系统的终端程序，并执行如下</a:t>
            </a:r>
            <a:r>
              <a:rPr lang="zh-CN" altLang="en-US"/>
              <a:t>命令：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465" y="2493010"/>
            <a:ext cx="5796280" cy="3260725"/>
          </a:xfrm>
          <a:prstGeom prst="rect">
            <a:avLst/>
          </a:prstGeom>
        </p:spPr>
      </p:pic>
      <p:pic>
        <p:nvPicPr>
          <p:cNvPr id="4" name="图片 3" descr="01 (1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8955" y="4878705"/>
            <a:ext cx="1737360" cy="1737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在</a:t>
            </a:r>
            <a:r>
              <a:rPr lang="en-US" altLang="zh-CN">
                <a:sym typeface="+mn-ea"/>
              </a:rPr>
              <a:t>VMware Fusion</a:t>
            </a:r>
            <a:r>
              <a:rPr>
                <a:sym typeface="+mn-ea"/>
              </a:rPr>
              <a:t>中配置固定</a:t>
            </a:r>
            <a:r>
              <a:rPr lang="en-US" altLang="zh-CN">
                <a:sym typeface="+mn-ea"/>
              </a:rPr>
              <a:t>IP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2. </a:t>
            </a:r>
            <a:r>
              <a:rPr lang="zh-CN" altLang="en-US"/>
              <a:t>在终端内执行：</a:t>
            </a:r>
            <a:r>
              <a:rPr lang="en-US" altLang="zh-CN">
                <a:solidFill>
                  <a:schemeClr val="accent1"/>
                </a:solidFill>
              </a:rPr>
              <a:t>sudo su -</a:t>
            </a:r>
            <a:r>
              <a:rPr lang="en-US" altLang="zh-CN"/>
              <a:t> </a:t>
            </a:r>
            <a:r>
              <a:rPr lang="zh-CN" altLang="en-US"/>
              <a:t>并输入个人系统密码切换到</a:t>
            </a:r>
            <a:r>
              <a:rPr lang="en-US" altLang="zh-CN"/>
              <a:t>root</a:t>
            </a:r>
            <a:r>
              <a:rPr lang="zh-CN" altLang="en-US"/>
              <a:t>用户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先备份一下文件：</a:t>
            </a:r>
            <a:r>
              <a:rPr lang="en-US" altLang="zh-CN">
                <a:solidFill>
                  <a:schemeClr val="accent1"/>
                </a:solidFill>
              </a:rPr>
              <a:t>cp 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/Library/Preferences/VMware\ Fusion/networking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accent1"/>
                </a:solidFill>
                <a:sym typeface="+mn-ea"/>
              </a:rPr>
              <a:t>/Library/Preferences/VMware\ Fusion/networking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.bakcup</a:t>
            </a:r>
            <a:endParaRPr lang="en-US" altLang="zh-CN"/>
          </a:p>
          <a:p>
            <a:r>
              <a:rPr lang="zh-CN" altLang="en-US"/>
              <a:t>通过</a:t>
            </a:r>
            <a:r>
              <a:rPr lang="en-US" altLang="zh-CN"/>
              <a:t>vim</a:t>
            </a:r>
            <a:r>
              <a:rPr lang="zh-CN" altLang="en-US"/>
              <a:t>编辑器修改文件：</a:t>
            </a:r>
            <a:r>
              <a:rPr lang="zh-CN" altLang="en-US">
                <a:solidFill>
                  <a:schemeClr val="accent1"/>
                </a:solidFill>
              </a:rPr>
              <a:t>vi</a:t>
            </a:r>
            <a:r>
              <a:rPr lang="en-US" altLang="zh-CN">
                <a:solidFill>
                  <a:schemeClr val="accent1"/>
                </a:solidFill>
              </a:rPr>
              <a:t>m</a:t>
            </a:r>
            <a:r>
              <a:rPr lang="zh-CN" altLang="en-US">
                <a:solidFill>
                  <a:schemeClr val="accent1"/>
                </a:solidFill>
              </a:rPr>
              <a:t> /Library/Preferences/VMware\ Fusion/networking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修改第</a:t>
            </a:r>
            <a:r>
              <a:rPr lang="en-US" altLang="zh-CN"/>
              <a:t>11</a:t>
            </a:r>
            <a:r>
              <a:rPr lang="zh-CN" altLang="en-US"/>
              <a:t>行为如图内容：</a:t>
            </a:r>
            <a:r>
              <a:rPr lang="en-US" altLang="zh-CN"/>
              <a:t>192.168.88.0</a:t>
            </a:r>
            <a:r>
              <a:rPr lang="zh-CN" altLang="en-US"/>
              <a:t>，并保存退出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845" y="2086610"/>
            <a:ext cx="1623060" cy="6629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0" y="4074795"/>
            <a:ext cx="4941570" cy="2185035"/>
          </a:xfrm>
          <a:prstGeom prst="rect">
            <a:avLst/>
          </a:prstGeom>
        </p:spPr>
      </p:pic>
      <p:pic>
        <p:nvPicPr>
          <p:cNvPr id="6" name="图片 5" descr="01 (15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3715" y="4921885"/>
            <a:ext cx="1689735" cy="168973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在</a:t>
            </a:r>
            <a:r>
              <a:rPr lang="en-US" altLang="zh-CN">
                <a:sym typeface="+mn-ea"/>
              </a:rPr>
              <a:t>VMware Fusion</a:t>
            </a:r>
            <a:r>
              <a:rPr>
                <a:sym typeface="+mn-ea"/>
              </a:rPr>
              <a:t>中配置固定</a:t>
            </a:r>
            <a:r>
              <a:rPr lang="en-US" altLang="zh-CN">
                <a:sym typeface="+mn-ea"/>
              </a:rPr>
              <a:t>IP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4. </a:t>
            </a:r>
            <a:r>
              <a:rPr lang="zh-CN" altLang="en-US"/>
              <a:t>备份文件：</a:t>
            </a:r>
            <a:r>
              <a:rPr lang="en-US" altLang="zh-CN">
                <a:solidFill>
                  <a:schemeClr val="accent1"/>
                </a:solidFill>
              </a:rPr>
              <a:t>cp /Library/Preferences/VMware\ Fusion/vmnet8/nat.conf /Library/Preferences/VMware\ Fusion/vmnet8/nat.conf.backup</a:t>
            </a:r>
            <a:endParaRPr lang="en-US" altLang="zh-CN"/>
          </a:p>
          <a:p>
            <a:r>
              <a:rPr lang="zh-CN" altLang="en-US"/>
              <a:t>修改文件：</a:t>
            </a:r>
            <a:r>
              <a:rPr lang="en-US" altLang="zh-CN">
                <a:solidFill>
                  <a:schemeClr val="accent1"/>
                </a:solidFill>
              </a:rPr>
              <a:t>vim /Library/Preferences/VMware\ Fusion/vmnet8/nat.conf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如图所示在</a:t>
            </a:r>
            <a:r>
              <a:rPr lang="en-US" altLang="zh-CN"/>
              <a:t> NAT gateway address</a:t>
            </a:r>
            <a:r>
              <a:rPr lang="zh-CN" altLang="en-US"/>
              <a:t>下修改：</a:t>
            </a:r>
            <a:r>
              <a:rPr lang="en-US" altLang="zh-CN"/>
              <a:t>ip</a:t>
            </a:r>
            <a:r>
              <a:rPr lang="zh-CN" altLang="en-US"/>
              <a:t>为：</a:t>
            </a:r>
            <a:r>
              <a:rPr lang="en-US" altLang="zh-CN"/>
              <a:t>192.168.88.2</a:t>
            </a:r>
            <a:r>
              <a:rPr lang="zh-CN" altLang="en-US"/>
              <a:t>（这是网关的</a:t>
            </a:r>
            <a:r>
              <a:rPr lang="en-US" altLang="zh-CN"/>
              <a:t>IP</a:t>
            </a:r>
            <a:r>
              <a:rPr lang="zh-CN" altLang="en-US"/>
              <a:t>），并保存退出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5. </a:t>
            </a:r>
            <a:r>
              <a:rPr lang="zh-CN" altLang="en-US"/>
              <a:t>启动</a:t>
            </a:r>
            <a:r>
              <a:rPr lang="en-US" altLang="zh-CN"/>
              <a:t>VMware Fusion</a:t>
            </a:r>
            <a:r>
              <a:rPr lang="zh-CN" altLang="en-US"/>
              <a:t>，进入</a:t>
            </a:r>
            <a:r>
              <a:rPr lang="en-US" altLang="zh-CN"/>
              <a:t>Linux</a:t>
            </a:r>
            <a:r>
              <a:rPr lang="zh-CN" altLang="en-US"/>
              <a:t>虚拟机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245" y="2846070"/>
            <a:ext cx="5532120" cy="1965960"/>
          </a:xfrm>
          <a:prstGeom prst="rect">
            <a:avLst/>
          </a:prstGeom>
        </p:spPr>
      </p:pic>
      <p:pic>
        <p:nvPicPr>
          <p:cNvPr id="5" name="图片 4" descr="01 (17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4675" y="4916170"/>
            <a:ext cx="1793875" cy="179387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在</a:t>
            </a:r>
            <a:r>
              <a:rPr lang="en-US" altLang="zh-CN">
                <a:sym typeface="+mn-ea"/>
              </a:rPr>
              <a:t>VMware Fusion</a:t>
            </a:r>
            <a:r>
              <a:rPr>
                <a:sym typeface="+mn-ea"/>
              </a:rPr>
              <a:t>中配置固定</a:t>
            </a:r>
            <a:r>
              <a:rPr lang="en-US" altLang="zh-CN">
                <a:sym typeface="+mn-ea"/>
              </a:rPr>
              <a:t>IP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步骤</a:t>
            </a:r>
            <a:r>
              <a:rPr lang="en-US" altLang="zh-CN"/>
              <a:t>2</a:t>
            </a:r>
            <a:r>
              <a:rPr lang="zh-CN" altLang="en-US"/>
              <a:t>：在</a:t>
            </a:r>
            <a:r>
              <a:rPr lang="en-US" altLang="zh-CN"/>
              <a:t>Linux</a:t>
            </a:r>
            <a:r>
              <a:rPr lang="zh-CN" altLang="en-US"/>
              <a:t>中修改固定</a:t>
            </a:r>
            <a:r>
              <a:rPr lang="en-US" altLang="zh-CN"/>
              <a:t>IP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在虚拟机的图形化页面中，打开终端，使用</a:t>
            </a:r>
            <a:r>
              <a:rPr lang="en-US" altLang="zh-CN">
                <a:sym typeface="+mn-ea"/>
              </a:rPr>
              <a:t>su - </a:t>
            </a:r>
            <a:r>
              <a:rPr lang="zh-CN" altLang="en-US">
                <a:sym typeface="+mn-ea"/>
              </a:rPr>
              <a:t>切换到</a:t>
            </a:r>
            <a:r>
              <a:rPr lang="en-US" altLang="zh-CN">
                <a:sym typeface="+mn-ea"/>
              </a:rPr>
              <a:t>root</a:t>
            </a:r>
            <a:r>
              <a:rPr lang="zh-CN" altLang="en-US">
                <a:sym typeface="+mn-ea"/>
              </a:rPr>
              <a:t>用户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使用</a:t>
            </a:r>
            <a:r>
              <a:rPr lang="en-US" altLang="zh-CN">
                <a:sym typeface="+mn-ea"/>
              </a:rPr>
              <a:t>vim</a:t>
            </a:r>
            <a:r>
              <a:rPr lang="zh-CN" altLang="en-US">
                <a:sym typeface="+mn-ea"/>
              </a:rPr>
              <a:t>编辑</a:t>
            </a:r>
            <a:r>
              <a:rPr lang="en-US" altLang="zh-CN">
                <a:sym typeface="+mn-ea"/>
              </a:rPr>
              <a:t>/etc/sysconfig/network-scripts/ifcfg-ens33</a:t>
            </a:r>
            <a:r>
              <a:rPr lang="zh-CN" altLang="en-US">
                <a:sym typeface="+mn-ea"/>
              </a:rPr>
              <a:t>文件，填入如下内容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执行：</a:t>
            </a:r>
            <a:r>
              <a:rPr lang="en-US" altLang="zh-CN">
                <a:sym typeface="+mn-ea"/>
              </a:rPr>
              <a:t>systemctl restart network </a:t>
            </a:r>
            <a:r>
              <a:rPr lang="zh-CN" altLang="en-US">
                <a:sym typeface="+mn-ea"/>
              </a:rPr>
              <a:t>重启网卡，执行</a:t>
            </a:r>
            <a:r>
              <a:rPr lang="en-US" altLang="zh-CN">
                <a:sym typeface="+mn-ea"/>
              </a:rPr>
              <a:t>ifconfig</a:t>
            </a:r>
            <a:r>
              <a:rPr lang="zh-CN" altLang="en-US">
                <a:sym typeface="+mn-ea"/>
              </a:rPr>
              <a:t>即可看到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地址固定为</a:t>
            </a:r>
            <a:r>
              <a:rPr lang="en-US" altLang="zh-CN">
                <a:sym typeface="+mn-ea"/>
              </a:rPr>
              <a:t>192.168.88.130</a:t>
            </a:r>
            <a:r>
              <a:rPr lang="zh-CN" altLang="en-US">
                <a:sym typeface="+mn-ea"/>
              </a:rPr>
              <a:t>了</a:t>
            </a:r>
            <a:endParaRPr lang="zh-CN" altLang="en-US"/>
          </a:p>
          <a:p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470" y="2462530"/>
            <a:ext cx="2268855" cy="13658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70" y="4098925"/>
            <a:ext cx="2842260" cy="2266315"/>
          </a:xfrm>
          <a:prstGeom prst="rect">
            <a:avLst/>
          </a:prstGeom>
        </p:spPr>
      </p:pic>
      <p:pic>
        <p:nvPicPr>
          <p:cNvPr id="6" name="图片 5" descr="01 (13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5780" y="4966335"/>
            <a:ext cx="1781175" cy="178117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675" y="679450"/>
            <a:ext cx="5973445" cy="5344160"/>
          </a:xfrm>
        </p:spPr>
        <p:txBody>
          <a:bodyPr/>
          <a:lstStyle/>
          <a:p>
            <a:pPr algn="l"/>
            <a:r>
              <a:rPr kumimoji="1" lang="zh-CN" altLang="en-US" sz="1600" dirty="0">
                <a:sym typeface="+mn-ea"/>
              </a:rPr>
              <a:t>各类小技巧（快捷键）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软件安装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systemctl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软连接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日期、时区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IP地址、主机名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网络传输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进程管理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主机状态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环境变量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上传、下载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压缩、解压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3482975"/>
            <a:ext cx="410210" cy="41021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7084060" y="3205480"/>
            <a:ext cx="2357755" cy="931545"/>
            <a:chOff x="11247" y="4684"/>
            <a:chExt cx="3713" cy="1467"/>
          </a:xfrm>
        </p:grpSpPr>
        <p:sp>
          <p:nvSpPr>
            <p:cNvPr id="3" name="左大括号 2"/>
            <p:cNvSpPr/>
            <p:nvPr/>
          </p:nvSpPr>
          <p:spPr>
            <a:xfrm>
              <a:off x="11247" y="4971"/>
              <a:ext cx="1080" cy="946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2432" y="4684"/>
              <a:ext cx="2528" cy="5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dirty="0">
                  <a:solidFill>
                    <a:srgbClr val="FF0000"/>
                  </a:solidFill>
                  <a:latin typeface="阿里巴巴普惠体" panose="00020600040101010101" charset="-122"/>
                  <a:ea typeface="阿里巴巴普惠体" panose="00020600040101010101" charset="-122"/>
                </a:rPr>
                <a:t>下载和网络请求</a:t>
              </a:r>
              <a:endParaRPr lang="zh-CN" altLang="en-US" sz="160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2432" y="5621"/>
              <a:ext cx="928" cy="5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</a:rPr>
                <a:t>端口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618105"/>
          </a:xfrm>
        </p:spPr>
        <p:txBody>
          <a:bodyPr/>
          <a:p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掌握使用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ping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命令检查服务器是否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可联通</a:t>
            </a:r>
            <a:endParaRPr lang="zh-CN" altLang="en-US" sz="200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  <a:p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掌握使用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wget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命令下载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文件</a:t>
            </a:r>
            <a:endParaRPr lang="zh-CN" altLang="en-US" sz="200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  <a:p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掌握使用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curl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命令发起网络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请求</a:t>
            </a:r>
            <a:endParaRPr lang="zh-CN" altLang="en-US" sz="200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ping</a:t>
            </a:r>
            <a: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可以通过</a:t>
            </a:r>
            <a:r>
              <a:rPr lang="en-US" altLang="zh-CN"/>
              <a:t>ping</a:t>
            </a:r>
            <a:r>
              <a:rPr lang="zh-CN" altLang="en-US"/>
              <a:t>命令，检查指定的网络服务器是否是可联通</a:t>
            </a:r>
            <a:r>
              <a:rPr lang="zh-CN" altLang="en-US"/>
              <a:t>状态</a:t>
            </a:r>
            <a:endParaRPr lang="zh-CN" altLang="en-US"/>
          </a:p>
          <a:p>
            <a:r>
              <a:rPr lang="zh-CN" altLang="en-US"/>
              <a:t>语法：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选项：</a:t>
            </a:r>
            <a:r>
              <a:rPr lang="en-US" altLang="zh-CN"/>
              <a:t>-c</a:t>
            </a:r>
            <a:r>
              <a:rPr lang="zh-CN" altLang="en-US"/>
              <a:t>，检查的次数，不使用</a:t>
            </a:r>
            <a:r>
              <a:rPr lang="en-US" altLang="zh-CN"/>
              <a:t>-c</a:t>
            </a:r>
            <a:r>
              <a:rPr lang="zh-CN" altLang="en-US"/>
              <a:t>选项，将无限次数持续</a:t>
            </a:r>
            <a:r>
              <a:rPr lang="zh-CN" altLang="en-US"/>
              <a:t>检查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参数：</a:t>
            </a:r>
            <a:r>
              <a:rPr lang="en-US" altLang="zh-CN"/>
              <a:t>ip</a:t>
            </a:r>
            <a:r>
              <a:rPr lang="zh-CN" altLang="en-US"/>
              <a:t>或主机名，被检查的服务器的</a:t>
            </a:r>
            <a:r>
              <a:rPr lang="en-US" altLang="zh-CN"/>
              <a:t>ip</a:t>
            </a:r>
            <a:r>
              <a:rPr lang="zh-CN" altLang="en-US"/>
              <a:t>地址或主机名</a:t>
            </a:r>
            <a:r>
              <a:rPr lang="zh-CN" altLang="en-US"/>
              <a:t>地址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示例：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检查到</a:t>
            </a:r>
            <a:r>
              <a:rPr lang="en-US" altLang="zh-CN"/>
              <a:t>baidu.com</a:t>
            </a:r>
            <a:r>
              <a:rPr lang="zh-CN" altLang="en-US"/>
              <a:t>是否</a:t>
            </a:r>
            <a:r>
              <a:rPr lang="zh-CN" altLang="en-US"/>
              <a:t>联通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结果表示联通，延迟</a:t>
            </a:r>
            <a:r>
              <a:rPr lang="en-US" altLang="zh-CN"/>
              <a:t>8ms</a:t>
            </a:r>
            <a:r>
              <a:rPr lang="zh-CN" altLang="en-US"/>
              <a:t>左右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检查到</a:t>
            </a:r>
            <a:r>
              <a:rPr lang="en-US" altLang="zh-CN"/>
              <a:t>39.156.66.10</a:t>
            </a:r>
            <a:r>
              <a:rPr lang="zh-CN" altLang="en-US"/>
              <a:t>是否联通，并检查</a:t>
            </a:r>
            <a:r>
              <a:rPr lang="en-US" altLang="zh-CN"/>
              <a:t>3</a:t>
            </a:r>
            <a:r>
              <a:rPr lang="zh-CN" altLang="en-US"/>
              <a:t>次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8905" y="2221865"/>
            <a:ext cx="2560320" cy="228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565" y="4110355"/>
            <a:ext cx="3959860" cy="584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565" y="5349240"/>
            <a:ext cx="3797300" cy="1259205"/>
          </a:xfrm>
          <a:prstGeom prst="rect">
            <a:avLst/>
          </a:prstGeom>
        </p:spPr>
      </p:pic>
      <p:pic>
        <p:nvPicPr>
          <p:cNvPr id="7" name="图片 6" descr="01 (152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8285" y="4694555"/>
            <a:ext cx="2091055" cy="209105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wget</a:t>
            </a:r>
            <a: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wget</a:t>
            </a:r>
            <a:r>
              <a:rPr lang="zh-CN" altLang="en-US"/>
              <a:t>是非交互式的文件下载器，可以在命令行内下载网络</a:t>
            </a:r>
            <a:r>
              <a:rPr lang="zh-CN" altLang="en-US"/>
              <a:t>文件</a:t>
            </a:r>
            <a:endParaRPr lang="zh-CN" altLang="en-US"/>
          </a:p>
          <a:p>
            <a:r>
              <a:rPr lang="zh-CN" altLang="en-US"/>
              <a:t>语法：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选项：</a:t>
            </a:r>
            <a:r>
              <a:rPr lang="en-US" altLang="zh-CN"/>
              <a:t>-b</a:t>
            </a:r>
            <a:r>
              <a:rPr lang="zh-CN" altLang="en-US"/>
              <a:t>，可选，后台下载，会将日志写入到当前工作目录的</a:t>
            </a:r>
            <a:r>
              <a:rPr lang="en-US" altLang="zh-CN"/>
              <a:t>wget-log</a:t>
            </a:r>
            <a:r>
              <a:rPr lang="zh-CN" altLang="en-US"/>
              <a:t>文件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参数：</a:t>
            </a:r>
            <a:r>
              <a:rPr lang="en-US" altLang="zh-CN"/>
              <a:t>url</a:t>
            </a:r>
            <a:r>
              <a:rPr lang="zh-CN" altLang="en-US"/>
              <a:t>，下载</a:t>
            </a:r>
            <a:r>
              <a:rPr lang="zh-CN" altLang="en-US"/>
              <a:t>链接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示例：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/>
              <a:t>下载</a:t>
            </a:r>
            <a:r>
              <a:rPr lang="en-US" altLang="zh-CN" sz="1200"/>
              <a:t>apache-hadoop 3.3.0</a:t>
            </a:r>
            <a:r>
              <a:rPr lang="zh-CN" altLang="en-US" sz="1200"/>
              <a:t>版本：</a:t>
            </a:r>
            <a:r>
              <a:rPr lang="en-US" altLang="zh-CN" sz="1200"/>
              <a:t>wget http://archive.apache.org/dist/hadoop/common/hadoop-3.3.0/hadoop-3.3.0.tar.gz</a:t>
            </a:r>
            <a:endParaRPr lang="en-US" altLang="zh-CN" sz="1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/>
              <a:t>在后台下载：</a:t>
            </a:r>
            <a:r>
              <a:rPr lang="en-US" altLang="zh-CN" sz="1200"/>
              <a:t>wget -b http://archive.apache.org/dist/hadoop/common/hadoop-3.3.0/hadoop-3.3.0.tar.gz</a:t>
            </a:r>
            <a:endParaRPr lang="en-US" altLang="zh-CN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/>
              <a:t>通过</a:t>
            </a:r>
            <a:r>
              <a:rPr lang="en-US" altLang="zh-CN" sz="1200"/>
              <a:t>tail</a:t>
            </a:r>
            <a:r>
              <a:rPr lang="zh-CN" altLang="en-US" sz="1200"/>
              <a:t>命令可以监控后台下载进度：</a:t>
            </a:r>
            <a:r>
              <a:rPr lang="en-US" altLang="zh-CN" sz="1200"/>
              <a:t>tail -f wget-log</a:t>
            </a:r>
            <a:endParaRPr lang="en-US" altLang="zh-CN" sz="1200"/>
          </a:p>
          <a:p>
            <a:pPr>
              <a:buFont typeface="Arial" panose="020B0604020202020204" pitchFamily="34" charset="0"/>
            </a:pPr>
            <a:endParaRPr lang="en-US" altLang="zh-CN" sz="1200"/>
          </a:p>
          <a:p>
            <a:pPr>
              <a:buFont typeface="Arial" panose="020B0604020202020204" pitchFamily="34" charset="0"/>
            </a:pPr>
            <a:r>
              <a:rPr lang="zh-CN" altLang="en-US" sz="1200">
                <a:solidFill>
                  <a:srgbClr val="FF0000"/>
                </a:solidFill>
              </a:rPr>
              <a:t>注意：无论下载是否完成，都会生成要下载的文件，如果下载未完成，请及时清理未完成的不可用文件。</a:t>
            </a:r>
            <a:endParaRPr lang="zh-CN" altLang="en-US" sz="120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</a:pPr>
            <a:endParaRPr lang="en-US" altLang="zh-CN" sz="1200"/>
          </a:p>
          <a:p>
            <a:pPr>
              <a:buFont typeface="Arial" panose="020B0604020202020204" pitchFamily="34" charset="0"/>
            </a:pPr>
            <a:endParaRPr lang="en-US" altLang="zh-CN" sz="1200"/>
          </a:p>
          <a:p>
            <a:pPr>
              <a:buFont typeface="Arial" panose="020B0604020202020204" pitchFamily="34" charset="0"/>
            </a:pPr>
            <a:endParaRPr lang="en-US" altLang="zh-CN" sz="1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1445" y="2200275"/>
            <a:ext cx="1524000" cy="2971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045" y="4057015"/>
            <a:ext cx="4321810" cy="866140"/>
          </a:xfrm>
          <a:prstGeom prst="rect">
            <a:avLst/>
          </a:prstGeom>
        </p:spPr>
      </p:pic>
      <p:pic>
        <p:nvPicPr>
          <p:cNvPr id="5" name="图片 4" descr="01 (144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8305" y="4834890"/>
            <a:ext cx="1809115" cy="180911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curl</a:t>
            </a:r>
            <a: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curl</a:t>
            </a:r>
            <a:r>
              <a:rPr lang="zh-CN" altLang="en-US"/>
              <a:t>可以发送</a:t>
            </a:r>
            <a:r>
              <a:rPr lang="en-US" altLang="zh-CN"/>
              <a:t>http</a:t>
            </a:r>
            <a:r>
              <a:rPr lang="zh-CN" altLang="en-US"/>
              <a:t>网络请求，可用于：下载文件、获取信息</a:t>
            </a:r>
            <a:r>
              <a:rPr lang="zh-CN" altLang="en-US"/>
              <a:t>等</a:t>
            </a:r>
            <a:endParaRPr lang="zh-CN" altLang="en-US"/>
          </a:p>
          <a:p>
            <a:r>
              <a:rPr lang="zh-CN" altLang="en-US"/>
              <a:t>语法：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选项：</a:t>
            </a:r>
            <a:r>
              <a:rPr lang="en-US" altLang="zh-CN"/>
              <a:t>-O</a:t>
            </a:r>
            <a:r>
              <a:rPr lang="zh-CN" altLang="en-US"/>
              <a:t>，用于下载文件，当</a:t>
            </a:r>
            <a:r>
              <a:rPr lang="en-US" altLang="zh-CN"/>
              <a:t>url</a:t>
            </a:r>
            <a:r>
              <a:rPr lang="zh-CN" altLang="en-US"/>
              <a:t>是下载链接时，可以使用此选项保存</a:t>
            </a:r>
            <a:r>
              <a:rPr lang="zh-CN" altLang="en-US"/>
              <a:t>文件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参数：</a:t>
            </a:r>
            <a:r>
              <a:rPr lang="en-US" altLang="zh-CN"/>
              <a:t>url</a:t>
            </a:r>
            <a:r>
              <a:rPr lang="zh-CN" altLang="en-US"/>
              <a:t>，要发起请求的网络</a:t>
            </a:r>
            <a:r>
              <a:rPr lang="zh-CN" altLang="en-US"/>
              <a:t>地址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4465" y="2214880"/>
            <a:ext cx="1470660" cy="243840"/>
          </a:xfrm>
          <a:prstGeom prst="rect">
            <a:avLst/>
          </a:prstGeom>
        </p:spPr>
      </p:pic>
      <p:pic>
        <p:nvPicPr>
          <p:cNvPr id="5" name="图片 4" descr="01 (137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9340" y="4756150"/>
            <a:ext cx="2035175" cy="203517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curl</a:t>
            </a:r>
            <a:r>
              <a:rPr>
                <a:sym typeface="+mn-ea"/>
              </a:rPr>
              <a:t>命令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>
              <a:buFont typeface="Arial" panose="020B0604020202020204" pitchFamily="34" charset="0"/>
            </a:pPr>
            <a:r>
              <a:rPr lang="zh-CN" altLang="en-US">
                <a:sym typeface="+mn-ea"/>
              </a:rPr>
              <a:t>示例：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向</a:t>
            </a:r>
            <a:r>
              <a:rPr lang="en-US" altLang="zh-CN">
                <a:sym typeface="+mn-ea"/>
              </a:rPr>
              <a:t>cip.cc</a:t>
            </a:r>
            <a:r>
              <a:rPr lang="zh-CN" altLang="en-US">
                <a:sym typeface="+mn-ea"/>
              </a:rPr>
              <a:t>发起网络请求：</a:t>
            </a:r>
            <a:r>
              <a:rPr lang="en-US" altLang="zh-CN">
                <a:sym typeface="+mn-ea"/>
              </a:rPr>
              <a:t>curl cip.cc</a:t>
            </a:r>
            <a:endParaRPr lang="en-US" altLang="zh-CN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向</a:t>
            </a:r>
            <a:r>
              <a:rPr lang="en-US" altLang="zh-CN">
                <a:sym typeface="+mn-ea"/>
              </a:rPr>
              <a:t>python.itheima.com</a:t>
            </a:r>
            <a:r>
              <a:rPr lang="zh-CN" altLang="en-US">
                <a:sym typeface="+mn-ea"/>
              </a:rPr>
              <a:t>发起网络请求：</a:t>
            </a:r>
            <a:r>
              <a:rPr lang="en-US" altLang="zh-CN">
                <a:sym typeface="+mn-ea"/>
              </a:rPr>
              <a:t>curl python.itheima.com</a:t>
            </a:r>
            <a:endParaRPr lang="en-US" altLang="zh-CN">
              <a:sym typeface="+mn-ea"/>
            </a:endParaRPr>
          </a:p>
          <a:p>
            <a:pPr>
              <a:buFont typeface="Arial" panose="020B0604020202020204" pitchFamily="34" charset="0"/>
            </a:pPr>
            <a:endParaRPr lang="en-US" altLang="zh-CN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通过</a:t>
            </a:r>
            <a:r>
              <a:rPr lang="en-US" altLang="zh-CN">
                <a:sym typeface="+mn-ea"/>
              </a:rPr>
              <a:t>curl</a:t>
            </a:r>
            <a:r>
              <a:rPr lang="zh-CN" altLang="en-US">
                <a:sym typeface="+mn-ea"/>
              </a:rPr>
              <a:t>下载</a:t>
            </a:r>
            <a:r>
              <a:rPr lang="en-US" altLang="zh-CN">
                <a:sym typeface="+mn-ea"/>
              </a:rPr>
              <a:t>hadoop-3.3.0</a:t>
            </a:r>
            <a:r>
              <a:rPr lang="zh-CN" altLang="en-US">
                <a:sym typeface="+mn-ea"/>
              </a:rPr>
              <a:t>安装包：</a:t>
            </a:r>
            <a:r>
              <a:rPr lang="en-US" altLang="zh-CN">
                <a:sym typeface="+mn-ea"/>
              </a:rPr>
              <a:t>curl -O http://archive.apache.org/dist/hadoop/common/hadoop-3.3.0/hadoop-3.3.0.tar.gz 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97280" y="2499995"/>
            <a:ext cx="1905635" cy="928370"/>
          </a:xfrm>
          <a:prstGeom prst="rect">
            <a:avLst/>
          </a:prstGeom>
        </p:spPr>
      </p:pic>
      <p:pic>
        <p:nvPicPr>
          <p:cNvPr id="5" name="图片 4" descr="01 (138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9600" y="5134610"/>
            <a:ext cx="1637665" cy="163766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689090" cy="4511040"/>
          </a:xfrm>
        </p:spPr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使用</a:t>
            </a:r>
            <a:r>
              <a:rPr lang="en-US" altLang="zh-CN"/>
              <a:t>ping</a:t>
            </a:r>
            <a:r>
              <a:rPr lang="zh-CN" altLang="en-US"/>
              <a:t>命令可以测试到某服务器是否可联通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语法：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选项：</a:t>
            </a:r>
            <a:r>
              <a:rPr lang="en-US" altLang="zh-CN" sz="1400"/>
              <a:t>-c</a:t>
            </a:r>
            <a:r>
              <a:rPr lang="zh-CN" altLang="en-US" sz="1400"/>
              <a:t>，测试的次数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使用</a:t>
            </a:r>
            <a:r>
              <a:rPr lang="en-US" altLang="zh-CN"/>
              <a:t>wget</a:t>
            </a:r>
            <a:r>
              <a:rPr lang="zh-CN" altLang="en-US"/>
              <a:t>命令可以进行网络文件下载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语法：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选项：</a:t>
            </a:r>
            <a:r>
              <a:rPr lang="en-US" altLang="zh-CN" sz="1400"/>
              <a:t>-b</a:t>
            </a:r>
            <a:r>
              <a:rPr lang="zh-CN" altLang="en-US" sz="1400"/>
              <a:t>，后台下载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/>
              <a:t>3. </a:t>
            </a:r>
            <a:r>
              <a:rPr lang="zh-CN" altLang="en-US"/>
              <a:t>使用</a:t>
            </a:r>
            <a:r>
              <a:rPr lang="en-US" altLang="zh-CN"/>
              <a:t>curl</a:t>
            </a:r>
            <a:r>
              <a:rPr lang="zh-CN" altLang="en-US"/>
              <a:t>命令可以发起网络请求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语法：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选项：</a:t>
            </a:r>
            <a:r>
              <a:rPr lang="en-US" altLang="zh-CN" sz="1400"/>
              <a:t>-O</a:t>
            </a:r>
            <a:r>
              <a:rPr lang="zh-CN" altLang="en-US" sz="1400"/>
              <a:t>，用于下载使用</a:t>
            </a:r>
            <a:endParaRPr lang="zh-CN" altLang="en-US" sz="14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9130" y="2194560"/>
            <a:ext cx="2560320" cy="228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9130" y="3701415"/>
            <a:ext cx="1524000" cy="2971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130" y="5260340"/>
            <a:ext cx="1470660" cy="24384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675" y="679450"/>
            <a:ext cx="5973445" cy="5344160"/>
          </a:xfrm>
        </p:spPr>
        <p:txBody>
          <a:bodyPr/>
          <a:lstStyle/>
          <a:p>
            <a:pPr algn="l"/>
            <a:r>
              <a:rPr kumimoji="1" lang="zh-CN" altLang="en-US" sz="1600" dirty="0">
                <a:sym typeface="+mn-ea"/>
              </a:rPr>
              <a:t>各类小技巧（快捷键）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软件安装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systemctl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软连接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日期、时区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IP地址、主机名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网络传输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进程管理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主机状态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环境变量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上传、下载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压缩、解压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3482975"/>
            <a:ext cx="410210" cy="410210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7084060" y="3205480"/>
            <a:ext cx="2357755" cy="932180"/>
            <a:chOff x="11247" y="4684"/>
            <a:chExt cx="3713" cy="1468"/>
          </a:xfrm>
        </p:grpSpPr>
        <p:sp>
          <p:nvSpPr>
            <p:cNvPr id="13" name="左大括号 12"/>
            <p:cNvSpPr/>
            <p:nvPr/>
          </p:nvSpPr>
          <p:spPr>
            <a:xfrm>
              <a:off x="11247" y="4971"/>
              <a:ext cx="1080" cy="946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2432" y="4684"/>
              <a:ext cx="2528" cy="5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pPr algn="l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</a:rPr>
                <a:t>下载和网络请求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2432" y="5621"/>
              <a:ext cx="928" cy="5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dirty="0">
                  <a:solidFill>
                    <a:srgbClr val="FF0000"/>
                  </a:solidFill>
                  <a:latin typeface="阿里巴巴普惠体" panose="00020600040101010101" charset="-122"/>
                  <a:ea typeface="阿里巴巴普惠体" panose="00020600040101010101" charset="-122"/>
                </a:rPr>
                <a:t>端口</a:t>
              </a:r>
              <a:endParaRPr lang="zh-CN" altLang="en-US" sz="160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618105"/>
          </a:xfrm>
        </p:spPr>
        <p:txBody>
          <a:bodyPr/>
          <a:p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掌握端口的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概念</a:t>
            </a:r>
            <a:endParaRPr lang="zh-CN" altLang="en-US" sz="200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  <a:p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掌握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netstat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命令的基本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使用</a:t>
            </a:r>
            <a:endParaRPr lang="zh-CN" altLang="en-US" sz="200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端口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656000"/>
            <a:ext cx="10698800" cy="4219575"/>
          </a:xfrm>
        </p:spPr>
        <p:txBody>
          <a:bodyPr/>
          <a:p>
            <a:r>
              <a:rPr lang="zh-CN" altLang="en-US"/>
              <a:t>端口，是设备与外界通讯交流的出</a:t>
            </a:r>
            <a:r>
              <a:rPr lang="zh-CN" altLang="en-US"/>
              <a:t>入口。端口可以分为：物理端口和虚拟端口</a:t>
            </a:r>
            <a:r>
              <a:rPr lang="zh-CN" altLang="en-US"/>
              <a:t>两类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物理端口：又可称之为接口，是可见的端口，如</a:t>
            </a:r>
            <a:r>
              <a:rPr lang="en-US" altLang="zh-CN"/>
              <a:t>USB</a:t>
            </a:r>
            <a:r>
              <a:rPr lang="zh-CN" altLang="en-US"/>
              <a:t>接口，</a:t>
            </a:r>
            <a:r>
              <a:rPr lang="en-US" altLang="zh-CN"/>
              <a:t>RJ45</a:t>
            </a:r>
            <a:r>
              <a:rPr lang="zh-CN" altLang="en-US"/>
              <a:t>网口，</a:t>
            </a:r>
            <a:r>
              <a:rPr lang="en-US" altLang="zh-CN"/>
              <a:t>HDMI</a:t>
            </a:r>
            <a:r>
              <a:rPr lang="zh-CN" altLang="en-US"/>
              <a:t>端口</a:t>
            </a:r>
            <a:r>
              <a:rPr lang="zh-CN" altLang="en-US"/>
              <a:t>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虚拟端口：是指计算机内部的端口，是不可见的，是用来</a:t>
            </a:r>
            <a:r>
              <a:rPr lang="zh-CN" altLang="en-US"/>
              <a:t>操作系统和外部进行交互使用</a:t>
            </a:r>
            <a:r>
              <a:rPr lang="zh-CN" altLang="en-US"/>
              <a:t>的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710565" y="3665855"/>
            <a:ext cx="4001135" cy="14154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295" y="3003550"/>
            <a:ext cx="3180715" cy="32543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213610" y="5081270"/>
            <a:ext cx="995680" cy="33718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物理端口</a:t>
            </a:r>
            <a:endParaRPr lang="zh-CN" altLang="en-US" sz="1600" dirty="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08495" y="6257925"/>
            <a:ext cx="995680" cy="33718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虚拟端口</a:t>
            </a:r>
            <a:endParaRPr lang="zh-CN" altLang="en-US" sz="1600" dirty="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pic>
        <p:nvPicPr>
          <p:cNvPr id="7" name="图片 6" descr="01 (14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351135" y="4491990"/>
            <a:ext cx="2157730" cy="215773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端口（</a:t>
            </a:r>
            <a:r>
              <a:rPr lang="zh-CN" altLang="en-US"/>
              <a:t>虚拟）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2767965" y="1656080"/>
            <a:ext cx="9265920" cy="4219575"/>
          </a:xfrm>
        </p:spPr>
        <p:txBody>
          <a:bodyPr/>
          <a:p>
            <a:r>
              <a:rPr lang="zh-CN" altLang="en-US"/>
              <a:t>物理端口我们日常生活中经常见到，也能知晓它的</a:t>
            </a:r>
            <a:r>
              <a:rPr lang="zh-CN" altLang="en-US"/>
              <a:t>作用。</a:t>
            </a:r>
            <a:endParaRPr lang="zh-CN" altLang="en-US"/>
          </a:p>
          <a:p>
            <a:r>
              <a:rPr lang="zh-CN" altLang="en-US"/>
              <a:t>但是虚拟端口，有什么用？为什么需要它</a:t>
            </a:r>
            <a:r>
              <a:rPr lang="zh-CN" altLang="en-US"/>
              <a:t>呢？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 sz="1400"/>
              <a:t>计算机程序之间的通讯，通过</a:t>
            </a:r>
            <a:r>
              <a:rPr lang="en-US" altLang="zh-CN" sz="1400"/>
              <a:t>IP</a:t>
            </a:r>
            <a:r>
              <a:rPr lang="zh-CN" altLang="en-US" sz="1400"/>
              <a:t>只能锁定计算机，但是无法锁定具体的程序。</a:t>
            </a:r>
            <a:endParaRPr lang="zh-CN" altLang="en-US" sz="1400"/>
          </a:p>
          <a:p>
            <a:r>
              <a:rPr lang="zh-CN" altLang="en-US" sz="1400"/>
              <a:t>通过端口可以锁定计算机上具体的程序，确保程序之间进行沟通</a:t>
            </a:r>
            <a:endParaRPr lang="zh-CN" altLang="en-US" sz="1400"/>
          </a:p>
          <a:p>
            <a:r>
              <a:rPr lang="en-US" altLang="zh-CN" sz="1400">
                <a:solidFill>
                  <a:srgbClr val="FF0000"/>
                </a:solidFill>
              </a:rPr>
              <a:t>IP</a:t>
            </a:r>
            <a:r>
              <a:rPr lang="zh-CN" altLang="en-US" sz="1400">
                <a:solidFill>
                  <a:srgbClr val="FF0000"/>
                </a:solidFill>
              </a:rPr>
              <a:t>地址相当于小区地址，在小区内可以有许多住户（程序），而门牌号（端口）就是各个住户（程序）的联系地址</a:t>
            </a:r>
            <a:endParaRPr lang="zh-CN" altLang="en-US" sz="1400">
              <a:solidFill>
                <a:srgbClr val="FF0000"/>
              </a:solidFill>
            </a:endParaRPr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 descr="01 (10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656080"/>
            <a:ext cx="2148840" cy="21488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405" y="2651760"/>
            <a:ext cx="4649470" cy="10502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590155" y="3007995"/>
            <a:ext cx="1534160" cy="33718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通过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IP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地址即可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965" y="3804920"/>
            <a:ext cx="5516880" cy="1082040"/>
          </a:xfrm>
          <a:prstGeom prst="rect">
            <a:avLst/>
          </a:prstGeom>
        </p:spPr>
      </p:pic>
      <p:pic>
        <p:nvPicPr>
          <p:cNvPr id="7" name="图片 6" descr="01 (96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415" y="5453380"/>
            <a:ext cx="1159510" cy="1159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端口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Linux</a:t>
            </a:r>
            <a:r>
              <a:rPr lang="zh-CN" altLang="en-US"/>
              <a:t>系统是一个超大号小区，可以支持</a:t>
            </a:r>
            <a:r>
              <a:rPr lang="en-US" altLang="zh-CN"/>
              <a:t>65535</a:t>
            </a:r>
            <a:r>
              <a:rPr lang="zh-CN" altLang="en-US"/>
              <a:t>个端口，这</a:t>
            </a:r>
            <a:r>
              <a:rPr lang="en-US" altLang="zh-CN"/>
              <a:t>6</a:t>
            </a:r>
            <a:r>
              <a:rPr lang="zh-CN" altLang="en-US"/>
              <a:t>万多个端口分为</a:t>
            </a:r>
            <a:r>
              <a:rPr lang="en-US" altLang="zh-CN"/>
              <a:t>3</a:t>
            </a:r>
            <a:r>
              <a:rPr lang="zh-CN" altLang="en-US"/>
              <a:t>类进行</a:t>
            </a:r>
            <a:r>
              <a:rPr lang="zh-CN" altLang="en-US"/>
              <a:t>使用：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公认端口：</a:t>
            </a:r>
            <a:r>
              <a:rPr lang="en-US" altLang="zh-CN"/>
              <a:t>1~1023</a:t>
            </a:r>
            <a:r>
              <a:rPr lang="zh-CN" altLang="en-US"/>
              <a:t>，通常用于一些系统内置或知名程序的预留使用，如</a:t>
            </a:r>
            <a:r>
              <a:rPr lang="en-US" altLang="zh-CN"/>
              <a:t>SSH</a:t>
            </a:r>
            <a:r>
              <a:rPr lang="zh-CN" altLang="en-US"/>
              <a:t>服务的</a:t>
            </a:r>
            <a:r>
              <a:rPr lang="en-US" altLang="zh-CN"/>
              <a:t>22</a:t>
            </a:r>
            <a:r>
              <a:rPr lang="zh-CN" altLang="en-US"/>
              <a:t>端口，</a:t>
            </a:r>
            <a:r>
              <a:rPr lang="en-US" altLang="zh-CN"/>
              <a:t>HTTPS</a:t>
            </a:r>
            <a:r>
              <a:rPr lang="zh-CN" altLang="en-US"/>
              <a:t>服务的</a:t>
            </a:r>
            <a:r>
              <a:rPr lang="en-US" altLang="zh-CN"/>
              <a:t>443</a:t>
            </a:r>
            <a:r>
              <a:rPr lang="zh-CN" altLang="en-US"/>
              <a:t>端口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非特殊需要，不要占用这个范围的</a:t>
            </a:r>
            <a:r>
              <a:rPr lang="zh-CN" altLang="en-US"/>
              <a:t>端口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注册端口：</a:t>
            </a:r>
            <a:r>
              <a:rPr lang="en-US" altLang="zh-CN"/>
              <a:t>1024~49151</a:t>
            </a:r>
            <a:r>
              <a:rPr lang="zh-CN" altLang="en-US"/>
              <a:t>，通常可以随意使用，用于松散的绑定一些程序</a:t>
            </a:r>
            <a:r>
              <a:rPr lang="en-US" altLang="zh-CN"/>
              <a:t>\</a:t>
            </a:r>
            <a:r>
              <a:rPr lang="zh-CN" altLang="en-US"/>
              <a:t>服务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动态端口：</a:t>
            </a:r>
            <a:r>
              <a:rPr lang="en-US" altLang="zh-CN"/>
              <a:t>49152~65535</a:t>
            </a:r>
            <a:r>
              <a:rPr lang="zh-CN" altLang="en-US"/>
              <a:t>，通常不会固定绑定程序，而是当程序对外进行网络链接时，用于临时</a:t>
            </a:r>
            <a:r>
              <a:rPr lang="zh-CN" altLang="en-US"/>
              <a:t>使用。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如图中，计算机</a:t>
            </a:r>
            <a:r>
              <a:rPr lang="en-US" altLang="zh-CN"/>
              <a:t>A</a:t>
            </a:r>
            <a:r>
              <a:rPr lang="zh-CN" altLang="en-US"/>
              <a:t>的微信连接计算机</a:t>
            </a:r>
            <a:r>
              <a:rPr lang="en-US" altLang="zh-CN"/>
              <a:t>B</a:t>
            </a:r>
            <a:r>
              <a:rPr lang="zh-CN" altLang="en-US"/>
              <a:t>的微信，</a:t>
            </a:r>
            <a:r>
              <a:rPr lang="en-US" altLang="zh-CN"/>
              <a:t>A</a:t>
            </a:r>
            <a:r>
              <a:rPr lang="zh-CN" altLang="en-US"/>
              <a:t>使用的</a:t>
            </a:r>
            <a:r>
              <a:rPr lang="en-US" altLang="zh-CN"/>
              <a:t>50001</a:t>
            </a:r>
            <a:r>
              <a:rPr lang="zh-CN" altLang="en-US"/>
              <a:t>即动态端口，临时找一个端口作为出口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计算机</a:t>
            </a:r>
            <a:r>
              <a:rPr lang="en-US" altLang="zh-CN"/>
              <a:t>B</a:t>
            </a:r>
            <a:r>
              <a:rPr lang="zh-CN" altLang="en-US"/>
              <a:t>的微信使用端口</a:t>
            </a:r>
            <a:r>
              <a:rPr lang="en-US" altLang="zh-CN"/>
              <a:t>5678</a:t>
            </a:r>
            <a:r>
              <a:rPr lang="zh-CN" altLang="en-US"/>
              <a:t>，即注册端口，长期绑定此端口等待别人</a:t>
            </a:r>
            <a:r>
              <a:rPr lang="zh-CN" altLang="en-US"/>
              <a:t>连接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PS</a:t>
            </a:r>
            <a:r>
              <a:rPr lang="zh-CN" altLang="en-US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：上述微信的端口仅为演示，具体微信的端口使用非图中示意</a:t>
            </a:r>
            <a:endParaRPr lang="zh-CN" altLang="en-US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30" y="3769995"/>
            <a:ext cx="5516880" cy="1082040"/>
          </a:xfrm>
          <a:prstGeom prst="rect">
            <a:avLst/>
          </a:prstGeom>
        </p:spPr>
      </p:pic>
      <p:pic>
        <p:nvPicPr>
          <p:cNvPr id="7" name="图片 6" descr="01 (97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612755" y="5187315"/>
            <a:ext cx="1579245" cy="157924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查看端口</a:t>
            </a:r>
            <a:r>
              <a:rPr lang="zh-CN" altLang="en-US"/>
              <a:t>占用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可以通过</a:t>
            </a:r>
            <a:r>
              <a:rPr lang="en-US" altLang="zh-CN"/>
              <a:t>Linux</a:t>
            </a:r>
            <a:r>
              <a:rPr lang="zh-CN" altLang="en-US"/>
              <a:t>命令去查看端口的占用</a:t>
            </a:r>
            <a:r>
              <a:rPr lang="zh-CN" altLang="en-US"/>
              <a:t>情况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使用</a:t>
            </a:r>
            <a:r>
              <a:rPr lang="en-US" altLang="zh-CN"/>
              <a:t>nmap</a:t>
            </a:r>
            <a:r>
              <a:rPr lang="zh-CN" altLang="en-US"/>
              <a:t>命令，安装</a:t>
            </a:r>
            <a:r>
              <a:rPr lang="en-US" altLang="zh-CN"/>
              <a:t>nmap</a:t>
            </a:r>
            <a:r>
              <a:rPr lang="zh-CN" altLang="en-US"/>
              <a:t>：</a:t>
            </a:r>
            <a:r>
              <a:rPr lang="en-US" altLang="zh-CN"/>
              <a:t>yum -y install nmap</a:t>
            </a:r>
            <a:endParaRPr lang="en-US" altLang="zh-CN"/>
          </a:p>
          <a:p>
            <a:pPr>
              <a:buFont typeface="Arial" panose="020B0604020202020204" pitchFamily="34" charset="0"/>
            </a:pPr>
            <a:r>
              <a:rPr lang="zh-CN" altLang="en-US"/>
              <a:t>语法：</a:t>
            </a:r>
            <a:r>
              <a:rPr lang="en-US" altLang="zh-CN"/>
              <a:t>nmap </a:t>
            </a:r>
            <a:r>
              <a:rPr lang="zh-CN" altLang="en-US"/>
              <a:t>被查看的</a:t>
            </a:r>
            <a:r>
              <a:rPr lang="en-US" altLang="zh-CN"/>
              <a:t>IP</a:t>
            </a:r>
            <a:r>
              <a:rPr lang="zh-CN" altLang="en-US"/>
              <a:t>地址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可以看到，本机（</a:t>
            </a:r>
            <a:r>
              <a:rPr lang="en-US" altLang="zh-CN"/>
              <a:t>127.0.0.1</a:t>
            </a:r>
            <a:r>
              <a:rPr lang="zh-CN" altLang="en-US"/>
              <a:t>）上有</a:t>
            </a:r>
            <a:r>
              <a:rPr lang="en-US" altLang="zh-CN"/>
              <a:t>5</a:t>
            </a:r>
            <a:r>
              <a:rPr lang="zh-CN" altLang="en-US"/>
              <a:t>个端口现在被程序占用</a:t>
            </a:r>
            <a:r>
              <a:rPr lang="zh-CN" altLang="en-US"/>
              <a:t>了。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其中：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22</a:t>
            </a:r>
            <a:r>
              <a:rPr lang="zh-CN" altLang="en-US"/>
              <a:t>端口，一般是</a:t>
            </a:r>
            <a:r>
              <a:rPr lang="en-US" altLang="zh-CN"/>
              <a:t>SSH</a:t>
            </a:r>
            <a:r>
              <a:rPr lang="zh-CN" altLang="en-US"/>
              <a:t>服务使用，即</a:t>
            </a:r>
            <a:r>
              <a:rPr lang="en-US" altLang="zh-CN"/>
              <a:t>FinalShell</a:t>
            </a:r>
            <a:r>
              <a:rPr lang="zh-CN" altLang="en-US"/>
              <a:t>远程连接</a:t>
            </a:r>
            <a:r>
              <a:rPr lang="en-US" altLang="zh-CN"/>
              <a:t>Linux</a:t>
            </a:r>
            <a:r>
              <a:rPr lang="zh-CN" altLang="en-US"/>
              <a:t>所使用的端口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120" y="2907665"/>
            <a:ext cx="2707640" cy="1384935"/>
          </a:xfrm>
          <a:prstGeom prst="rect">
            <a:avLst/>
          </a:prstGeom>
        </p:spPr>
      </p:pic>
      <p:pic>
        <p:nvPicPr>
          <p:cNvPr id="5" name="图片 4" descr="01 (98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763885" y="5003800"/>
            <a:ext cx="1616075" cy="161607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查看端口占用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可以通过</a:t>
            </a:r>
            <a:r>
              <a:rPr lang="en-US" altLang="zh-CN"/>
              <a:t>netstat</a:t>
            </a:r>
            <a:r>
              <a:rPr lang="zh-CN" altLang="en-US"/>
              <a:t>命令，查看指定端口的占用</a:t>
            </a:r>
            <a:r>
              <a:rPr lang="zh-CN" altLang="en-US"/>
              <a:t>情况</a:t>
            </a:r>
            <a:endParaRPr lang="zh-CN" altLang="en-US"/>
          </a:p>
          <a:p>
            <a:r>
              <a:rPr lang="zh-CN" altLang="en-US"/>
              <a:t>语法：</a:t>
            </a:r>
            <a:r>
              <a:rPr lang="en-US" altLang="zh-CN"/>
              <a:t>netstat -anp | grep </a:t>
            </a:r>
            <a:r>
              <a:rPr lang="zh-CN" altLang="en-US"/>
              <a:t>端口号，安装</a:t>
            </a:r>
            <a:r>
              <a:rPr lang="en-US" altLang="zh-CN"/>
              <a:t>netstat</a:t>
            </a:r>
            <a:r>
              <a:rPr lang="zh-CN" altLang="en-US"/>
              <a:t>：</a:t>
            </a:r>
            <a:r>
              <a:rPr lang="en-US" altLang="zh-CN"/>
              <a:t>yum -y install net-tools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如图，可以看到当前系统</a:t>
            </a:r>
            <a:r>
              <a:rPr lang="en-US" altLang="zh-CN"/>
              <a:t>6000</a:t>
            </a:r>
            <a:r>
              <a:rPr lang="zh-CN" altLang="en-US"/>
              <a:t>端口被程序（进程号</a:t>
            </a:r>
            <a:r>
              <a:rPr lang="en-US" altLang="zh-CN"/>
              <a:t>7174</a:t>
            </a:r>
            <a:r>
              <a:rPr lang="zh-CN" altLang="en-US"/>
              <a:t>）占用了</a:t>
            </a:r>
            <a:endParaRPr lang="zh-CN" altLang="en-US"/>
          </a:p>
          <a:p>
            <a:r>
              <a:rPr lang="zh-CN" altLang="en-US"/>
              <a:t>其中，</a:t>
            </a:r>
            <a:r>
              <a:rPr lang="en-US" altLang="zh-CN"/>
              <a:t>0.0.0.0:6000</a:t>
            </a:r>
            <a:r>
              <a:rPr lang="zh-CN" altLang="en-US"/>
              <a:t>，表示端口绑定在</a:t>
            </a:r>
            <a:r>
              <a:rPr lang="en-US" altLang="zh-CN"/>
              <a:t>0.0.0.0</a:t>
            </a:r>
            <a:r>
              <a:rPr lang="zh-CN" altLang="en-US"/>
              <a:t>这个</a:t>
            </a:r>
            <a:r>
              <a:rPr lang="en-US" altLang="zh-CN"/>
              <a:t>IP</a:t>
            </a:r>
            <a:r>
              <a:rPr lang="zh-CN" altLang="en-US"/>
              <a:t>地址上，表示允许外部</a:t>
            </a:r>
            <a:r>
              <a:rPr lang="zh-CN" altLang="en-US"/>
              <a:t>访问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可以看到，当前系统</a:t>
            </a:r>
            <a:r>
              <a:rPr lang="en-US" altLang="zh-CN"/>
              <a:t>12345</a:t>
            </a:r>
            <a:r>
              <a:rPr lang="zh-CN" altLang="en-US"/>
              <a:t>端口，无人使用</a:t>
            </a:r>
            <a:r>
              <a:rPr lang="zh-CN" altLang="en-US"/>
              <a:t>哦。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165" y="2540000"/>
            <a:ext cx="8237220" cy="6400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65" y="4557395"/>
            <a:ext cx="3931920" cy="464820"/>
          </a:xfrm>
          <a:prstGeom prst="rect">
            <a:avLst/>
          </a:prstGeom>
        </p:spPr>
      </p:pic>
      <p:pic>
        <p:nvPicPr>
          <p:cNvPr id="14" name="图片 13" descr="01 (99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170" y="5368290"/>
            <a:ext cx="1489710" cy="148971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689090" cy="4511040"/>
          </a:xfrm>
        </p:spPr>
        <p:txBody>
          <a:bodyPr/>
          <a:p>
            <a:pPr marL="0" indent="0">
              <a:lnSpc>
                <a:spcPct val="180000"/>
              </a:lnSpc>
              <a:buNone/>
            </a:pPr>
            <a:r>
              <a:rPr lang="en-US"/>
              <a:t>1. </a:t>
            </a:r>
            <a:r>
              <a:rPr lang="zh-CN" altLang="en-US"/>
              <a:t>什么是端口？</a:t>
            </a:r>
            <a:endParaRPr lang="zh-CN" altLang="en-US"/>
          </a:p>
          <a:p>
            <a:pPr marL="0" indent="0">
              <a:lnSpc>
                <a:spcPct val="180000"/>
              </a:lnSpc>
              <a:buNone/>
            </a:pPr>
            <a:r>
              <a:rPr lang="zh-CN" altLang="en-US" sz="1400"/>
              <a:t>端口是指计算机和外部交互的出入口，可以分为物理端口和虚拟</a:t>
            </a:r>
            <a:r>
              <a:rPr lang="zh-CN" altLang="en-US" sz="1400"/>
              <a:t>端口</a:t>
            </a:r>
            <a:endParaRPr lang="zh-CN" altLang="en-US" sz="1400"/>
          </a:p>
          <a:p>
            <a:pPr marL="285750" indent="-285750" algn="l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物理端口：</a:t>
            </a:r>
            <a:r>
              <a:rPr lang="en-US" altLang="zh-CN" sz="1400"/>
              <a:t>USB</a:t>
            </a:r>
            <a:r>
              <a:rPr lang="zh-CN" altLang="en-US" sz="1400"/>
              <a:t>、</a:t>
            </a:r>
            <a:r>
              <a:rPr lang="en-US" altLang="zh-CN" sz="1400"/>
              <a:t>HDMI</a:t>
            </a:r>
            <a:r>
              <a:rPr lang="zh-CN" altLang="en-US" sz="1400"/>
              <a:t>、</a:t>
            </a:r>
            <a:r>
              <a:rPr lang="en-US" altLang="zh-CN" sz="1400"/>
              <a:t>DP</a:t>
            </a:r>
            <a:r>
              <a:rPr lang="zh-CN" altLang="en-US" sz="1400"/>
              <a:t>、</a:t>
            </a:r>
            <a:r>
              <a:rPr lang="en-US" altLang="zh-CN" sz="1400"/>
              <a:t>VGA</a:t>
            </a:r>
            <a:r>
              <a:rPr lang="zh-CN" altLang="en-US" sz="1400"/>
              <a:t>、</a:t>
            </a:r>
            <a:r>
              <a:rPr lang="en-US" altLang="zh-CN" sz="1400"/>
              <a:t>RJ45</a:t>
            </a:r>
            <a:r>
              <a:rPr lang="zh-CN" altLang="en-US" sz="1400"/>
              <a:t>等</a:t>
            </a:r>
            <a:endParaRPr lang="zh-CN" altLang="en-US" sz="1400"/>
          </a:p>
          <a:p>
            <a:pPr marL="285750" indent="-285750" algn="l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虚拟端口：操作系统和外部交互的</a:t>
            </a:r>
            <a:r>
              <a:rPr lang="zh-CN" altLang="en-US" sz="1400"/>
              <a:t>出入口</a:t>
            </a:r>
            <a:endParaRPr lang="zh-CN" altLang="en-US" sz="1400"/>
          </a:p>
          <a:p>
            <a:pPr marL="0" indent="0" algn="l"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en-US" altLang="zh-CN" sz="1400"/>
              <a:t>IP</a:t>
            </a:r>
            <a:r>
              <a:rPr lang="zh-CN" altLang="en-US" sz="1400"/>
              <a:t>只能确定计算机，通过端口才能锁定要交互的程序</a:t>
            </a:r>
            <a:endParaRPr lang="zh-CN" altLang="en-US" sz="1400"/>
          </a:p>
          <a:p>
            <a:pPr marL="0" indent="0" algn="l"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en-US" altLang="zh-CN"/>
              <a:t>2. </a:t>
            </a:r>
            <a:r>
              <a:rPr lang="zh-CN" altLang="en-US"/>
              <a:t>端口的划分</a:t>
            </a:r>
            <a:endParaRPr lang="zh-CN" altLang="en-US"/>
          </a:p>
          <a:p>
            <a:pPr marL="285750" indent="-285750" algn="l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公认端口：</a:t>
            </a:r>
            <a:r>
              <a:rPr lang="en-US" altLang="zh-CN" sz="1400"/>
              <a:t>1~1023</a:t>
            </a:r>
            <a:r>
              <a:rPr lang="zh-CN" altLang="en-US" sz="1400"/>
              <a:t>，用于系统内置或常用知名软件绑定</a:t>
            </a:r>
            <a:r>
              <a:rPr lang="zh-CN" altLang="en-US" sz="1400"/>
              <a:t>使用</a:t>
            </a:r>
            <a:endParaRPr lang="zh-CN" altLang="en-US" sz="1400"/>
          </a:p>
          <a:p>
            <a:pPr marL="285750" indent="-285750" algn="l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注册端口：</a:t>
            </a:r>
            <a:r>
              <a:rPr lang="en-US" altLang="zh-CN" sz="1400"/>
              <a:t>1024~49151</a:t>
            </a:r>
            <a:r>
              <a:rPr lang="zh-CN" altLang="en-US" sz="1400"/>
              <a:t>，用于松散绑定使用（用户自</a:t>
            </a:r>
            <a:r>
              <a:rPr lang="zh-CN" altLang="en-US" sz="1400"/>
              <a:t>定义）</a:t>
            </a:r>
            <a:endParaRPr lang="zh-CN" altLang="en-US" sz="1400"/>
          </a:p>
          <a:p>
            <a:pPr marL="285750" indent="-285750" algn="l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动态端口：</a:t>
            </a:r>
            <a:r>
              <a:rPr lang="en-US" altLang="zh-CN" sz="1400"/>
              <a:t>49152~65535</a:t>
            </a:r>
            <a:r>
              <a:rPr lang="zh-CN" altLang="en-US" sz="1400"/>
              <a:t>，用于临时使用（多用于</a:t>
            </a:r>
            <a:r>
              <a:rPr lang="zh-CN" altLang="en-US" sz="1400"/>
              <a:t>出口）</a:t>
            </a:r>
            <a:endParaRPr lang="zh-CN" altLang="en-US" sz="1400"/>
          </a:p>
          <a:p>
            <a:pPr marL="0" indent="0" algn="l"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en-US" altLang="zh-CN"/>
              <a:t>3. </a:t>
            </a:r>
            <a:r>
              <a:rPr lang="zh-CN" altLang="en-US"/>
              <a:t>查看端口占用</a:t>
            </a:r>
            <a:endParaRPr lang="zh-CN" altLang="en-US"/>
          </a:p>
          <a:p>
            <a:pPr marL="285750" indent="-285750" algn="l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zh-CN" sz="1400"/>
              <a:t>nmap IP</a:t>
            </a:r>
            <a:r>
              <a:rPr lang="zh-CN" altLang="en-US" sz="1400"/>
              <a:t>地址，查看指定</a:t>
            </a:r>
            <a:r>
              <a:rPr lang="en-US" altLang="zh-CN" sz="1400"/>
              <a:t>IP</a:t>
            </a:r>
            <a:r>
              <a:rPr lang="zh-CN" altLang="en-US" sz="1400"/>
              <a:t>的对外暴露</a:t>
            </a:r>
            <a:r>
              <a:rPr lang="zh-CN" altLang="en-US" sz="1400"/>
              <a:t>端口</a:t>
            </a:r>
            <a:endParaRPr lang="zh-CN" altLang="en-US" sz="1400"/>
          </a:p>
          <a:p>
            <a:pPr marL="285750" indent="-285750" algn="l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zh-CN" sz="1400"/>
              <a:t>netstat -anp | grep </a:t>
            </a:r>
            <a:r>
              <a:rPr lang="zh-CN" altLang="en-US" sz="1400"/>
              <a:t>端口号，查看</a:t>
            </a:r>
            <a:r>
              <a:rPr lang="zh-CN" altLang="en-US" sz="1400"/>
              <a:t>本机指定端口号的占用情况</a:t>
            </a:r>
            <a:endParaRPr lang="zh-CN" altLang="en-US" sz="14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675" y="679450"/>
            <a:ext cx="5973445" cy="5344160"/>
          </a:xfrm>
        </p:spPr>
        <p:txBody>
          <a:bodyPr/>
          <a:lstStyle/>
          <a:p>
            <a:pPr algn="l"/>
            <a:r>
              <a:rPr kumimoji="1" lang="zh-CN" altLang="en-US" sz="1600" dirty="0">
                <a:sym typeface="+mn-ea"/>
              </a:rPr>
              <a:t>各类小技巧（快捷键）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软件安装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systemctl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软连接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日期、时区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IP地址、主机名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网络传输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进程管理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主机状态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环境变量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上传、下载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压缩、解压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4022090"/>
            <a:ext cx="410210" cy="41021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694305" y="4084320"/>
            <a:ext cx="309880" cy="25273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618105"/>
          </a:xfrm>
        </p:spPr>
        <p:txBody>
          <a:bodyPr/>
          <a:p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掌握进程的概念</a:t>
            </a:r>
            <a:endParaRPr lang="zh-CN" altLang="en-US" sz="200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  <a:p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掌握如何查看进程、关闭进程</a:t>
            </a:r>
            <a:endParaRPr lang="zh-CN" altLang="en-US" sz="200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进程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程序运行在操作系统中，是被操作系统所管理的。</a:t>
            </a:r>
            <a:endParaRPr lang="zh-CN" altLang="en-US"/>
          </a:p>
          <a:p>
            <a:r>
              <a:rPr lang="zh-CN" altLang="en-US"/>
              <a:t>为管理运行的程序，每一个程序在运行的时候，便被操作系统注册为系统中的一个：进程</a:t>
            </a:r>
            <a:endParaRPr lang="zh-CN" altLang="en-US"/>
          </a:p>
          <a:p>
            <a:r>
              <a:rPr lang="zh-CN" altLang="en-US"/>
              <a:t>并会为每一个进程都分配一个独有的：进程</a:t>
            </a:r>
            <a:r>
              <a:rPr lang="en-US" altLang="zh-CN"/>
              <a:t>ID</a:t>
            </a:r>
            <a:r>
              <a:rPr lang="zh-CN" altLang="en-US"/>
              <a:t>（进程号）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27208"/>
          <a:stretch>
            <a:fillRect/>
          </a:stretch>
        </p:blipFill>
        <p:spPr>
          <a:xfrm>
            <a:off x="808990" y="3053080"/>
            <a:ext cx="4437380" cy="30060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r="1254"/>
          <a:stretch>
            <a:fillRect/>
          </a:stretch>
        </p:blipFill>
        <p:spPr>
          <a:xfrm>
            <a:off x="6426835" y="3302000"/>
            <a:ext cx="4400550" cy="25076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925320" y="6062345"/>
            <a:ext cx="2204720" cy="33718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Windows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系统任务管理器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738745" y="5809615"/>
            <a:ext cx="1776730" cy="33718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Linux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系统查看进程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pic>
        <p:nvPicPr>
          <p:cNvPr id="8" name="图片 7" descr="01 (108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2975" y="5431790"/>
            <a:ext cx="1180465" cy="118046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查看进程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可以通过</a:t>
            </a:r>
            <a:r>
              <a:rPr lang="en-US" altLang="zh-CN"/>
              <a:t>ps</a:t>
            </a:r>
            <a:r>
              <a:rPr lang="zh-CN" altLang="en-US"/>
              <a:t>命令查看</a:t>
            </a:r>
            <a:r>
              <a:rPr lang="en-US" altLang="zh-CN"/>
              <a:t>Linux</a:t>
            </a:r>
            <a:r>
              <a:rPr lang="zh-CN" altLang="en-US"/>
              <a:t>系统中的进程信息</a:t>
            </a:r>
            <a:endParaRPr lang="zh-CN" altLang="en-US"/>
          </a:p>
          <a:p>
            <a:r>
              <a:rPr lang="zh-CN" altLang="en-US"/>
              <a:t>语法：</a:t>
            </a:r>
            <a:endParaRPr lang="zh-CN" altLang="en-US"/>
          </a:p>
          <a:p>
            <a:r>
              <a:rPr lang="zh-CN" altLang="en-US"/>
              <a:t>选项：</a:t>
            </a:r>
            <a:r>
              <a:rPr lang="en-US" altLang="zh-CN"/>
              <a:t>-e</a:t>
            </a:r>
            <a:r>
              <a:rPr lang="zh-CN" altLang="en-US"/>
              <a:t>，显示出全部的进程</a:t>
            </a:r>
            <a:endParaRPr lang="zh-CN" altLang="en-US"/>
          </a:p>
          <a:p>
            <a:r>
              <a:rPr lang="zh-CN" altLang="en-US"/>
              <a:t>选项：</a:t>
            </a:r>
            <a:r>
              <a:rPr lang="en-US" altLang="zh-CN"/>
              <a:t>-f</a:t>
            </a:r>
            <a:r>
              <a:rPr lang="zh-CN" altLang="en-US"/>
              <a:t>，以完全格式化的形式展示信息（展示全部信息）</a:t>
            </a:r>
            <a:endParaRPr lang="zh-CN" altLang="en-US"/>
          </a:p>
          <a:p>
            <a:r>
              <a:rPr lang="zh-CN" altLang="en-US"/>
              <a:t>一般来说，固定用法就是：</a:t>
            </a:r>
            <a:r>
              <a:rPr lang="en-US" altLang="zh-CN"/>
              <a:t> ps -ef </a:t>
            </a:r>
            <a:r>
              <a:rPr lang="zh-CN" altLang="en-US"/>
              <a:t>列出全部进程的全部信息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1450" y="2178050"/>
            <a:ext cx="1165860" cy="3124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r="1254"/>
          <a:stretch>
            <a:fillRect/>
          </a:stretch>
        </p:blipFill>
        <p:spPr>
          <a:xfrm>
            <a:off x="783590" y="3786505"/>
            <a:ext cx="4400550" cy="25076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309870" y="4054475"/>
            <a:ext cx="5304155" cy="230695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从左到右分别是：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UID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：进程所属的用户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ID</a:t>
            </a:r>
            <a:endParaRPr lang="en-US" altLang="zh-CN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PID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：进程的进程号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ID</a:t>
            </a:r>
            <a:endParaRPr lang="en-US" altLang="zh-CN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PPID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：进程的父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ID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（启动此进程的其它进程）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：此进程的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CPU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占用率（百分比）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STIME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：进程的启动时间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TTY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：启动此进程的终端序号，如显示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?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，表示非终端启动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TIME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：进程占用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CPU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的时间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CMD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：进程对应的名称或启动路径或启动命令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pic>
        <p:nvPicPr>
          <p:cNvPr id="7" name="图片 6" descr="01 (10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4705" y="5180965"/>
            <a:ext cx="1433195" cy="1433195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查看指定进程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</a:t>
            </a:r>
            <a:r>
              <a:rPr lang="en-US" altLang="zh-CN"/>
              <a:t>FinalShell</a:t>
            </a:r>
            <a:r>
              <a:rPr lang="zh-CN" altLang="en-US"/>
              <a:t>中，执行命令：</a:t>
            </a:r>
            <a:r>
              <a:rPr lang="en-US" altLang="zh-CN"/>
              <a:t>tail</a:t>
            </a:r>
            <a:r>
              <a:rPr lang="zh-CN" altLang="en-US"/>
              <a:t>，可以看到，此命令一直阻塞在那里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</a:t>
            </a:r>
            <a:r>
              <a:rPr lang="en-US" altLang="zh-CN"/>
              <a:t>FinalShell</a:t>
            </a:r>
            <a:r>
              <a:rPr lang="zh-CN" altLang="en-US"/>
              <a:t>中，复制一个标签页，执行：</a:t>
            </a:r>
            <a:r>
              <a:rPr lang="en-US" altLang="zh-CN"/>
              <a:t>ps -ef </a:t>
            </a:r>
            <a:r>
              <a:rPr lang="zh-CN" altLang="en-US"/>
              <a:t>找出</a:t>
            </a:r>
            <a:r>
              <a:rPr lang="en-US" altLang="zh-CN"/>
              <a:t>tail</a:t>
            </a:r>
            <a:r>
              <a:rPr lang="zh-CN" altLang="en-US"/>
              <a:t>这个程序的进程信息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问题：是否会发现，列出的信息太多，无法准确的找到或很麻烦怎么办？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我们可以使用管道符配合</a:t>
            </a:r>
            <a:r>
              <a:rPr lang="en-US" altLang="zh-CN"/>
              <a:t>grep</a:t>
            </a:r>
            <a:r>
              <a:rPr lang="zh-CN" altLang="en-US"/>
              <a:t>来进行过滤，如：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ps -ef | grep tail</a:t>
            </a:r>
            <a:r>
              <a:rPr lang="zh-CN" altLang="en-US"/>
              <a:t>，即可准确的找到</a:t>
            </a:r>
            <a:r>
              <a:rPr lang="en-US" altLang="zh-CN"/>
              <a:t>tail</a:t>
            </a:r>
            <a:r>
              <a:rPr lang="zh-CN" altLang="en-US"/>
              <a:t>命令的信息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过滤不仅仅过滤名称，进程号，用户</a:t>
            </a:r>
            <a:r>
              <a:rPr lang="en-US" altLang="zh-CN"/>
              <a:t>ID</a:t>
            </a:r>
            <a:r>
              <a:rPr lang="zh-CN" altLang="en-US"/>
              <a:t>等等，都可以被</a:t>
            </a:r>
            <a:r>
              <a:rPr lang="en-US" altLang="zh-CN"/>
              <a:t>grep</a:t>
            </a:r>
            <a:r>
              <a:rPr lang="zh-CN" altLang="en-US"/>
              <a:t>过滤哦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如：</a:t>
            </a:r>
            <a:r>
              <a:rPr lang="en-US" altLang="zh-CN"/>
              <a:t>ps -ef | grep 30001</a:t>
            </a:r>
            <a:r>
              <a:rPr lang="zh-CN" altLang="en-US"/>
              <a:t>，过滤带有</a:t>
            </a:r>
            <a:r>
              <a:rPr lang="en-US" altLang="zh-CN"/>
              <a:t>30001</a:t>
            </a:r>
            <a:r>
              <a:rPr lang="zh-CN" altLang="en-US"/>
              <a:t>关键字的进程信息（一般指代过滤</a:t>
            </a:r>
            <a:r>
              <a:rPr lang="en-US" altLang="zh-CN"/>
              <a:t>30001</a:t>
            </a:r>
            <a:r>
              <a:rPr lang="zh-CN" altLang="en-US"/>
              <a:t>进程号）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005" y="4200525"/>
            <a:ext cx="6896100" cy="632460"/>
          </a:xfrm>
          <a:prstGeom prst="rect">
            <a:avLst/>
          </a:prstGeom>
        </p:spPr>
      </p:pic>
      <p:pic>
        <p:nvPicPr>
          <p:cNvPr id="5" name="图片 4" descr="01 (11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4830" y="5044440"/>
            <a:ext cx="1599565" cy="159956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关闭进程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在</a:t>
            </a:r>
            <a:r>
              <a:rPr lang="en-US" altLang="zh-CN"/>
              <a:t>Windows</a:t>
            </a:r>
            <a:r>
              <a:rPr lang="zh-CN" altLang="en-US"/>
              <a:t>系统中，可以通过任务管理器选择进程后，点击结束进程从而关闭它。</a:t>
            </a:r>
            <a:endParaRPr lang="zh-CN" altLang="en-US"/>
          </a:p>
          <a:p>
            <a:r>
              <a:rPr lang="zh-CN" altLang="en-US"/>
              <a:t>同样，在</a:t>
            </a:r>
            <a:r>
              <a:rPr lang="en-US" altLang="zh-CN"/>
              <a:t>Linux</a:t>
            </a:r>
            <a:r>
              <a:rPr lang="zh-CN" altLang="en-US"/>
              <a:t>中，可以通过</a:t>
            </a:r>
            <a:r>
              <a:rPr lang="en-US" altLang="zh-CN"/>
              <a:t>kill</a:t>
            </a:r>
            <a:r>
              <a:rPr lang="zh-CN" altLang="en-US"/>
              <a:t>命令关闭进程。</a:t>
            </a:r>
            <a:endParaRPr lang="zh-CN" altLang="en-US"/>
          </a:p>
          <a:p>
            <a:r>
              <a:rPr lang="zh-CN" altLang="en-US"/>
              <a:t>语法：</a:t>
            </a:r>
            <a:endParaRPr lang="zh-CN" altLang="en-US"/>
          </a:p>
          <a:p>
            <a:r>
              <a:rPr lang="zh-CN" altLang="en-US"/>
              <a:t>选项：</a:t>
            </a:r>
            <a:r>
              <a:rPr lang="en-US" altLang="zh-CN"/>
              <a:t>-9</a:t>
            </a:r>
            <a:r>
              <a:rPr lang="zh-CN" altLang="en-US"/>
              <a:t>，表示强制关闭进程。不使用此选项会向进程发送信号要求其关闭，但是否关闭看进程自身的处理机制。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8905" y="2599055"/>
            <a:ext cx="1813560" cy="3124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0" y="3322320"/>
            <a:ext cx="6888480" cy="6629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250" y="3432810"/>
            <a:ext cx="2331720" cy="4419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4336415"/>
            <a:ext cx="6896100" cy="8382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9250" y="4557395"/>
            <a:ext cx="2301240" cy="396240"/>
          </a:xfrm>
          <a:prstGeom prst="rect">
            <a:avLst/>
          </a:prstGeom>
        </p:spPr>
      </p:pic>
      <p:pic>
        <p:nvPicPr>
          <p:cNvPr id="9" name="图片 8" descr="01 (144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4525" y="5097145"/>
            <a:ext cx="1560830" cy="156083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689090" cy="4511040"/>
          </a:xfrm>
        </p:spPr>
        <p:txBody>
          <a:bodyPr/>
          <a:p>
            <a:pPr marL="0" indent="0">
              <a:lnSpc>
                <a:spcPct val="180000"/>
              </a:lnSpc>
              <a:buNone/>
            </a:pPr>
            <a:r>
              <a:rPr lang="en-US"/>
              <a:t>1. </a:t>
            </a:r>
            <a:r>
              <a:rPr lang="zh-CN" altLang="en-US"/>
              <a:t>什么是进程？</a:t>
            </a:r>
            <a:endParaRPr lang="zh-CN" altLang="en-US"/>
          </a:p>
          <a:p>
            <a:pPr marL="0" indent="0" algn="l"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zh-CN" sz="1400"/>
              <a:t>进程是指程序在操作系统内运行后被注册为系统内的一个进程，并拥有独立的进程</a:t>
            </a:r>
            <a:r>
              <a:rPr lang="en-US" altLang="zh-CN" sz="1400"/>
              <a:t>ID</a:t>
            </a:r>
            <a:r>
              <a:rPr lang="zh-CN" altLang="en-US" sz="1400"/>
              <a:t>（进程号）</a:t>
            </a:r>
            <a:endParaRPr lang="zh-CN" sz="1400"/>
          </a:p>
          <a:p>
            <a:pPr marL="0" indent="0" algn="l"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en-US" altLang="zh-CN"/>
              <a:t>2. </a:t>
            </a:r>
            <a:r>
              <a:rPr lang="zh-CN" altLang="en-US"/>
              <a:t>管理进程的命令</a:t>
            </a:r>
            <a:endParaRPr lang="zh-CN" altLang="en-US"/>
          </a:p>
          <a:p>
            <a:pPr marL="285750" indent="-285750" algn="l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zh-CN" sz="1400"/>
              <a:t>ps -ef </a:t>
            </a:r>
            <a:r>
              <a:rPr lang="zh-CN" altLang="en-US" sz="1400"/>
              <a:t>查看进程信息</a:t>
            </a:r>
            <a:endParaRPr lang="zh-CN" altLang="en-US" sz="1400"/>
          </a:p>
          <a:p>
            <a:pPr marL="285750" indent="-285750" algn="l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zh-CN" sz="1400"/>
              <a:t>ps -ef | grep </a:t>
            </a:r>
            <a:r>
              <a:rPr lang="zh-CN" altLang="en-US" sz="1400"/>
              <a:t>关键字</a:t>
            </a:r>
            <a:r>
              <a:rPr lang="en-US" altLang="zh-CN" sz="1400"/>
              <a:t> </a:t>
            </a:r>
            <a:r>
              <a:rPr lang="zh-CN" altLang="en-US" sz="1400"/>
              <a:t>过滤指定关键字进程信息</a:t>
            </a:r>
            <a:endParaRPr lang="zh-CN" altLang="en-US" sz="1400"/>
          </a:p>
          <a:p>
            <a:pPr marL="285750" indent="-285750" algn="l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altLang="zh-CN" sz="1400"/>
              <a:t>kill [-9] </a:t>
            </a:r>
            <a:r>
              <a:rPr lang="zh-CN" altLang="en-US" sz="1400"/>
              <a:t>进程号</a:t>
            </a:r>
            <a:r>
              <a:rPr lang="en-US" altLang="zh-CN" sz="1400"/>
              <a:t> </a:t>
            </a:r>
            <a:r>
              <a:rPr lang="zh-CN" altLang="en-US" sz="1400"/>
              <a:t>关闭指定进程号的进程</a:t>
            </a:r>
            <a:endParaRPr lang="zh-CN" altLang="en-US" sz="14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675" y="679450"/>
            <a:ext cx="5973445" cy="5344160"/>
          </a:xfrm>
        </p:spPr>
        <p:txBody>
          <a:bodyPr/>
          <a:lstStyle/>
          <a:p>
            <a:pPr algn="l"/>
            <a:r>
              <a:rPr kumimoji="1" lang="zh-CN" altLang="en-US" sz="1600" dirty="0">
                <a:sym typeface="+mn-ea"/>
              </a:rPr>
              <a:t>各类小技巧（快捷键）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软件安装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systemctl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软连接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日期、时区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IP地址、主机名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网络传输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进程管理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主机状态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环境变量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上传、下载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压缩、解压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4551680"/>
            <a:ext cx="410210" cy="41021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694305" y="4084320"/>
            <a:ext cx="309880" cy="25273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41285" y="6878320"/>
            <a:ext cx="309880" cy="25273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618105"/>
          </a:xfrm>
        </p:spPr>
        <p:txBody>
          <a:bodyPr/>
          <a:p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掌握查看主机运行状态的监控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命令</a:t>
            </a:r>
            <a:endParaRPr lang="zh-CN" altLang="en-US" sz="200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查看</a:t>
            </a:r>
            <a:r>
              <a:t>系统</a:t>
            </a:r>
            <a:r>
              <a:t>资源占用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可以通过</a:t>
            </a:r>
            <a:r>
              <a:rPr lang="en-US" altLang="zh-CN"/>
              <a:t>top</a:t>
            </a:r>
            <a:r>
              <a:rPr lang="zh-CN" altLang="en-US"/>
              <a:t>命令查看</a:t>
            </a:r>
            <a:r>
              <a:rPr lang="en-US" altLang="zh-CN"/>
              <a:t>CPU</a:t>
            </a:r>
            <a:r>
              <a:rPr lang="zh-CN" altLang="en-US"/>
              <a:t>、内存使用情况，类似</a:t>
            </a:r>
            <a:r>
              <a:rPr lang="en-US" altLang="zh-CN"/>
              <a:t>Windows</a:t>
            </a:r>
            <a:r>
              <a:rPr lang="zh-CN" altLang="en-US"/>
              <a:t>的</a:t>
            </a:r>
            <a:r>
              <a:rPr lang="zh-CN" altLang="en-US"/>
              <a:t>任务管理器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     </a:t>
            </a:r>
            <a:r>
              <a:rPr lang="zh-CN" altLang="en-US"/>
              <a:t>默认</a:t>
            </a:r>
            <a:r>
              <a:rPr lang="zh-CN" altLang="en-US">
                <a:solidFill>
                  <a:srgbClr val="FF0000"/>
                </a:solidFill>
              </a:rPr>
              <a:t>每</a:t>
            </a:r>
            <a:r>
              <a:rPr lang="en-US" altLang="zh-CN">
                <a:solidFill>
                  <a:srgbClr val="FF0000"/>
                </a:solidFill>
              </a:rPr>
              <a:t>5</a:t>
            </a:r>
            <a:r>
              <a:rPr lang="zh-CN" altLang="en-US">
                <a:solidFill>
                  <a:srgbClr val="FF0000"/>
                </a:solidFill>
              </a:rPr>
              <a:t>秒刷新</a:t>
            </a:r>
            <a:r>
              <a:rPr lang="zh-CN" altLang="en-US"/>
              <a:t>一次，语法：</a:t>
            </a:r>
            <a:r>
              <a:rPr lang="zh-CN" altLang="en-US">
                <a:solidFill>
                  <a:srgbClr val="FF0000"/>
                </a:solidFill>
              </a:rPr>
              <a:t>直接输入</a:t>
            </a:r>
            <a:r>
              <a:rPr lang="en-US" altLang="zh-CN">
                <a:solidFill>
                  <a:srgbClr val="FF0000"/>
                </a:solidFill>
              </a:rPr>
              <a:t>top</a:t>
            </a:r>
            <a:r>
              <a:rPr lang="zh-CN" altLang="en-US">
                <a:solidFill>
                  <a:srgbClr val="FF0000"/>
                </a:solidFill>
              </a:rPr>
              <a:t>即可，按</a:t>
            </a:r>
            <a:r>
              <a:rPr lang="en-US" altLang="zh-CN">
                <a:solidFill>
                  <a:srgbClr val="FF0000"/>
                </a:solidFill>
              </a:rPr>
              <a:t>q</a:t>
            </a:r>
            <a:r>
              <a:rPr lang="zh-CN" altLang="en-US">
                <a:solidFill>
                  <a:srgbClr val="FF0000"/>
                </a:solidFill>
              </a:rPr>
              <a:t>或</a:t>
            </a:r>
            <a:r>
              <a:rPr lang="en-US" altLang="zh-CN">
                <a:solidFill>
                  <a:srgbClr val="FF0000"/>
                </a:solidFill>
              </a:rPr>
              <a:t>ctrl + c</a:t>
            </a:r>
            <a:r>
              <a:rPr lang="zh-CN" altLang="en-US">
                <a:solidFill>
                  <a:srgbClr val="FF0000"/>
                </a:solidFill>
              </a:rPr>
              <a:t>退出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r="21438"/>
          <a:stretch>
            <a:fillRect/>
          </a:stretch>
        </p:blipFill>
        <p:spPr>
          <a:xfrm>
            <a:off x="1068070" y="2472055"/>
            <a:ext cx="7954645" cy="4184015"/>
          </a:xfrm>
          <a:prstGeom prst="rect">
            <a:avLst/>
          </a:prstGeom>
        </p:spPr>
      </p:pic>
      <p:pic>
        <p:nvPicPr>
          <p:cNvPr id="7" name="图片 6" descr="01 (5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8105" y="4989195"/>
            <a:ext cx="1953895" cy="1953895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top</a:t>
            </a:r>
            <a:r>
              <a:t>命令内容</a:t>
            </a:r>
            <a:r>
              <a:t>详解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第一行：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 sz="1200"/>
              <a:t>top</a:t>
            </a:r>
            <a:r>
              <a:rPr lang="zh-CN" altLang="en-US" sz="1200"/>
              <a:t>：命令名称，</a:t>
            </a:r>
            <a:r>
              <a:rPr lang="en-US" altLang="zh-CN" sz="1200"/>
              <a:t>14:39:58</a:t>
            </a:r>
            <a:r>
              <a:rPr lang="zh-CN" altLang="en-US" sz="1200"/>
              <a:t>：当前系统时间，</a:t>
            </a:r>
            <a:r>
              <a:rPr lang="en-US" altLang="zh-CN" sz="1200"/>
              <a:t>up 6 min</a:t>
            </a:r>
            <a:r>
              <a:rPr lang="zh-CN" altLang="en-US" sz="1200"/>
              <a:t>：启动了</a:t>
            </a:r>
            <a:r>
              <a:rPr lang="en-US" altLang="zh-CN" sz="1200"/>
              <a:t>6</a:t>
            </a:r>
            <a:r>
              <a:rPr lang="zh-CN" altLang="en-US" sz="1200"/>
              <a:t>分钟，</a:t>
            </a:r>
            <a:r>
              <a:rPr lang="en-US" altLang="zh-CN" sz="1200"/>
              <a:t>2 users</a:t>
            </a:r>
            <a:r>
              <a:rPr lang="zh-CN" altLang="en-US" sz="1200"/>
              <a:t>：</a:t>
            </a:r>
            <a:r>
              <a:rPr lang="en-US" altLang="zh-CN" sz="1200"/>
              <a:t>2</a:t>
            </a:r>
            <a:r>
              <a:rPr lang="zh-CN" altLang="en-US" sz="1200"/>
              <a:t>个用户登录，</a:t>
            </a:r>
            <a:r>
              <a:rPr lang="en-US" altLang="zh-CN" sz="1200"/>
              <a:t>load</a:t>
            </a:r>
            <a:r>
              <a:rPr lang="zh-CN" altLang="en-US" sz="1200"/>
              <a:t>：</a:t>
            </a:r>
            <a:r>
              <a:rPr lang="en-US" altLang="zh-CN" sz="1200"/>
              <a:t>1</a:t>
            </a:r>
            <a:r>
              <a:rPr lang="zh-CN" altLang="en-US" sz="1200"/>
              <a:t>、</a:t>
            </a:r>
            <a:r>
              <a:rPr lang="en-US" altLang="zh-CN" sz="1200"/>
              <a:t>5</a:t>
            </a:r>
            <a:r>
              <a:rPr lang="zh-CN" altLang="en-US" sz="1200"/>
              <a:t>、</a:t>
            </a:r>
            <a:r>
              <a:rPr lang="en-US" altLang="zh-CN" sz="1200"/>
              <a:t>15</a:t>
            </a:r>
            <a:r>
              <a:rPr lang="zh-CN" altLang="en-US" sz="1200"/>
              <a:t>分钟负载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第二行：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 sz="1200"/>
              <a:t>Tasks</a:t>
            </a:r>
            <a:r>
              <a:rPr lang="zh-CN" altLang="en-US" sz="1200"/>
              <a:t>：</a:t>
            </a:r>
            <a:r>
              <a:rPr lang="en-US" altLang="zh-CN" sz="1200"/>
              <a:t>175</a:t>
            </a:r>
            <a:r>
              <a:rPr lang="zh-CN" altLang="en-US" sz="1200"/>
              <a:t>个进程，</a:t>
            </a:r>
            <a:r>
              <a:rPr lang="en-US" altLang="zh-CN" sz="1200"/>
              <a:t>1 running</a:t>
            </a:r>
            <a:r>
              <a:rPr lang="zh-CN" altLang="en-US" sz="1200"/>
              <a:t>：</a:t>
            </a:r>
            <a:r>
              <a:rPr lang="en-US" altLang="zh-CN" sz="1200"/>
              <a:t>1</a:t>
            </a:r>
            <a:r>
              <a:rPr lang="zh-CN" altLang="en-US" sz="1200"/>
              <a:t>个进程子在运行，</a:t>
            </a:r>
            <a:r>
              <a:rPr lang="en-US" altLang="zh-CN" sz="1200"/>
              <a:t>174 sleeping</a:t>
            </a:r>
            <a:r>
              <a:rPr lang="zh-CN" altLang="en-US" sz="1200"/>
              <a:t>：</a:t>
            </a:r>
            <a:r>
              <a:rPr lang="en-US" altLang="zh-CN" sz="1200"/>
              <a:t>174</a:t>
            </a:r>
            <a:r>
              <a:rPr lang="zh-CN" altLang="en-US" sz="1200"/>
              <a:t>个进程睡眠，</a:t>
            </a:r>
            <a:r>
              <a:rPr lang="en-US" altLang="zh-CN" sz="1200"/>
              <a:t>0</a:t>
            </a:r>
            <a:r>
              <a:rPr lang="zh-CN" altLang="en-US" sz="1200"/>
              <a:t>个停止进程，</a:t>
            </a:r>
            <a:r>
              <a:rPr lang="en-US" altLang="zh-CN" sz="1200"/>
              <a:t>0</a:t>
            </a:r>
            <a:r>
              <a:rPr lang="zh-CN" altLang="en-US" sz="1200"/>
              <a:t>个僵尸进程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第三行：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 sz="1200"/>
              <a:t>%Cpu(s)</a:t>
            </a:r>
            <a:r>
              <a:rPr lang="zh-CN" altLang="en-US" sz="1200"/>
              <a:t>：</a:t>
            </a:r>
            <a:r>
              <a:rPr lang="en-US" altLang="zh-CN" sz="1200"/>
              <a:t>CPU</a:t>
            </a:r>
            <a:r>
              <a:rPr lang="zh-CN" altLang="en-US" sz="1200"/>
              <a:t>使用率，</a:t>
            </a:r>
            <a:r>
              <a:rPr lang="en-US" altLang="zh-CN" sz="1200"/>
              <a:t>us</a:t>
            </a:r>
            <a:r>
              <a:rPr lang="zh-CN" altLang="en-US" sz="1200"/>
              <a:t>：用户</a:t>
            </a:r>
            <a:r>
              <a:rPr lang="en-US" altLang="zh-CN" sz="1200"/>
              <a:t>CPU</a:t>
            </a:r>
            <a:r>
              <a:rPr lang="zh-CN" altLang="en-US" sz="1200"/>
              <a:t>使用率，</a:t>
            </a:r>
            <a:r>
              <a:rPr lang="en-US" altLang="zh-CN" sz="1200"/>
              <a:t>sy</a:t>
            </a:r>
            <a:r>
              <a:rPr lang="zh-CN" altLang="en-US" sz="1200"/>
              <a:t>：系统</a:t>
            </a:r>
            <a:r>
              <a:rPr lang="en-US" altLang="zh-CN" sz="1200"/>
              <a:t>CPU</a:t>
            </a:r>
            <a:r>
              <a:rPr lang="zh-CN" altLang="en-US" sz="1200"/>
              <a:t>使用率，</a:t>
            </a:r>
            <a:r>
              <a:rPr lang="en-US" altLang="zh-CN" sz="1200"/>
              <a:t>ni</a:t>
            </a:r>
            <a:r>
              <a:rPr lang="zh-CN" altLang="en-US" sz="1200"/>
              <a:t>：高优先级进程占用</a:t>
            </a:r>
            <a:r>
              <a:rPr lang="en-US" altLang="zh-CN" sz="1200"/>
              <a:t>CPU</a:t>
            </a:r>
            <a:r>
              <a:rPr lang="zh-CN" altLang="en-US" sz="1200"/>
              <a:t>时间百分比，</a:t>
            </a:r>
            <a:r>
              <a:rPr lang="en-US" altLang="zh-CN" sz="1200"/>
              <a:t>id</a:t>
            </a:r>
            <a:r>
              <a:rPr lang="zh-CN" altLang="en-US" sz="1200"/>
              <a:t>：空闲</a:t>
            </a:r>
            <a:r>
              <a:rPr lang="en-US" altLang="zh-CN" sz="1200"/>
              <a:t>CPU</a:t>
            </a:r>
            <a:r>
              <a:rPr lang="zh-CN" altLang="en-US" sz="1200"/>
              <a:t>率，</a:t>
            </a:r>
            <a:r>
              <a:rPr lang="en-US" altLang="zh-CN" sz="1200"/>
              <a:t>wa</a:t>
            </a:r>
            <a:r>
              <a:rPr lang="zh-CN" altLang="en-US" sz="1200"/>
              <a:t>：</a:t>
            </a:r>
            <a:r>
              <a:rPr lang="en-US" altLang="zh-CN" sz="1200"/>
              <a:t>IO</a:t>
            </a:r>
            <a:r>
              <a:rPr lang="zh-CN" altLang="en-US" sz="1200"/>
              <a:t>等待</a:t>
            </a:r>
            <a:r>
              <a:rPr lang="en-US" altLang="zh-CN" sz="1200"/>
              <a:t>CPU</a:t>
            </a:r>
            <a:r>
              <a:rPr lang="zh-CN" altLang="en-US" sz="1200"/>
              <a:t>占用率，</a:t>
            </a:r>
            <a:r>
              <a:rPr lang="en-US" altLang="zh-CN" sz="1200"/>
              <a:t>hi</a:t>
            </a:r>
            <a:r>
              <a:rPr lang="zh-CN" altLang="en-US" sz="1200"/>
              <a:t>：</a:t>
            </a:r>
            <a:r>
              <a:rPr lang="en-US" altLang="zh-CN" sz="1200"/>
              <a:t>CPU</a:t>
            </a:r>
            <a:r>
              <a:rPr lang="zh-CN" altLang="en-US" sz="1200"/>
              <a:t>硬件中断率，</a:t>
            </a:r>
            <a:r>
              <a:rPr lang="en-US" altLang="zh-CN" sz="1200"/>
              <a:t>si</a:t>
            </a:r>
            <a:r>
              <a:rPr lang="zh-CN" altLang="en-US" sz="1200"/>
              <a:t>：</a:t>
            </a:r>
            <a:r>
              <a:rPr lang="en-US" altLang="zh-CN" sz="1200"/>
              <a:t>CPU</a:t>
            </a:r>
            <a:r>
              <a:rPr lang="zh-CN" altLang="en-US" sz="1200"/>
              <a:t>软件中断率，</a:t>
            </a:r>
            <a:r>
              <a:rPr lang="en-US" altLang="zh-CN" sz="1200"/>
              <a:t>st</a:t>
            </a:r>
            <a:r>
              <a:rPr lang="zh-CN" altLang="en-US" sz="1200"/>
              <a:t>：强制等待占用</a:t>
            </a:r>
            <a:r>
              <a:rPr lang="en-US" altLang="zh-CN" sz="1200"/>
              <a:t>CPU</a:t>
            </a:r>
            <a:r>
              <a:rPr lang="zh-CN" altLang="en-US" sz="1200"/>
              <a:t>率</a:t>
            </a:r>
            <a:endParaRPr lang="zh-CN" altLang="en-US" sz="1200"/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/>
              <a:t>第四、五行：</a:t>
            </a:r>
            <a:endParaRPr lang="zh-CN" altLang="en-US" sz="1600"/>
          </a:p>
          <a:p>
            <a:pPr>
              <a:buFont typeface="Arial" panose="020B0604020202020204" pitchFamily="34" charset="0"/>
            </a:pPr>
            <a:r>
              <a:rPr lang="en-US" altLang="zh-CN" sz="1200"/>
              <a:t>Kib Mem</a:t>
            </a:r>
            <a:r>
              <a:rPr lang="zh-CN" altLang="en-US" sz="1200"/>
              <a:t>：物理内存，</a:t>
            </a:r>
            <a:r>
              <a:rPr lang="en-US" altLang="zh-CN" sz="1200"/>
              <a:t>total</a:t>
            </a:r>
            <a:r>
              <a:rPr lang="zh-CN" altLang="en-US" sz="1200"/>
              <a:t>：总量，</a:t>
            </a:r>
            <a:r>
              <a:rPr lang="en-US" altLang="zh-CN" sz="1200"/>
              <a:t>free</a:t>
            </a:r>
            <a:r>
              <a:rPr lang="zh-CN" altLang="en-US" sz="1200"/>
              <a:t>：空闲，</a:t>
            </a:r>
            <a:r>
              <a:rPr lang="en-US" altLang="zh-CN" sz="1200"/>
              <a:t>used</a:t>
            </a:r>
            <a:r>
              <a:rPr lang="zh-CN" altLang="en-US" sz="1200"/>
              <a:t>：使用，</a:t>
            </a:r>
            <a:r>
              <a:rPr lang="en-US" altLang="zh-CN" sz="1200"/>
              <a:t>buff/cache</a:t>
            </a:r>
            <a:r>
              <a:rPr lang="zh-CN" altLang="en-US" sz="1200"/>
              <a:t>：</a:t>
            </a:r>
            <a:r>
              <a:rPr lang="en-US" altLang="zh-CN" sz="1200"/>
              <a:t>buff</a:t>
            </a:r>
            <a:r>
              <a:rPr lang="zh-CN" altLang="en-US" sz="1200"/>
              <a:t>和</a:t>
            </a:r>
            <a:r>
              <a:rPr lang="en-US" altLang="zh-CN" sz="1200"/>
              <a:t>cache</a:t>
            </a:r>
            <a:r>
              <a:rPr lang="zh-CN" altLang="en-US" sz="1200"/>
              <a:t>占用</a:t>
            </a:r>
            <a:endParaRPr lang="zh-CN" altLang="en-US" sz="1200"/>
          </a:p>
          <a:p>
            <a:pPr>
              <a:buFont typeface="Arial" panose="020B0604020202020204" pitchFamily="34" charset="0"/>
            </a:pPr>
            <a:r>
              <a:rPr lang="en-US" altLang="zh-CN" sz="1200"/>
              <a:t>KibSwap</a:t>
            </a:r>
            <a:r>
              <a:rPr lang="zh-CN" altLang="en-US" sz="1200"/>
              <a:t>：虚拟内存（</a:t>
            </a:r>
            <a:r>
              <a:rPr lang="zh-CN" altLang="en-US" sz="1200"/>
              <a:t>交换空间），</a:t>
            </a:r>
            <a:r>
              <a:rPr lang="en-US" altLang="zh-CN" sz="1200">
                <a:sym typeface="+mn-ea"/>
              </a:rPr>
              <a:t>total</a:t>
            </a:r>
            <a:r>
              <a:rPr lang="zh-CN" altLang="en-US" sz="1200">
                <a:sym typeface="+mn-ea"/>
              </a:rPr>
              <a:t>：总量，</a:t>
            </a:r>
            <a:r>
              <a:rPr lang="en-US" altLang="zh-CN" sz="1200">
                <a:sym typeface="+mn-ea"/>
              </a:rPr>
              <a:t>free</a:t>
            </a:r>
            <a:r>
              <a:rPr lang="zh-CN" altLang="en-US" sz="1200">
                <a:sym typeface="+mn-ea"/>
              </a:rPr>
              <a:t>：空闲，</a:t>
            </a:r>
            <a:r>
              <a:rPr lang="en-US" altLang="zh-CN" sz="1200">
                <a:sym typeface="+mn-ea"/>
              </a:rPr>
              <a:t>used</a:t>
            </a:r>
            <a:r>
              <a:rPr lang="zh-CN" altLang="en-US" sz="1200">
                <a:sym typeface="+mn-ea"/>
              </a:rPr>
              <a:t>：使用，</a:t>
            </a:r>
            <a:r>
              <a:rPr lang="en-US" altLang="zh-CN" sz="1200">
                <a:sym typeface="+mn-ea"/>
              </a:rPr>
              <a:t>buff/cache</a:t>
            </a:r>
            <a:r>
              <a:rPr lang="zh-CN" altLang="en-US" sz="1200">
                <a:sym typeface="+mn-ea"/>
              </a:rPr>
              <a:t>：</a:t>
            </a:r>
            <a:r>
              <a:rPr lang="en-US" altLang="zh-CN" sz="1200">
                <a:sym typeface="+mn-ea"/>
              </a:rPr>
              <a:t>buff</a:t>
            </a:r>
            <a:r>
              <a:rPr lang="zh-CN" altLang="en-US" sz="1200">
                <a:sym typeface="+mn-ea"/>
              </a:rPr>
              <a:t>和</a:t>
            </a:r>
            <a:r>
              <a:rPr lang="en-US" altLang="zh-CN" sz="1200">
                <a:sym typeface="+mn-ea"/>
              </a:rPr>
              <a:t>cache</a:t>
            </a:r>
            <a:r>
              <a:rPr lang="zh-CN" altLang="en-US" sz="1200">
                <a:sym typeface="+mn-ea"/>
              </a:rPr>
              <a:t>占用</a:t>
            </a:r>
            <a:endParaRPr lang="zh-CN" altLang="en-US" sz="1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4045" y="1809115"/>
            <a:ext cx="6347460" cy="2057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045" y="2545715"/>
            <a:ext cx="6537960" cy="1981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045" y="3274695"/>
            <a:ext cx="7589520" cy="2133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960" y="4158615"/>
            <a:ext cx="6011545" cy="387985"/>
          </a:xfrm>
          <a:prstGeom prst="rect">
            <a:avLst/>
          </a:prstGeom>
        </p:spPr>
      </p:pic>
      <p:pic>
        <p:nvPicPr>
          <p:cNvPr id="8" name="图片 7" descr="01 (138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8010" y="5121910"/>
            <a:ext cx="1656080" cy="165608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top</a:t>
            </a:r>
            <a:r>
              <a:rPr>
                <a:sym typeface="+mn-ea"/>
              </a:rPr>
              <a:t>命令内容详解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PID</a:t>
            </a:r>
            <a:r>
              <a:rPr lang="zh-CN" altLang="en-US" sz="1200"/>
              <a:t>：进程</a:t>
            </a:r>
            <a:r>
              <a:rPr lang="en-US" altLang="zh-CN" sz="1200"/>
              <a:t>id</a:t>
            </a:r>
            <a:endParaRPr lang="en-US" altLang="zh-CN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USER</a:t>
            </a:r>
            <a:r>
              <a:rPr lang="zh-CN" altLang="en-US" sz="1200"/>
              <a:t>：进程所属用户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PR</a:t>
            </a:r>
            <a:r>
              <a:rPr lang="zh-CN" altLang="en-US" sz="1200"/>
              <a:t>：进程优先级，越小越高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NI</a:t>
            </a:r>
            <a:r>
              <a:rPr lang="zh-CN" altLang="en-US" sz="1200"/>
              <a:t>：负值表示高优先级，正表示低优先级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VIRT</a:t>
            </a:r>
            <a:r>
              <a:rPr lang="zh-CN" altLang="en-US" sz="1200"/>
              <a:t>：进程使用虚拟内存，单位</a:t>
            </a:r>
            <a:r>
              <a:rPr lang="en-US" altLang="zh-CN" sz="1200"/>
              <a:t>KB</a:t>
            </a:r>
            <a:endParaRPr lang="en-US" altLang="zh-CN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RES</a:t>
            </a:r>
            <a:r>
              <a:rPr lang="zh-CN" altLang="en-US" sz="1200"/>
              <a:t>：进程使用物理内存，单位</a:t>
            </a:r>
            <a:r>
              <a:rPr lang="en-US" altLang="zh-CN" sz="1200"/>
              <a:t>KB</a:t>
            </a:r>
            <a:endParaRPr lang="en-US" altLang="zh-CN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SHR</a:t>
            </a:r>
            <a:r>
              <a:rPr lang="zh-CN" altLang="en-US" sz="1200"/>
              <a:t>：进程使用共享内存，单位</a:t>
            </a:r>
            <a:r>
              <a:rPr lang="en-US" altLang="zh-CN" sz="1200"/>
              <a:t>KB</a:t>
            </a:r>
            <a:endParaRPr lang="en-US" altLang="zh-CN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S</a:t>
            </a:r>
            <a:r>
              <a:rPr lang="zh-CN" altLang="en-US" sz="1200"/>
              <a:t>：进程状态（</a:t>
            </a:r>
            <a:r>
              <a:rPr lang="en-US" altLang="zh-CN" sz="1200"/>
              <a:t>S</a:t>
            </a:r>
            <a:r>
              <a:rPr lang="zh-CN" altLang="en-US" sz="1200"/>
              <a:t>休眠，</a:t>
            </a:r>
            <a:r>
              <a:rPr lang="en-US" altLang="zh-CN" sz="1200"/>
              <a:t>R</a:t>
            </a:r>
            <a:r>
              <a:rPr lang="zh-CN" altLang="en-US" sz="1200"/>
              <a:t>运行，</a:t>
            </a:r>
            <a:r>
              <a:rPr lang="en-US" altLang="zh-CN" sz="1200"/>
              <a:t>Z</a:t>
            </a:r>
            <a:r>
              <a:rPr lang="zh-CN" altLang="en-US" sz="1200"/>
              <a:t>僵死状态，</a:t>
            </a:r>
            <a:r>
              <a:rPr lang="en-US" altLang="zh-CN" sz="1200"/>
              <a:t>N</a:t>
            </a:r>
            <a:r>
              <a:rPr lang="zh-CN" altLang="en-US" sz="1200"/>
              <a:t>负数优先级，</a:t>
            </a:r>
            <a:r>
              <a:rPr lang="en-US" altLang="zh-CN" sz="1200"/>
              <a:t>I</a:t>
            </a:r>
            <a:r>
              <a:rPr lang="zh-CN" altLang="en-US" sz="1200"/>
              <a:t>空闲状态）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%CPU</a:t>
            </a:r>
            <a:r>
              <a:rPr lang="zh-CN" altLang="en-US" sz="1200"/>
              <a:t>：进程占用</a:t>
            </a:r>
            <a:r>
              <a:rPr lang="en-US" altLang="zh-CN" sz="1200"/>
              <a:t>CPU</a:t>
            </a:r>
            <a:r>
              <a:rPr lang="zh-CN" altLang="en-US" sz="1200"/>
              <a:t>率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%MEM</a:t>
            </a:r>
            <a:r>
              <a:rPr lang="zh-CN" altLang="en-US" sz="1200"/>
              <a:t>：进程占用内存率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TIME+</a:t>
            </a:r>
            <a:r>
              <a:rPr lang="zh-CN" altLang="en-US" sz="1200"/>
              <a:t>：进程使用</a:t>
            </a:r>
            <a:r>
              <a:rPr lang="en-US" altLang="zh-CN" sz="1200"/>
              <a:t>CPU</a:t>
            </a:r>
            <a:r>
              <a:rPr lang="zh-CN" altLang="en-US" sz="1200"/>
              <a:t>时间总计，单位</a:t>
            </a:r>
            <a:r>
              <a:rPr lang="en-US" altLang="zh-CN" sz="1200"/>
              <a:t>10</a:t>
            </a:r>
            <a:r>
              <a:rPr lang="zh-CN" altLang="en-US" sz="1200"/>
              <a:t>毫秒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COMMAND</a:t>
            </a:r>
            <a:r>
              <a:rPr lang="zh-CN" altLang="en-US" sz="1200"/>
              <a:t>：进程的命令或名称或程序文件路径</a:t>
            </a:r>
            <a:endParaRPr lang="zh-CN" altLang="en-US" sz="1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1656080"/>
            <a:ext cx="7673340" cy="1143000"/>
          </a:xfrm>
          <a:prstGeom prst="rect">
            <a:avLst/>
          </a:prstGeom>
        </p:spPr>
      </p:pic>
      <p:pic>
        <p:nvPicPr>
          <p:cNvPr id="5" name="图片 4" descr="01 (119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045" y="5189220"/>
            <a:ext cx="1656080" cy="165608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top</a:t>
            </a:r>
            <a:r>
              <a:t>命令</a:t>
            </a:r>
            <a:r>
              <a:t>选项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top</a:t>
            </a:r>
            <a:r>
              <a:rPr lang="zh-CN" altLang="en-US"/>
              <a:t>命令也支持</a:t>
            </a:r>
            <a:r>
              <a:rPr lang="zh-CN" altLang="en-US"/>
              <a:t>选项：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465" y="2284095"/>
            <a:ext cx="9258300" cy="2964180"/>
          </a:xfrm>
          <a:prstGeom prst="rect">
            <a:avLst/>
          </a:prstGeom>
        </p:spPr>
      </p:pic>
      <p:pic>
        <p:nvPicPr>
          <p:cNvPr id="12" name="图片 11" descr="01 (135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6885" y="4551680"/>
            <a:ext cx="2276475" cy="2276475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top</a:t>
            </a:r>
            <a:r>
              <a:t>交互式</a:t>
            </a:r>
            <a:r>
              <a:t>选项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当</a:t>
            </a:r>
            <a:r>
              <a:rPr lang="en-US" altLang="zh-CN"/>
              <a:t>top</a:t>
            </a:r>
            <a:r>
              <a:rPr lang="zh-CN" altLang="en-US"/>
              <a:t>以交互式运行（非</a:t>
            </a:r>
            <a:r>
              <a:rPr lang="en-US" altLang="zh-CN"/>
              <a:t>-b</a:t>
            </a:r>
            <a:r>
              <a:rPr lang="zh-CN" altLang="en-US"/>
              <a:t>选项启动），可以用以下交互式命令进行</a:t>
            </a:r>
            <a:r>
              <a:rPr lang="zh-CN" altLang="en-US"/>
              <a:t>控制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05" y="2059940"/>
            <a:ext cx="7056120" cy="3979545"/>
          </a:xfrm>
          <a:prstGeom prst="rect">
            <a:avLst/>
          </a:prstGeom>
        </p:spPr>
      </p:pic>
      <p:pic>
        <p:nvPicPr>
          <p:cNvPr id="5" name="图片 4" descr="01 (147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4830" y="5052695"/>
            <a:ext cx="1656080" cy="165608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磁盘信息</a:t>
            </a:r>
            <a:r>
              <a:rPr lang="zh-CN" altLang="en-US"/>
              <a:t>监控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使用</a:t>
            </a:r>
            <a:r>
              <a:rPr lang="en-US" altLang="zh-CN"/>
              <a:t>df</a:t>
            </a:r>
            <a:r>
              <a:rPr lang="zh-CN" altLang="en-US"/>
              <a:t>命令，可以查看硬盘的使用情况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语法：</a:t>
            </a:r>
            <a:r>
              <a:rPr lang="en-US" altLang="zh-CN"/>
              <a:t>df [-h]</a:t>
            </a:r>
            <a:endParaRPr lang="en-US" altLang="zh-CN"/>
          </a:p>
          <a:p>
            <a:pPr>
              <a:buFont typeface="Arial" panose="020B0604020202020204" pitchFamily="34" charset="0"/>
            </a:pPr>
            <a:r>
              <a:rPr lang="zh-CN" altLang="en-US"/>
              <a:t>选项：</a:t>
            </a:r>
            <a:r>
              <a:rPr lang="en-US" altLang="zh-CN"/>
              <a:t>-h</a:t>
            </a:r>
            <a:r>
              <a:rPr lang="zh-CN" altLang="en-US"/>
              <a:t>，以更加人性化的单位</a:t>
            </a:r>
            <a:r>
              <a:rPr lang="zh-CN" altLang="en-US"/>
              <a:t>显示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720" y="2872105"/>
            <a:ext cx="5145405" cy="3648710"/>
          </a:xfrm>
          <a:prstGeom prst="rect">
            <a:avLst/>
          </a:prstGeom>
        </p:spPr>
      </p:pic>
      <p:pic>
        <p:nvPicPr>
          <p:cNvPr id="5" name="图片 4" descr="01 (13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3500" y="4947285"/>
            <a:ext cx="1968500" cy="19685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磁盘信息</a:t>
            </a:r>
            <a:r>
              <a:rPr lang="zh-CN" altLang="en-US"/>
              <a:t>监控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可以使用</a:t>
            </a:r>
            <a:r>
              <a:rPr lang="en-US" altLang="zh-CN"/>
              <a:t>iostat</a:t>
            </a:r>
            <a:r>
              <a:rPr lang="zh-CN" altLang="en-US"/>
              <a:t>查看</a:t>
            </a:r>
            <a:r>
              <a:rPr lang="en-US" altLang="zh-CN"/>
              <a:t>CPU</a:t>
            </a:r>
            <a:r>
              <a:rPr lang="zh-CN" altLang="en-US"/>
              <a:t>、磁盘的相关</a:t>
            </a:r>
            <a:r>
              <a:rPr lang="zh-CN" altLang="en-US"/>
              <a:t>信息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语法：</a:t>
            </a:r>
            <a:r>
              <a:rPr lang="en-US" altLang="zh-CN"/>
              <a:t>iostat [-x] [num1] [num2]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选项：</a:t>
            </a:r>
            <a:r>
              <a:rPr lang="en-US" altLang="zh-CN"/>
              <a:t>-x</a:t>
            </a:r>
            <a:r>
              <a:rPr lang="zh-CN" altLang="en-US"/>
              <a:t>，显示更多</a:t>
            </a:r>
            <a:r>
              <a:rPr lang="zh-CN" altLang="en-US"/>
              <a:t>信息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num1</a:t>
            </a:r>
            <a:r>
              <a:rPr lang="zh-CN" altLang="en-US"/>
              <a:t>：数字，刷新间隔，</a:t>
            </a:r>
            <a:r>
              <a:rPr lang="en-US" altLang="zh-CN"/>
              <a:t>num2</a:t>
            </a:r>
            <a:r>
              <a:rPr lang="zh-CN" altLang="en-US"/>
              <a:t>：数字，刷新</a:t>
            </a:r>
            <a:r>
              <a:rPr lang="zh-CN" altLang="en-US"/>
              <a:t>几次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tps：该设备每秒的传输次数（Indicate the number of transfers per second that were issued to the device.）。"一次传输"意思是"一次I/O请求"。多个逻辑请求可能会被合并为"一次I/O请求"。"一次传输"请求的大小是未知的。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085" y="3359150"/>
            <a:ext cx="7543800" cy="1729740"/>
          </a:xfrm>
          <a:prstGeom prst="rect">
            <a:avLst/>
          </a:prstGeom>
        </p:spPr>
      </p:pic>
      <p:pic>
        <p:nvPicPr>
          <p:cNvPr id="6" name="图片 5" descr="01 (13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535920" y="5251450"/>
            <a:ext cx="1656080" cy="165608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磁盘信息监控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使用</a:t>
            </a:r>
            <a:r>
              <a:rPr lang="en-US" altLang="zh-CN"/>
              <a:t>iostat</a:t>
            </a:r>
            <a:r>
              <a:rPr lang="zh-CN" altLang="en-US"/>
              <a:t>的</a:t>
            </a:r>
            <a:r>
              <a:rPr lang="en-US" altLang="zh-CN"/>
              <a:t>-x</a:t>
            </a:r>
            <a:r>
              <a:rPr lang="zh-CN" altLang="en-US"/>
              <a:t>选项，可以显示更多</a:t>
            </a:r>
            <a:r>
              <a:rPr lang="zh-CN" altLang="en-US"/>
              <a:t>信息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>
              <a:lnSpc>
                <a:spcPct val="100000"/>
              </a:lnSpc>
              <a:buFont typeface="Arial" panose="020B0604020202020204" pitchFamily="34" charset="0"/>
            </a:pPr>
            <a:r>
              <a:rPr lang="zh-CN" altLang="en-US" sz="1000"/>
              <a:t>rrqm/s：</a:t>
            </a:r>
            <a:r>
              <a:rPr lang="en-US" altLang="zh-CN" sz="1000"/>
              <a:t>	</a:t>
            </a:r>
            <a:r>
              <a:rPr lang="zh-CN" altLang="en-US" sz="1000"/>
              <a:t>每秒这个设备相关的读取请求有多少被Merge了（当系统调用需要读取数据的时候，VFS将请求发到各个FS，如果FS发现不同的读取请求读取的是相同Block的数据，FS会将这个请求合并Merge, 提高IO利用率, 避免重复调用）；</a:t>
            </a:r>
            <a:endParaRPr lang="zh-CN" altLang="en-US" sz="1000"/>
          </a:p>
          <a:p>
            <a:pPr>
              <a:lnSpc>
                <a:spcPct val="100000"/>
              </a:lnSpc>
              <a:buFont typeface="Arial" panose="020B0604020202020204" pitchFamily="34" charset="0"/>
            </a:pPr>
            <a:r>
              <a:rPr lang="zh-CN" altLang="en-US" sz="1000"/>
              <a:t>wrqm/s：</a:t>
            </a:r>
            <a:r>
              <a:rPr lang="en-US" altLang="zh-CN" sz="1000"/>
              <a:t>	</a:t>
            </a:r>
            <a:r>
              <a:rPr lang="zh-CN" altLang="en-US" sz="1000"/>
              <a:t>每秒这个设备相关的写入请求有多少被Merge了。</a:t>
            </a:r>
            <a:endParaRPr lang="zh-CN" altLang="en-US" sz="1000"/>
          </a:p>
          <a:p>
            <a:pPr>
              <a:lnSpc>
                <a:spcPct val="100000"/>
              </a:lnSpc>
              <a:buFont typeface="Arial" panose="020B0604020202020204" pitchFamily="34" charset="0"/>
            </a:pPr>
            <a:r>
              <a:rPr lang="zh-CN" altLang="en-US" sz="1000"/>
              <a:t>rsec/s：	每秒读取的扇区数；sectors</a:t>
            </a:r>
            <a:endParaRPr lang="zh-CN" altLang="en-US" sz="1000"/>
          </a:p>
          <a:p>
            <a:pPr>
              <a:lnSpc>
                <a:spcPct val="100000"/>
              </a:lnSpc>
              <a:buFont typeface="Arial" panose="020B0604020202020204" pitchFamily="34" charset="0"/>
            </a:pPr>
            <a:r>
              <a:rPr lang="zh-CN" altLang="en-US" sz="1000"/>
              <a:t>wsec/：	每秒写入的扇区数。</a:t>
            </a:r>
            <a:endParaRPr lang="zh-CN" altLang="en-US" sz="1000"/>
          </a:p>
          <a:p>
            <a:pPr>
              <a:lnSpc>
                <a:spcPct val="100000"/>
              </a:lnSpc>
              <a:buFont typeface="Arial" panose="020B0604020202020204" pitchFamily="34" charset="0"/>
            </a:pPr>
            <a:r>
              <a:rPr lang="zh-CN" altLang="en-US" sz="1000">
                <a:solidFill>
                  <a:srgbClr val="FF0000"/>
                </a:solidFill>
              </a:rPr>
              <a:t>rKB/s：	每秒发送到设备的读取请求数</a:t>
            </a:r>
            <a:endParaRPr lang="zh-CN" altLang="en-US" sz="100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</a:pPr>
            <a:r>
              <a:rPr lang="zh-CN" altLang="en-US" sz="1000">
                <a:solidFill>
                  <a:srgbClr val="FF0000"/>
                </a:solidFill>
              </a:rPr>
              <a:t>wKB/s：	每秒发送到设备的写入请求数</a:t>
            </a:r>
            <a:endParaRPr lang="zh-CN" altLang="en-US" sz="100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</a:pPr>
            <a:r>
              <a:rPr lang="zh-CN" altLang="en-US" sz="1000"/>
              <a:t>avgrq-sz 	平均请求扇区的大小</a:t>
            </a:r>
            <a:endParaRPr lang="zh-CN" altLang="en-US" sz="1000"/>
          </a:p>
          <a:p>
            <a:pPr>
              <a:lnSpc>
                <a:spcPct val="100000"/>
              </a:lnSpc>
              <a:buFont typeface="Arial" panose="020B0604020202020204" pitchFamily="34" charset="0"/>
            </a:pPr>
            <a:r>
              <a:rPr lang="zh-CN" altLang="en-US" sz="1000"/>
              <a:t>avgqu-sz 	平均请求队列的长度。毫无疑问，队列长度越短越好。    </a:t>
            </a:r>
            <a:endParaRPr lang="zh-CN" altLang="en-US" sz="1000"/>
          </a:p>
          <a:p>
            <a:pPr>
              <a:lnSpc>
                <a:spcPct val="100000"/>
              </a:lnSpc>
              <a:buFont typeface="Arial" panose="020B0604020202020204" pitchFamily="34" charset="0"/>
            </a:pPr>
            <a:r>
              <a:rPr lang="zh-CN" altLang="en-US" sz="1000"/>
              <a:t>await：  	每一个IO请求的处理的平均时间（单位是微秒毫秒）。</a:t>
            </a:r>
            <a:endParaRPr lang="zh-CN" altLang="en-US" sz="1000"/>
          </a:p>
          <a:p>
            <a:pPr>
              <a:lnSpc>
                <a:spcPct val="100000"/>
              </a:lnSpc>
              <a:buFont typeface="Arial" panose="020B0604020202020204" pitchFamily="34" charset="0"/>
            </a:pPr>
            <a:r>
              <a:rPr lang="zh-CN" altLang="en-US" sz="1000"/>
              <a:t>svctm    	表示平均每次设备I/O操作的服务时间（以毫秒为单位）</a:t>
            </a:r>
            <a:endParaRPr lang="zh-CN" altLang="en-US" sz="1000"/>
          </a:p>
          <a:p>
            <a:pPr>
              <a:lnSpc>
                <a:spcPct val="100000"/>
              </a:lnSpc>
              <a:buFont typeface="Arial" panose="020B0604020202020204" pitchFamily="34" charset="0"/>
            </a:pPr>
            <a:r>
              <a:rPr lang="zh-CN" altLang="en-US" sz="1000">
                <a:solidFill>
                  <a:srgbClr val="FF0000"/>
                </a:solidFill>
              </a:rPr>
              <a:t>%util： </a:t>
            </a:r>
            <a:r>
              <a:rPr lang="en-US" altLang="zh-CN" sz="1000">
                <a:solidFill>
                  <a:srgbClr val="FF0000"/>
                </a:solidFill>
              </a:rPr>
              <a:t>	</a:t>
            </a:r>
            <a:r>
              <a:rPr lang="zh-CN" altLang="en-US" sz="1000">
                <a:solidFill>
                  <a:srgbClr val="FF0000"/>
                </a:solidFill>
              </a:rPr>
              <a:t>磁盘利用率</a:t>
            </a:r>
            <a:endParaRPr lang="zh-CN" altLang="en-US" sz="100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420" y="2051685"/>
            <a:ext cx="9754870" cy="1479550"/>
          </a:xfrm>
          <a:prstGeom prst="rect">
            <a:avLst/>
          </a:prstGeom>
        </p:spPr>
      </p:pic>
      <p:pic>
        <p:nvPicPr>
          <p:cNvPr id="6" name="图片 5" descr="01 (14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970" y="5219700"/>
            <a:ext cx="1405890" cy="140589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01 (15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3410" y="4014470"/>
            <a:ext cx="2766060" cy="2766060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网络状态</a:t>
            </a:r>
            <a:r>
              <a:rPr lang="zh-CN" altLang="en-US"/>
              <a:t>监控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可以使用</a:t>
            </a:r>
            <a:r>
              <a:rPr lang="en-US" altLang="zh-CN"/>
              <a:t>sar</a:t>
            </a:r>
            <a:r>
              <a:rPr lang="zh-CN" altLang="en-US"/>
              <a:t>命令查看网络的相关统计（</a:t>
            </a:r>
            <a:r>
              <a:rPr lang="en-US" altLang="zh-CN"/>
              <a:t>sar</a:t>
            </a:r>
            <a:r>
              <a:rPr lang="zh-CN" altLang="en-US"/>
              <a:t>命令非常复杂，这里仅简单</a:t>
            </a:r>
            <a:r>
              <a:rPr lang="zh-CN" altLang="en-US"/>
              <a:t>用于统计</a:t>
            </a:r>
            <a:r>
              <a:rPr lang="zh-CN" altLang="en-US"/>
              <a:t>网络）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语法：</a:t>
            </a:r>
            <a:r>
              <a:rPr lang="en-US" altLang="zh-CN"/>
              <a:t>sar -n DEV num1 num2</a:t>
            </a:r>
            <a:endParaRPr lang="en-US" altLang="zh-CN"/>
          </a:p>
          <a:p>
            <a:pPr>
              <a:buFont typeface="Arial" panose="020B0604020202020204" pitchFamily="34" charset="0"/>
            </a:pPr>
            <a:r>
              <a:rPr lang="zh-CN" altLang="en-US"/>
              <a:t>选项：</a:t>
            </a:r>
            <a:r>
              <a:rPr lang="en-US" altLang="zh-CN"/>
              <a:t>-n</a:t>
            </a:r>
            <a:r>
              <a:rPr lang="zh-CN" altLang="en-US"/>
              <a:t>，查看网络，</a:t>
            </a:r>
            <a:r>
              <a:rPr lang="en-US" altLang="zh-CN"/>
              <a:t>DEV</a:t>
            </a:r>
            <a:r>
              <a:rPr lang="zh-CN" altLang="en-US"/>
              <a:t>表示查看网络</a:t>
            </a:r>
            <a:r>
              <a:rPr lang="zh-CN" altLang="en-US"/>
              <a:t>接口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num1</a:t>
            </a:r>
            <a:r>
              <a:rPr lang="zh-CN" altLang="en-US"/>
              <a:t>：刷新间隔（不填就查看一次结束）</a:t>
            </a:r>
            <a:r>
              <a:rPr lang="zh-CN" altLang="en-US"/>
              <a:t>，</a:t>
            </a:r>
            <a:r>
              <a:rPr lang="en-US" altLang="zh-CN"/>
              <a:t>num2</a:t>
            </a:r>
            <a:r>
              <a:rPr lang="zh-CN" altLang="en-US"/>
              <a:t>：查看次数（不填无限</a:t>
            </a:r>
            <a:r>
              <a:rPr lang="zh-CN" altLang="en-US"/>
              <a:t>次数）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如图，查看</a:t>
            </a:r>
            <a:r>
              <a:rPr lang="en-US" altLang="zh-CN"/>
              <a:t>2</a:t>
            </a:r>
            <a:r>
              <a:rPr lang="zh-CN" altLang="en-US"/>
              <a:t>次，隔</a:t>
            </a:r>
            <a:r>
              <a:rPr lang="en-US" altLang="zh-CN"/>
              <a:t>3</a:t>
            </a:r>
            <a:r>
              <a:rPr lang="zh-CN" altLang="en-US"/>
              <a:t>秒刷新一次，并最终汇总平均</a:t>
            </a:r>
            <a:r>
              <a:rPr lang="zh-CN" altLang="en-US"/>
              <a:t>记录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10" y="3319145"/>
            <a:ext cx="5691505" cy="27851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619240" y="3938905"/>
            <a:ext cx="3896360" cy="203009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信息解读：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171450" indent="-171450" algn="l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IFACE 本地网卡接口的名称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171450" indent="-171450" algn="l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rxpck/s 每秒钟接受的数据包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171450" indent="-171450" algn="l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txpck/s 每秒钟发送的数据包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171450" indent="-171450" algn="l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rxKB/S 每秒钟接受的数据包大小，单位为KB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171450" indent="-171450" algn="l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txKB/S 每秒钟发送的数据包大小，单位为KB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171450" indent="-171450" algn="l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rxcmp/s 每秒钟接受的压缩数据包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171450" indent="-171450" algn="l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txcmp/s 每秒钟发送的压缩包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171450" indent="-171450" algn="l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rxmcst/s 每秒钟接收的多播数据包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689090" cy="4511040"/>
          </a:xfrm>
        </p:spPr>
        <p:txBody>
          <a:bodyPr/>
          <a:p>
            <a:pPr marL="0" indent="0">
              <a:lnSpc>
                <a:spcPct val="180000"/>
              </a:lnSpc>
              <a:buNone/>
            </a:pPr>
            <a:r>
              <a:rPr lang="en-US" altLang="zh-CN"/>
              <a:t>1. </a:t>
            </a:r>
            <a:r>
              <a:rPr lang="zh-CN" altLang="en-US"/>
              <a:t>使用</a:t>
            </a:r>
            <a:r>
              <a:rPr lang="en-US" altLang="zh-CN"/>
              <a:t>top</a:t>
            </a:r>
            <a:r>
              <a:rPr lang="zh-CN" altLang="en-US"/>
              <a:t>命令可以：</a:t>
            </a:r>
            <a:endParaRPr lang="zh-CN" altLang="en-US"/>
          </a:p>
          <a:p>
            <a:pPr marL="285750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类似</a:t>
            </a:r>
            <a:r>
              <a:rPr lang="en-US" altLang="zh-CN" sz="1400"/>
              <a:t>Windows</a:t>
            </a:r>
            <a:r>
              <a:rPr lang="zh-CN" altLang="en-US" sz="1400"/>
              <a:t>任务</a:t>
            </a:r>
            <a:r>
              <a:rPr lang="zh-CN" altLang="en-US" sz="1400"/>
              <a:t>管理器</a:t>
            </a:r>
            <a:endParaRPr lang="zh-CN" altLang="en-US" sz="1400"/>
          </a:p>
          <a:p>
            <a:pPr marL="285750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查看</a:t>
            </a:r>
            <a:r>
              <a:rPr lang="en-US" altLang="zh-CN" sz="1400"/>
              <a:t>CPU</a:t>
            </a:r>
            <a:r>
              <a:rPr lang="zh-CN" altLang="en-US" sz="1400"/>
              <a:t>、内存、进程的</a:t>
            </a:r>
            <a:r>
              <a:rPr lang="zh-CN" altLang="en-US" sz="1400"/>
              <a:t>信息</a:t>
            </a:r>
            <a:endParaRPr lang="zh-CN" altLang="en-US" sz="1400"/>
          </a:p>
          <a:p>
            <a:pPr marL="0" indent="0"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en-US" altLang="zh-CN"/>
              <a:t>2. </a:t>
            </a:r>
            <a:r>
              <a:rPr lang="zh-CN" altLang="en-US"/>
              <a:t>使用</a:t>
            </a:r>
            <a:r>
              <a:rPr lang="en-US" altLang="zh-CN"/>
              <a:t>df</a:t>
            </a:r>
            <a:r>
              <a:rPr lang="zh-CN" altLang="en-US"/>
              <a:t>命令可以：</a:t>
            </a:r>
            <a:endParaRPr lang="zh-CN" altLang="en-US"/>
          </a:p>
          <a:p>
            <a:pPr marL="285750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查看磁盘</a:t>
            </a:r>
            <a:r>
              <a:rPr lang="zh-CN" altLang="en-US" sz="1400"/>
              <a:t>使用率</a:t>
            </a:r>
            <a:endParaRPr lang="zh-CN" altLang="en-US" sz="1400"/>
          </a:p>
          <a:p>
            <a:pPr marL="0" indent="0"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en-US" altLang="zh-CN"/>
              <a:t>3. </a:t>
            </a:r>
            <a:r>
              <a:rPr lang="zh-CN" altLang="en-US"/>
              <a:t>使用</a:t>
            </a:r>
            <a:r>
              <a:rPr lang="en-US" altLang="zh-CN"/>
              <a:t>iostat</a:t>
            </a:r>
            <a:r>
              <a:rPr lang="zh-CN" altLang="en-US"/>
              <a:t>可以：</a:t>
            </a:r>
            <a:endParaRPr lang="zh-CN" altLang="en-US" sz="1400"/>
          </a:p>
          <a:p>
            <a:pPr marL="285750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查看磁盘速率等</a:t>
            </a:r>
            <a:r>
              <a:rPr lang="zh-CN" altLang="en-US" sz="1400"/>
              <a:t>信息</a:t>
            </a:r>
            <a:endParaRPr lang="zh-CN" altLang="en-US" sz="1400"/>
          </a:p>
          <a:p>
            <a:pPr marL="0" indent="0"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en-US" altLang="zh-CN"/>
              <a:t>4. </a:t>
            </a:r>
            <a:r>
              <a:rPr lang="zh-CN" altLang="en-US"/>
              <a:t>使用</a:t>
            </a:r>
            <a:r>
              <a:rPr lang="en-US" altLang="zh-CN"/>
              <a:t>sar -n DEV</a:t>
            </a:r>
            <a:r>
              <a:rPr lang="zh-CN" altLang="en-US"/>
              <a:t>命令可以：</a:t>
            </a:r>
            <a:endParaRPr lang="zh-CN" altLang="en-US"/>
          </a:p>
          <a:p>
            <a:pPr marL="285750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查看网络</a:t>
            </a:r>
            <a:r>
              <a:rPr lang="zh-CN" altLang="en-US" sz="1400"/>
              <a:t>情况</a:t>
            </a:r>
            <a:endParaRPr lang="zh-CN" altLang="en-US" sz="140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675" y="679450"/>
            <a:ext cx="5973445" cy="5344160"/>
          </a:xfrm>
        </p:spPr>
        <p:txBody>
          <a:bodyPr/>
          <a:lstStyle/>
          <a:p>
            <a:pPr algn="l"/>
            <a:r>
              <a:rPr kumimoji="1" lang="zh-CN" altLang="en-US" sz="1600" dirty="0">
                <a:sym typeface="+mn-ea"/>
              </a:rPr>
              <a:t>各类小技巧（快捷键）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软件安装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systemctl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软连接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日期、时区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IP地址、主机名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网络传输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进程管理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主机状态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环境变量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上传、下载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压缩、解压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5098415"/>
            <a:ext cx="410210" cy="41021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694305" y="4084320"/>
            <a:ext cx="309880" cy="25273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41285" y="6878320"/>
            <a:ext cx="309880" cy="25273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618105"/>
          </a:xfrm>
        </p:spPr>
        <p:txBody>
          <a:bodyPr/>
          <a:p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理解环境变量的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作用</a:t>
            </a:r>
            <a:endParaRPr lang="zh-CN" altLang="en-US" sz="200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  <a:p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掌握符号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$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的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作用</a:t>
            </a:r>
            <a:endParaRPr lang="zh-CN" altLang="en-US" sz="200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  <a:p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掌握在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Linux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中配置环境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变量</a:t>
            </a:r>
            <a:endParaRPr lang="zh-CN" altLang="en-US" sz="200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环境</a:t>
            </a:r>
            <a:r>
              <a:rPr lang="zh-CN" altLang="en-US"/>
              <a:t>变量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在讲解</a:t>
            </a:r>
            <a:r>
              <a:rPr lang="en-US" altLang="zh-CN"/>
              <a:t>which</a:t>
            </a:r>
            <a:r>
              <a:rPr lang="zh-CN" altLang="en-US"/>
              <a:t>命令的时候，我们知道使用的一系列命令其实本质上就是一个个的可执行</a:t>
            </a:r>
            <a:r>
              <a:rPr lang="zh-CN" altLang="en-US"/>
              <a:t>程序。</a:t>
            </a:r>
            <a:endParaRPr lang="zh-CN" altLang="en-US"/>
          </a:p>
          <a:p>
            <a:r>
              <a:rPr lang="zh-CN" altLang="en-US"/>
              <a:t>比如，</a:t>
            </a:r>
            <a:r>
              <a:rPr lang="en-US" altLang="zh-CN"/>
              <a:t>cd</a:t>
            </a:r>
            <a:r>
              <a:rPr lang="zh-CN" altLang="en-US"/>
              <a:t>命令的本体就是：</a:t>
            </a:r>
            <a:r>
              <a:rPr lang="en-US" altLang="zh-CN"/>
              <a:t>/usr/bin/cd </a:t>
            </a:r>
            <a:r>
              <a:rPr lang="zh-CN" altLang="en-US"/>
              <a:t>这个程序</a:t>
            </a:r>
            <a:r>
              <a:rPr lang="zh-CN" altLang="en-US"/>
              <a:t>文件。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 descr="01 (10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120" y="2591435"/>
            <a:ext cx="1942465" cy="1942465"/>
          </a:xfrm>
          <a:prstGeom prst="rect">
            <a:avLst/>
          </a:prstGeom>
        </p:spPr>
      </p:pic>
      <p:sp>
        <p:nvSpPr>
          <p:cNvPr id="5" name="文本占位符 2"/>
          <p:cNvSpPr>
            <a:spLocks noGrp="1"/>
          </p:cNvSpPr>
          <p:nvPr/>
        </p:nvSpPr>
        <p:spPr>
          <a:xfrm>
            <a:off x="2457450" y="2590800"/>
            <a:ext cx="9079230" cy="341185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我们是否会有疑问，</a:t>
            </a:r>
            <a:r>
              <a:rPr lang="zh-CN" altLang="en-US"/>
              <a:t>为何无论当前工作目录在哪里，都能执行：</a:t>
            </a:r>
            <a:r>
              <a:rPr lang="en-US" altLang="zh-CN"/>
              <a:t>/usr/bin/cd</a:t>
            </a:r>
            <a:r>
              <a:rPr lang="zh-CN" altLang="en-US"/>
              <a:t>这个程序呢？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这就是环境变量的作用</a:t>
            </a:r>
            <a:r>
              <a:rPr lang="zh-CN" altLang="en-US"/>
              <a:t>啦。</a:t>
            </a:r>
            <a:endParaRPr lang="zh-CN" altLang="en-US"/>
          </a:p>
        </p:txBody>
      </p:sp>
      <p:pic>
        <p:nvPicPr>
          <p:cNvPr id="6" name="图片 5" descr="01 (9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4080" y="5358765"/>
            <a:ext cx="1332865" cy="13328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环境</a:t>
            </a:r>
            <a:r>
              <a:rPr lang="zh-CN" altLang="en-US"/>
              <a:t>变量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环境变量是操作系统（</a:t>
            </a:r>
            <a:r>
              <a:rPr lang="en-US" altLang="zh-CN"/>
              <a:t>Windows</a:t>
            </a:r>
            <a:r>
              <a:rPr lang="zh-CN" altLang="en-US"/>
              <a:t>、</a:t>
            </a:r>
            <a:r>
              <a:rPr lang="en-US" altLang="zh-CN"/>
              <a:t>Linux</a:t>
            </a:r>
            <a:r>
              <a:rPr lang="zh-CN" altLang="en-US"/>
              <a:t>、</a:t>
            </a:r>
            <a:r>
              <a:rPr lang="en-US" altLang="zh-CN"/>
              <a:t>Mac</a:t>
            </a:r>
            <a:r>
              <a:rPr lang="zh-CN" altLang="en-US"/>
              <a:t>）在运行的时候，记录的一些关键性信息，用以辅助系统</a:t>
            </a:r>
            <a:r>
              <a:rPr lang="zh-CN" altLang="en-US"/>
              <a:t>运行。</a:t>
            </a:r>
            <a:endParaRPr lang="zh-CN" altLang="en-US"/>
          </a:p>
          <a:p>
            <a:r>
              <a:rPr lang="zh-CN" altLang="en-US"/>
              <a:t>在</a:t>
            </a:r>
            <a:r>
              <a:rPr lang="en-US" altLang="zh-CN"/>
              <a:t>Linux</a:t>
            </a:r>
            <a:r>
              <a:rPr lang="zh-CN" altLang="en-US"/>
              <a:t>系统中执行：</a:t>
            </a:r>
            <a:r>
              <a:rPr lang="en-US" altLang="zh-CN"/>
              <a:t>env</a:t>
            </a:r>
            <a:r>
              <a:rPr lang="zh-CN" altLang="en-US"/>
              <a:t>命令即可查看当前系统中记录的环境</a:t>
            </a:r>
            <a:r>
              <a:rPr lang="zh-CN" altLang="en-US"/>
              <a:t>变量</a:t>
            </a:r>
            <a:endParaRPr lang="zh-CN" altLang="en-US"/>
          </a:p>
          <a:p>
            <a:r>
              <a:rPr lang="zh-CN" altLang="en-US"/>
              <a:t>环境变量是一种</a:t>
            </a:r>
            <a:r>
              <a:rPr lang="en-US" altLang="zh-CN"/>
              <a:t>KeyValue</a:t>
            </a:r>
            <a:r>
              <a:rPr lang="zh-CN" altLang="en-US"/>
              <a:t>型结构，即名称和值，</a:t>
            </a:r>
            <a:r>
              <a:rPr lang="zh-CN" altLang="en-US"/>
              <a:t>如下图：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260" y="2938145"/>
            <a:ext cx="5567680" cy="34956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377940" y="3778885"/>
            <a:ext cx="4215130" cy="181483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如左图，图中记录了：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HOME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：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/home/itheima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，用户的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HOME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路径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USER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：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itheima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，当前的操作用户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PWD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：当前工作路径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......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等等一系列信息，用于辅助系统在运行的时候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从环境变量中获取关键信息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pic>
        <p:nvPicPr>
          <p:cNvPr id="4" name="图片 3" descr="01 (8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205085" y="4963160"/>
            <a:ext cx="1986915" cy="1986915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环境变量</a:t>
            </a:r>
            <a:r>
              <a:t>：</a:t>
            </a:r>
            <a:r>
              <a:rPr lang="en-US" altLang="zh-CN"/>
              <a:t>PATH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在前面提出的问题中，我们说无论当前工作目录是什么，都能执行</a:t>
            </a:r>
            <a:r>
              <a:rPr lang="en-US" altLang="zh-CN"/>
              <a:t>/usr/bin/cd</a:t>
            </a:r>
            <a:r>
              <a:rPr lang="zh-CN" altLang="en-US"/>
              <a:t>这个程序，这个就是借助环境变量中：</a:t>
            </a:r>
            <a:r>
              <a:rPr lang="en-US" altLang="zh-CN"/>
              <a:t>PATH</a:t>
            </a:r>
            <a:r>
              <a:rPr lang="zh-CN" altLang="en-US"/>
              <a:t>这个项目的值来做到</a:t>
            </a:r>
            <a:r>
              <a:rPr lang="zh-CN" altLang="en-US"/>
              <a:t>的。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PATH</a:t>
            </a:r>
            <a:r>
              <a:rPr lang="zh-CN" altLang="en-US"/>
              <a:t>记录了系统执行任何命令的搜索路径，如上图记录了（路径之间以</a:t>
            </a:r>
            <a:r>
              <a:rPr lang="en-US" altLang="zh-CN"/>
              <a:t>:</a:t>
            </a:r>
            <a:r>
              <a:rPr lang="zh-CN" altLang="en-US"/>
              <a:t>隔开）：</a:t>
            </a:r>
            <a:endParaRPr lang="zh-CN" altLang="en-US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/usr/local/bin</a:t>
            </a:r>
            <a:endParaRPr lang="en-US" altLang="zh-CN" sz="120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/usr/bin</a:t>
            </a:r>
            <a:endParaRPr lang="en-US" altLang="zh-CN" sz="120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/usr/local/sbin</a:t>
            </a:r>
            <a:endParaRPr lang="en-US" altLang="zh-CN" sz="120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/usr/sbin</a:t>
            </a:r>
            <a:endParaRPr lang="en-US" altLang="zh-CN" sz="120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/home/itheima/.local/bin</a:t>
            </a:r>
            <a:endParaRPr lang="en-US" altLang="zh-CN" sz="120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200"/>
              <a:t>/home/itheima/bin</a:t>
            </a:r>
            <a:endParaRPr lang="en-US" altLang="zh-CN" sz="1200"/>
          </a:p>
          <a:p>
            <a:pPr>
              <a:buFont typeface="Arial" panose="020B0604020202020204" pitchFamily="34" charset="0"/>
            </a:pPr>
            <a:r>
              <a:rPr lang="zh-CN" altLang="en-US"/>
              <a:t>当执行任何命令，都会按照顺序，从上述路径中搜索要执行的程序的</a:t>
            </a:r>
            <a:r>
              <a:rPr lang="zh-CN" altLang="en-US"/>
              <a:t>本体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比如执行</a:t>
            </a:r>
            <a:r>
              <a:rPr lang="en-US" altLang="zh-CN"/>
              <a:t>cd</a:t>
            </a:r>
            <a:r>
              <a:rPr lang="zh-CN" altLang="en-US"/>
              <a:t>命令，就从第二个目录</a:t>
            </a:r>
            <a:r>
              <a:rPr lang="en-US" altLang="zh-CN"/>
              <a:t>/usr/bin</a:t>
            </a:r>
            <a:r>
              <a:rPr lang="zh-CN" altLang="en-US"/>
              <a:t>中搜索到了</a:t>
            </a:r>
            <a:r>
              <a:rPr lang="en-US" altLang="zh-CN"/>
              <a:t>cd</a:t>
            </a:r>
            <a:r>
              <a:rPr lang="zh-CN" altLang="en-US"/>
              <a:t>命令，并</a:t>
            </a:r>
            <a:r>
              <a:rPr lang="zh-CN" altLang="en-US"/>
              <a:t>执行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355" y="2454910"/>
            <a:ext cx="9311640" cy="426720"/>
          </a:xfrm>
          <a:prstGeom prst="rect">
            <a:avLst/>
          </a:prstGeom>
        </p:spPr>
      </p:pic>
      <p:pic>
        <p:nvPicPr>
          <p:cNvPr id="6" name="图片 5" descr="01 (8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825" y="4725035"/>
            <a:ext cx="2035175" cy="2035175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$</a:t>
            </a:r>
            <a:r>
              <a:t>符</a:t>
            </a:r>
            <a:r>
              <a:t>号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在</a:t>
            </a:r>
            <a:r>
              <a:rPr lang="en-US" altLang="zh-CN"/>
              <a:t>Linux</a:t>
            </a:r>
            <a:r>
              <a:rPr lang="zh-CN" altLang="en-US"/>
              <a:t>系统中，</a:t>
            </a:r>
            <a:r>
              <a:rPr lang="en-US" altLang="zh-CN"/>
              <a:t>$</a:t>
            </a:r>
            <a:r>
              <a:rPr lang="zh-CN" altLang="en-US"/>
              <a:t>符号被用于取</a:t>
            </a:r>
            <a:r>
              <a:rPr lang="en-US" altLang="zh-CN"/>
              <a:t>”</a:t>
            </a:r>
            <a:r>
              <a:rPr lang="zh-CN" altLang="en-US"/>
              <a:t>变量</a:t>
            </a:r>
            <a:r>
              <a:rPr lang="en-US" altLang="zh-CN"/>
              <a:t>”</a:t>
            </a:r>
            <a:r>
              <a:rPr lang="zh-CN" altLang="en-US"/>
              <a:t>的</a:t>
            </a:r>
            <a:r>
              <a:rPr lang="zh-CN" altLang="en-US"/>
              <a:t>值。</a:t>
            </a:r>
            <a:endParaRPr lang="zh-CN" altLang="en-US"/>
          </a:p>
          <a:p>
            <a:r>
              <a:rPr lang="zh-CN" altLang="en-US"/>
              <a:t>环境变量记录的信息，除了给操作系统自己使用外，如果我们想要取用，也可以</a:t>
            </a:r>
            <a:r>
              <a:rPr lang="zh-CN" altLang="en-US"/>
              <a:t>使用。</a:t>
            </a:r>
            <a:endParaRPr lang="zh-CN" altLang="en-US"/>
          </a:p>
          <a:p>
            <a:r>
              <a:rPr lang="zh-CN" altLang="en-US"/>
              <a:t>取得环境变量的值就可以通过语法：</a:t>
            </a:r>
            <a:r>
              <a:rPr lang="en-US" altLang="zh-CN"/>
              <a:t>$</a:t>
            </a:r>
            <a:r>
              <a:rPr lang="zh-CN" altLang="en-US"/>
              <a:t>环境变量名</a:t>
            </a:r>
            <a:r>
              <a:rPr lang="en-US" altLang="zh-CN"/>
              <a:t>  </a:t>
            </a:r>
            <a:r>
              <a:rPr lang="zh-CN" altLang="en-US"/>
              <a:t>来</a:t>
            </a:r>
            <a:r>
              <a:rPr lang="zh-CN" altLang="en-US"/>
              <a:t>取得</a:t>
            </a:r>
            <a:endParaRPr lang="zh-CN" altLang="en-US"/>
          </a:p>
          <a:p>
            <a:r>
              <a:rPr lang="zh-CN" altLang="en-US"/>
              <a:t>比如：</a:t>
            </a:r>
            <a:r>
              <a:rPr lang="en-US" altLang="zh-CN"/>
              <a:t> echo $PATH</a:t>
            </a:r>
            <a:endParaRPr lang="en-US" altLang="zh-CN"/>
          </a:p>
          <a:p>
            <a:r>
              <a:rPr lang="zh-CN" altLang="en-US"/>
              <a:t>就可以取得</a:t>
            </a:r>
            <a:r>
              <a:rPr lang="en-US" altLang="zh-CN"/>
              <a:t>PATH</a:t>
            </a:r>
            <a:r>
              <a:rPr lang="zh-CN" altLang="en-US"/>
              <a:t>这个环境变量的值，并通过</a:t>
            </a:r>
            <a:r>
              <a:rPr lang="en-US" altLang="zh-CN"/>
              <a:t>echo</a:t>
            </a:r>
            <a:r>
              <a:rPr lang="zh-CN" altLang="en-US"/>
              <a:t>语句输出</a:t>
            </a:r>
            <a:r>
              <a:rPr lang="zh-CN" altLang="en-US"/>
              <a:t>出来。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又或者：</a:t>
            </a:r>
            <a:r>
              <a:rPr lang="en-US" altLang="zh-CN"/>
              <a:t>echo ${PATH}ABC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当和其它内容混合在一起的时候，可以通过</a:t>
            </a:r>
            <a:r>
              <a:rPr lang="en-US" altLang="zh-CN"/>
              <a:t>{}</a:t>
            </a:r>
            <a:r>
              <a:rPr lang="zh-CN" altLang="en-US"/>
              <a:t>来标注取的变量是</a:t>
            </a:r>
            <a:r>
              <a:rPr lang="zh-CN" altLang="en-US"/>
              <a:t>谁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245" y="3755390"/>
            <a:ext cx="8793480" cy="4267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" y="4577080"/>
            <a:ext cx="9090660" cy="411480"/>
          </a:xfrm>
          <a:prstGeom prst="rect">
            <a:avLst/>
          </a:prstGeom>
        </p:spPr>
      </p:pic>
      <p:pic>
        <p:nvPicPr>
          <p:cNvPr id="6" name="图片 5" descr="01 (87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5115" y="4809490"/>
            <a:ext cx="1846580" cy="184658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自行设置环境</a:t>
            </a:r>
            <a:r>
              <a:t>变量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Linux</a:t>
            </a:r>
            <a:r>
              <a:rPr lang="zh-CN" altLang="en-US"/>
              <a:t>环境变量可以用户自行设置，其中</a:t>
            </a:r>
            <a:r>
              <a:rPr lang="zh-CN" altLang="en-US"/>
              <a:t>分为：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临时设置，语法：</a:t>
            </a:r>
            <a:r>
              <a:rPr lang="en-US" altLang="zh-CN"/>
              <a:t>export </a:t>
            </a:r>
            <a:r>
              <a:rPr lang="zh-CN" altLang="en-US"/>
              <a:t>变量名</a:t>
            </a:r>
            <a:r>
              <a:rPr lang="en-US" altLang="zh-CN"/>
              <a:t>=</a:t>
            </a:r>
            <a:r>
              <a:rPr lang="zh-CN" altLang="en-US"/>
              <a:t>变量值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永久</a:t>
            </a:r>
            <a:r>
              <a:rPr lang="zh-CN" altLang="en-US"/>
              <a:t>生效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b="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针对当前用户生效，配置在当前用户的：</a:t>
            </a:r>
            <a:r>
              <a:rPr lang="en-US" altLang="zh-CN" sz="1600" b="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	~/.bashrc</a:t>
            </a:r>
            <a:r>
              <a:rPr lang="zh-CN" altLang="en-US" sz="1600" b="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文件中</a:t>
            </a:r>
            <a:endParaRPr lang="zh-CN" altLang="en-US" sz="1600" b="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b="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针对所有用户生效，配置在系统的：</a:t>
            </a:r>
            <a:r>
              <a:rPr lang="en-US" altLang="zh-CN" sz="1600" b="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	/etc/profile</a:t>
            </a:r>
            <a:r>
              <a:rPr lang="zh-CN" altLang="en-US" sz="1600" b="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文件中</a:t>
            </a:r>
            <a:endParaRPr lang="zh-CN" altLang="en-US" sz="1600" b="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600" b="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并通过语法：</a:t>
            </a:r>
            <a:r>
              <a:rPr lang="en-US" altLang="zh-CN" sz="1600" b="0">
                <a:solidFill>
                  <a:schemeClr val="tx2">
                    <a:lumMod val="60000"/>
                    <a:lumOff val="40000"/>
                  </a:schemeClr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source </a:t>
            </a:r>
            <a:r>
              <a:rPr lang="zh-CN" altLang="en-US" sz="1600" b="0">
                <a:solidFill>
                  <a:schemeClr val="tx2">
                    <a:lumMod val="60000"/>
                    <a:lumOff val="40000"/>
                  </a:schemeClr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配置文件</a:t>
            </a:r>
            <a:r>
              <a:rPr lang="zh-CN" altLang="en-US" sz="1600" b="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，进行立刻生效，或重新登录</a:t>
            </a:r>
            <a:r>
              <a:rPr lang="en-US" altLang="zh-CN" sz="1600" b="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FinalShell</a:t>
            </a:r>
            <a:r>
              <a:rPr lang="zh-CN" altLang="en-US" sz="1600" b="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生效</a:t>
            </a:r>
            <a:endParaRPr lang="zh-CN" altLang="en-US" sz="1600" b="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zh-CN" altLang="en-US" sz="1600" b="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370" y="3930015"/>
            <a:ext cx="5189220" cy="624840"/>
          </a:xfrm>
          <a:prstGeom prst="rect">
            <a:avLst/>
          </a:prstGeom>
        </p:spPr>
      </p:pic>
      <p:pic>
        <p:nvPicPr>
          <p:cNvPr id="5" name="图片 4" descr="01 (9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259695" y="4460875"/>
            <a:ext cx="2134235" cy="2134235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自定义环境变量</a:t>
            </a:r>
            <a:r>
              <a:rPr lang="en-US" altLang="zh-CN"/>
              <a:t>PATH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环境变量</a:t>
            </a:r>
            <a:r>
              <a:rPr lang="en-US" altLang="zh-CN"/>
              <a:t>PATH</a:t>
            </a:r>
            <a:r>
              <a:rPr lang="zh-CN" altLang="en-US"/>
              <a:t>这个项目里面记录了系统执行命令的搜索</a:t>
            </a:r>
            <a:r>
              <a:rPr lang="zh-CN" altLang="en-US"/>
              <a:t>路径。</a:t>
            </a:r>
            <a:endParaRPr lang="zh-CN" altLang="en-US"/>
          </a:p>
          <a:p>
            <a:r>
              <a:rPr lang="zh-CN" altLang="en-US"/>
              <a:t>这些搜索路径我们也可以自行添加到</a:t>
            </a:r>
            <a:r>
              <a:rPr lang="en-US" altLang="zh-CN"/>
              <a:t>PATH</a:t>
            </a:r>
            <a:r>
              <a:rPr lang="zh-CN" altLang="en-US"/>
              <a:t>中</a:t>
            </a:r>
            <a:r>
              <a:rPr lang="zh-CN" altLang="en-US"/>
              <a:t>去。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测试：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在当前</a:t>
            </a:r>
            <a:r>
              <a:rPr lang="en-US" altLang="zh-CN"/>
              <a:t>HOME</a:t>
            </a:r>
            <a:r>
              <a:rPr lang="zh-CN" altLang="en-US"/>
              <a:t>目录内创建文件夹，</a:t>
            </a:r>
            <a:r>
              <a:rPr lang="en-US" altLang="zh-CN"/>
              <a:t>myenv</a:t>
            </a:r>
            <a:r>
              <a:rPr lang="zh-CN" altLang="en-US"/>
              <a:t>，在文件夹内创建文件</a:t>
            </a:r>
            <a:r>
              <a:rPr lang="en-US" altLang="zh-CN"/>
              <a:t>mkhaha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通过</a:t>
            </a:r>
            <a:r>
              <a:rPr lang="en-US" altLang="zh-CN"/>
              <a:t>vim</a:t>
            </a:r>
            <a:r>
              <a:rPr lang="zh-CN" altLang="en-US"/>
              <a:t>编辑器，在</a:t>
            </a:r>
            <a:r>
              <a:rPr lang="en-US" altLang="zh-CN"/>
              <a:t>mkhaha</a:t>
            </a:r>
            <a:r>
              <a:rPr lang="zh-CN" altLang="en-US"/>
              <a:t>文件内填入：</a:t>
            </a:r>
            <a:r>
              <a:rPr lang="en-US" altLang="zh-CN"/>
              <a:t>echo </a:t>
            </a:r>
            <a:r>
              <a:rPr lang="zh-CN" altLang="en-US"/>
              <a:t>哈哈哈哈哈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完成上述操作后，随意切换工作目录，执行</a:t>
            </a:r>
            <a:r>
              <a:rPr lang="en-US" altLang="zh-CN"/>
              <a:t>mkhaha</a:t>
            </a:r>
            <a:r>
              <a:rPr lang="zh-CN" altLang="en-US"/>
              <a:t>命令尝试一下，会发现无法</a:t>
            </a:r>
            <a:r>
              <a:rPr lang="zh-CN" altLang="en-US"/>
              <a:t>执行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修改</a:t>
            </a:r>
            <a:r>
              <a:rPr lang="en-US" altLang="zh-CN"/>
              <a:t>PATH</a:t>
            </a:r>
            <a:r>
              <a:rPr lang="zh-CN" altLang="en-US"/>
              <a:t>的</a:t>
            </a:r>
            <a:r>
              <a:rPr lang="zh-CN" altLang="en-US"/>
              <a:t>值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临时修改</a:t>
            </a:r>
            <a:r>
              <a:rPr lang="en-US" altLang="zh-CN"/>
              <a:t>PATH</a:t>
            </a:r>
            <a:r>
              <a:rPr lang="zh-CN" altLang="en-US"/>
              <a:t>：</a:t>
            </a:r>
            <a:r>
              <a:rPr lang="en-US" altLang="zh-CN"/>
              <a:t>export PATH=$PATH:/home/itheima/myenv</a:t>
            </a:r>
            <a:r>
              <a:rPr lang="zh-CN" altLang="en-US"/>
              <a:t>，再次执行</a:t>
            </a:r>
            <a:r>
              <a:rPr lang="en-US" altLang="zh-CN"/>
              <a:t>mkhaha</a:t>
            </a:r>
            <a:r>
              <a:rPr lang="zh-CN" altLang="en-US"/>
              <a:t>，无论在哪里都能执行</a:t>
            </a:r>
            <a:r>
              <a:rPr lang="zh-CN" altLang="en-US"/>
              <a:t>了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或将</a:t>
            </a:r>
            <a:r>
              <a:rPr lang="en-US" altLang="zh-CN">
                <a:sym typeface="+mn-ea"/>
              </a:rPr>
              <a:t>export PATH=$PATH:/home/itheima/myenv</a:t>
            </a:r>
            <a:r>
              <a:rPr lang="zh-CN" altLang="en-US">
                <a:sym typeface="+mn-ea"/>
              </a:rPr>
              <a:t>，填入用户环境变量文件或系统环境变量文件中去</a:t>
            </a:r>
            <a:endParaRPr lang="zh-CN" altLang="en-US">
              <a:sym typeface="+mn-ea"/>
            </a:endParaRPr>
          </a:p>
        </p:txBody>
      </p:sp>
      <p:pic>
        <p:nvPicPr>
          <p:cNvPr id="4" name="图片 3" descr="01 (10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4505" y="4796790"/>
            <a:ext cx="1816100" cy="18161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689090" cy="4511040"/>
          </a:xfrm>
        </p:spPr>
        <p:txBody>
          <a:bodyPr/>
          <a:p>
            <a:pPr marL="0" indent="0">
              <a:lnSpc>
                <a:spcPct val="140000"/>
              </a:lnSpc>
              <a:buNone/>
            </a:pPr>
            <a:r>
              <a:rPr lang="en-US" altLang="zh-CN"/>
              <a:t>1. </a:t>
            </a:r>
            <a:r>
              <a:rPr lang="zh-CN" altLang="en-US"/>
              <a:t>什么是环境变量？</a:t>
            </a:r>
            <a:endParaRPr lang="zh-CN" altLang="en-US"/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sz="1400"/>
              <a:t>环境变量是一组信息记录，类型是</a:t>
            </a:r>
            <a:r>
              <a:rPr lang="en-US" altLang="zh-CN" sz="1400"/>
              <a:t>KeyValue</a:t>
            </a:r>
            <a:r>
              <a:rPr lang="zh-CN" altLang="en-US" sz="1400"/>
              <a:t>型（名称</a:t>
            </a:r>
            <a:r>
              <a:rPr lang="en-US" altLang="zh-CN" sz="1400"/>
              <a:t>=</a:t>
            </a:r>
            <a:r>
              <a:rPr lang="zh-CN" altLang="en-US" sz="1400"/>
              <a:t>值），用于操作系统运行的时候记录关键</a:t>
            </a:r>
            <a:r>
              <a:rPr lang="zh-CN" altLang="en-US" sz="1400"/>
              <a:t>信息</a:t>
            </a:r>
            <a:endParaRPr lang="zh-CN" altLang="en-US" sz="1400"/>
          </a:p>
          <a:p>
            <a:pPr marL="0" indent="0">
              <a:lnSpc>
                <a:spcPct val="140000"/>
              </a:lnSpc>
              <a:buNone/>
            </a:pPr>
            <a:r>
              <a:rPr lang="en-US" altLang="zh-CN"/>
              <a:t>2. </a:t>
            </a:r>
            <a:r>
              <a:rPr lang="zh-CN" altLang="en-US"/>
              <a:t>通过</a:t>
            </a:r>
            <a:r>
              <a:rPr lang="en-US" altLang="zh-CN"/>
              <a:t>env</a:t>
            </a:r>
            <a:r>
              <a:rPr lang="zh-CN" altLang="en-US"/>
              <a:t>命令可以查看当前系统配置的环境变量信息</a:t>
            </a:r>
            <a:endParaRPr lang="zh-CN" altLang="en-US" sz="1400"/>
          </a:p>
          <a:p>
            <a:pPr marL="0" indent="0">
              <a:lnSpc>
                <a:spcPct val="140000"/>
              </a:lnSpc>
              <a:buNone/>
            </a:pPr>
            <a:r>
              <a:rPr lang="en-US" altLang="zh-CN"/>
              <a:t>3. </a:t>
            </a:r>
            <a:r>
              <a:rPr lang="zh-CN" altLang="en-US"/>
              <a:t>通过</a:t>
            </a:r>
            <a:r>
              <a:rPr lang="en-US" altLang="zh-CN"/>
              <a:t>$</a:t>
            </a:r>
            <a:r>
              <a:rPr lang="zh-CN" altLang="en-US"/>
              <a:t>符号，可以取出环境变量的值</a:t>
            </a:r>
            <a:endParaRPr lang="zh-CN" altLang="en-US" sz="1400"/>
          </a:p>
          <a:p>
            <a:pPr marL="0" indent="0">
              <a:lnSpc>
                <a:spcPct val="140000"/>
              </a:lnSpc>
              <a:buNone/>
            </a:pPr>
            <a:r>
              <a:rPr lang="en-US" altLang="zh-CN"/>
              <a:t>4. </a:t>
            </a:r>
            <a:r>
              <a:rPr lang="zh-CN" altLang="en-US"/>
              <a:t>什么是</a:t>
            </a:r>
            <a:r>
              <a:rPr lang="en-US" altLang="zh-CN"/>
              <a:t>PATH</a:t>
            </a:r>
            <a:r>
              <a:rPr lang="zh-CN" altLang="en-US"/>
              <a:t>，作用是？</a:t>
            </a:r>
            <a:endParaRPr lang="zh-CN" altLang="en-US" sz="1400"/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sz="1400"/>
              <a:t>环境变量</a:t>
            </a:r>
            <a:r>
              <a:rPr lang="en-US" altLang="zh-CN" sz="1400"/>
              <a:t>PATH</a:t>
            </a:r>
            <a:r>
              <a:rPr lang="zh-CN" altLang="en-US" sz="1400"/>
              <a:t>会记录一组目录，目录之间用</a:t>
            </a:r>
            <a:r>
              <a:rPr lang="en-US" altLang="zh-CN" sz="1400"/>
              <a:t>:</a:t>
            </a:r>
            <a:r>
              <a:rPr lang="zh-CN" altLang="en-US" sz="1400"/>
              <a:t>隔开。这里记录的是命令的搜索路径，当执行命令会从记录中记录的目录中挨个搜索要执行的命令并</a:t>
            </a:r>
            <a:r>
              <a:rPr lang="zh-CN" altLang="en-US" sz="1400"/>
              <a:t>执行。</a:t>
            </a:r>
            <a:endParaRPr lang="zh-CN" altLang="en-US" sz="1400"/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sz="1400"/>
              <a:t>可以通过修改这个项目的值，加入自定义的命令搜索路径</a:t>
            </a:r>
            <a:endParaRPr lang="zh-CN" altLang="en-US" sz="1400"/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sz="1400"/>
              <a:t>如</a:t>
            </a:r>
            <a:r>
              <a:rPr lang="en-US" altLang="zh-CN" sz="1400"/>
              <a:t>export PATH=$PATH:</a:t>
            </a:r>
            <a:r>
              <a:rPr lang="zh-CN" altLang="en-US" sz="1400"/>
              <a:t>自定义</a:t>
            </a:r>
            <a:r>
              <a:rPr lang="zh-CN" altLang="en-US" sz="1400"/>
              <a:t>路径</a:t>
            </a:r>
            <a:endParaRPr lang="zh-CN" altLang="en-US" sz="1400"/>
          </a:p>
          <a:p>
            <a:pPr marL="0" indent="0">
              <a:lnSpc>
                <a:spcPct val="140000"/>
              </a:lnSpc>
              <a:buNone/>
            </a:pPr>
            <a:r>
              <a:rPr lang="en-US" altLang="zh-CN"/>
              <a:t>5. </a:t>
            </a:r>
            <a:r>
              <a:rPr lang="zh-CN" altLang="en-US"/>
              <a:t>如何修改环境变量？</a:t>
            </a:r>
            <a:endParaRPr lang="zh-CN" altLang="en-US" sz="14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临时生效：</a:t>
            </a:r>
            <a:r>
              <a:rPr lang="en-US" altLang="zh-CN" sz="1400"/>
              <a:t>export </a:t>
            </a:r>
            <a:r>
              <a:rPr lang="zh-CN" altLang="en-US" sz="1400"/>
              <a:t>名称</a:t>
            </a:r>
            <a:r>
              <a:rPr lang="en-US" altLang="zh-CN" sz="1400"/>
              <a:t>=</a:t>
            </a:r>
            <a:r>
              <a:rPr lang="zh-CN" altLang="en-US" sz="1400"/>
              <a:t>值</a:t>
            </a:r>
            <a:endParaRPr lang="zh-CN" altLang="en-US" sz="140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/>
              <a:t>永久</a:t>
            </a:r>
            <a:r>
              <a:rPr lang="zh-CN" altLang="en-US" sz="1400"/>
              <a:t>生效：</a:t>
            </a:r>
            <a:endParaRPr lang="zh-CN" altLang="en-US" sz="1400"/>
          </a:p>
          <a:p>
            <a:pPr marL="742950" lvl="1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针对用户：</a:t>
            </a:r>
            <a:r>
              <a:rPr lang="en-US" altLang="zh-CN" sz="1400" b="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~/.bashrc</a:t>
            </a:r>
            <a:r>
              <a:rPr lang="zh-CN" altLang="en-US" sz="1400" b="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文件中配置</a:t>
            </a:r>
            <a:endParaRPr lang="zh-CN" altLang="en-US" sz="1400" b="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742950" lvl="1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针对全部用户：</a:t>
            </a:r>
            <a:r>
              <a:rPr lang="en-US" altLang="zh-CN" sz="1400" b="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/etc/profile</a:t>
            </a:r>
            <a:r>
              <a:rPr lang="zh-CN" altLang="en-US" sz="1400" b="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文件中配置</a:t>
            </a:r>
            <a:endParaRPr lang="zh-CN" altLang="en-US" sz="1400" b="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742950" lvl="1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400" b="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配置完成，可以通过</a:t>
            </a:r>
            <a:r>
              <a:rPr lang="en-US" altLang="zh-CN" sz="1400" b="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source</a:t>
            </a:r>
            <a:r>
              <a:rPr lang="zh-CN" altLang="en-US" sz="1400" b="0"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命令立刻生效</a:t>
            </a:r>
            <a:endParaRPr lang="zh-CN" altLang="en-US" sz="1400" b="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675" y="679450"/>
            <a:ext cx="5973445" cy="5344160"/>
          </a:xfrm>
        </p:spPr>
        <p:txBody>
          <a:bodyPr/>
          <a:lstStyle/>
          <a:p>
            <a:pPr algn="l"/>
            <a:r>
              <a:rPr kumimoji="1" lang="zh-CN" altLang="en-US" sz="1600" dirty="0">
                <a:sym typeface="+mn-ea"/>
              </a:rPr>
              <a:t>各类小技巧（快捷键）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软件安装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systemctl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软连接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日期、时区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IP地址、主机名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网络传输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进程管理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主机状态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环境变量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上传、下载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压缩、解压</a:t>
            </a:r>
            <a:endParaRPr kumimoji="1" lang="zh-CN" altLang="en-US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5638165"/>
            <a:ext cx="410210" cy="41021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694305" y="4084320"/>
            <a:ext cx="309880" cy="25273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41285" y="6878320"/>
            <a:ext cx="309880" cy="25273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618105"/>
          </a:xfrm>
        </p:spPr>
        <p:txBody>
          <a:bodyPr/>
          <a:p>
            <a:r>
              <a:rPr 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掌握通过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FinalShell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在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Linux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系统中进行上传、下载</a:t>
            </a:r>
            <a:endParaRPr lang="zh-CN" altLang="en-US" sz="200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  <a:p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掌握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rz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、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sz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命令</a:t>
            </a:r>
            <a:endParaRPr lang="zh-CN" altLang="en-US" sz="200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上传、下载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我们可以通过</a:t>
            </a:r>
            <a:r>
              <a:rPr lang="en-US" altLang="zh-CN"/>
              <a:t>FinalShell</a:t>
            </a:r>
            <a:r>
              <a:rPr lang="zh-CN" altLang="en-US"/>
              <a:t>工具，方便的和虚拟机进行数据交换。</a:t>
            </a:r>
            <a:endParaRPr lang="zh-CN" altLang="en-US"/>
          </a:p>
          <a:p>
            <a:r>
              <a:rPr lang="zh-CN" altLang="en-US"/>
              <a:t>在</a:t>
            </a:r>
            <a:r>
              <a:rPr lang="en-US" altLang="zh-CN"/>
              <a:t>FinalShell</a:t>
            </a:r>
            <a:r>
              <a:rPr lang="zh-CN" altLang="en-US"/>
              <a:t>软件的下方窗体中，提供了</a:t>
            </a:r>
            <a:r>
              <a:rPr lang="en-US" altLang="zh-CN"/>
              <a:t>Linux</a:t>
            </a:r>
            <a:r>
              <a:rPr lang="zh-CN" altLang="en-US"/>
              <a:t>的文件系统视图，可以方便的：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浏览文件系统，找到合适的文件，右键点击下载，即可传输到本地电脑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浏览文件系统，找到合适的目录，将本地电脑的文件拓展进入，即可方便的上传数据到</a:t>
            </a:r>
            <a:r>
              <a:rPr lang="en-US" altLang="zh-CN"/>
              <a:t>Linux</a:t>
            </a:r>
            <a:r>
              <a:rPr lang="zh-CN" altLang="en-US"/>
              <a:t>中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910" y="3360420"/>
            <a:ext cx="6214745" cy="3292475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rz</a:t>
            </a:r>
            <a:r>
              <a:t>、</a:t>
            </a:r>
            <a:r>
              <a:rPr lang="en-US" altLang="zh-CN"/>
              <a:t>sz</a:t>
            </a:r>
            <a: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当然，除了通过</a:t>
            </a:r>
            <a:r>
              <a:rPr lang="en-US" altLang="zh-CN"/>
              <a:t>FinalShell</a:t>
            </a:r>
            <a:r>
              <a:rPr lang="zh-CN" altLang="en-US"/>
              <a:t>的下方窗体进行文件的传输以外，也可以通过</a:t>
            </a:r>
            <a:r>
              <a:rPr lang="en-US" altLang="zh-CN"/>
              <a:t>rz</a:t>
            </a:r>
            <a:r>
              <a:rPr lang="zh-CN" altLang="en-US"/>
              <a:t>、</a:t>
            </a:r>
            <a:r>
              <a:rPr lang="en-US" altLang="zh-CN"/>
              <a:t>sz</a:t>
            </a:r>
            <a:r>
              <a:rPr lang="zh-CN" altLang="en-US"/>
              <a:t>命令进行文件传输。</a:t>
            </a:r>
            <a:endParaRPr lang="zh-CN" altLang="en-US"/>
          </a:p>
          <a:p>
            <a:r>
              <a:rPr lang="en-US" altLang="zh-CN"/>
              <a:t>rz</a:t>
            </a:r>
            <a:r>
              <a:rPr lang="zh-CN" altLang="en-US"/>
              <a:t>、</a:t>
            </a:r>
            <a:r>
              <a:rPr lang="en-US" altLang="zh-CN"/>
              <a:t>sz</a:t>
            </a:r>
            <a:r>
              <a:rPr lang="zh-CN" altLang="en-US"/>
              <a:t>命令需要安装，可以通过：</a:t>
            </a:r>
            <a:r>
              <a:rPr lang="en-US" altLang="zh-CN"/>
              <a:t>yum -y install lrzsz</a:t>
            </a:r>
            <a:r>
              <a:rPr lang="zh-CN" altLang="en-US"/>
              <a:t>，即可安装。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rz</a:t>
            </a:r>
            <a:r>
              <a:rPr lang="zh-CN" altLang="en-US"/>
              <a:t>命令，进行上传，语法：直接输入</a:t>
            </a:r>
            <a:r>
              <a:rPr lang="en-US" altLang="zh-CN"/>
              <a:t>rz</a:t>
            </a:r>
            <a:r>
              <a:rPr lang="zh-CN" altLang="en-US"/>
              <a:t>即可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sz</a:t>
            </a:r>
            <a:r>
              <a:rPr lang="zh-CN" altLang="en-US"/>
              <a:t>命令进行下载，语法：</a:t>
            </a:r>
            <a:r>
              <a:rPr lang="en-US" altLang="zh-CN"/>
              <a:t>sz </a:t>
            </a:r>
            <a:r>
              <a:rPr lang="zh-CN" altLang="en-US"/>
              <a:t>要下载的文件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文件会自动下载到桌面的：</a:t>
            </a:r>
            <a:r>
              <a:rPr lang="en-US" altLang="zh-CN"/>
              <a:t>fsdownload</a:t>
            </a:r>
            <a:r>
              <a:rPr lang="zh-CN" altLang="en-US"/>
              <a:t>文件夹中。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 sz="1200">
                <a:solidFill>
                  <a:srgbClr val="FF0000"/>
                </a:solidFill>
              </a:rPr>
              <a:t>注意，</a:t>
            </a:r>
            <a:r>
              <a:rPr lang="en-US" altLang="zh-CN" sz="1200">
                <a:solidFill>
                  <a:srgbClr val="FF0000"/>
                </a:solidFill>
              </a:rPr>
              <a:t>rz</a:t>
            </a:r>
            <a:r>
              <a:rPr lang="zh-CN" altLang="en-US" sz="1200">
                <a:solidFill>
                  <a:srgbClr val="FF0000"/>
                </a:solidFill>
              </a:rPr>
              <a:t>、</a:t>
            </a:r>
            <a:r>
              <a:rPr lang="en-US" altLang="zh-CN" sz="1200">
                <a:solidFill>
                  <a:srgbClr val="FF0000"/>
                </a:solidFill>
              </a:rPr>
              <a:t>sz</a:t>
            </a:r>
            <a:r>
              <a:rPr lang="zh-CN" altLang="en-US" sz="1200">
                <a:solidFill>
                  <a:srgbClr val="FF0000"/>
                </a:solidFill>
              </a:rPr>
              <a:t>命令需要终端软件支持才可正常运行</a:t>
            </a:r>
            <a:endParaRPr lang="zh-CN" altLang="en-US" sz="120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en-US" altLang="zh-CN" sz="1200">
                <a:solidFill>
                  <a:srgbClr val="FF0000"/>
                </a:solidFill>
              </a:rPr>
              <a:t>FinalShell</a:t>
            </a:r>
            <a:r>
              <a:rPr lang="zh-CN" altLang="en-US" sz="1200">
                <a:solidFill>
                  <a:srgbClr val="FF0000"/>
                </a:solidFill>
              </a:rPr>
              <a:t>、</a:t>
            </a:r>
            <a:r>
              <a:rPr lang="en-US" altLang="zh-CN" sz="1200">
                <a:solidFill>
                  <a:srgbClr val="FF0000"/>
                </a:solidFill>
              </a:rPr>
              <a:t>SecureCRT</a:t>
            </a:r>
            <a:r>
              <a:rPr lang="zh-CN" altLang="en-US" sz="1200">
                <a:solidFill>
                  <a:srgbClr val="FF0000"/>
                </a:solidFill>
              </a:rPr>
              <a:t>、</a:t>
            </a:r>
            <a:r>
              <a:rPr lang="en-US" altLang="zh-CN" sz="1200">
                <a:solidFill>
                  <a:srgbClr val="FF0000"/>
                </a:solidFill>
              </a:rPr>
              <a:t>XShell</a:t>
            </a:r>
            <a:r>
              <a:rPr lang="zh-CN" altLang="en-US" sz="1200">
                <a:solidFill>
                  <a:srgbClr val="FF0000"/>
                </a:solidFill>
              </a:rPr>
              <a:t>等常用终端软件均支持此操作</a:t>
            </a:r>
            <a:endParaRPr lang="zh-CN" altLang="en-US" sz="120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</a:pPr>
            <a:endParaRPr lang="zh-CN" altLang="en-US" sz="120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15340" y="2899410"/>
            <a:ext cx="2245360" cy="13087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" y="4547870"/>
            <a:ext cx="5339080" cy="8051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689090" cy="4511040"/>
          </a:xfrm>
        </p:spPr>
        <p:txBody>
          <a:bodyPr/>
          <a:p>
            <a:pPr marL="0" indent="0">
              <a:lnSpc>
                <a:spcPct val="140000"/>
              </a:lnSpc>
              <a:buNone/>
            </a:pPr>
            <a:r>
              <a:rPr lang="en-US" altLang="zh-CN" b="0"/>
              <a:t>1. </a:t>
            </a:r>
            <a:r>
              <a:rPr lang="zh-CN" altLang="en-US" b="0"/>
              <a:t>如何使用</a:t>
            </a:r>
            <a:r>
              <a:rPr lang="en-US" altLang="zh-CN" b="0"/>
              <a:t>FinalShell</a:t>
            </a:r>
            <a:r>
              <a:rPr lang="zh-CN" altLang="en-US" b="0"/>
              <a:t>对</a:t>
            </a:r>
            <a:r>
              <a:rPr lang="en-US" altLang="zh-CN" b="0"/>
              <a:t>Linux</a:t>
            </a:r>
            <a:r>
              <a:rPr lang="zh-CN" altLang="en-US" b="0"/>
              <a:t>系统进行上传下载操作？</a:t>
            </a:r>
            <a:endParaRPr lang="zh-CN" altLang="en-US" b="0"/>
          </a:p>
          <a:p>
            <a:pPr marL="0" indent="0">
              <a:lnSpc>
                <a:spcPct val="140000"/>
              </a:lnSpc>
              <a:buNone/>
            </a:pPr>
            <a:endParaRPr lang="zh-CN" altLang="en-US" sz="1400" b="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0" indent="0">
              <a:lnSpc>
                <a:spcPct val="140000"/>
              </a:lnSpc>
              <a:buNone/>
            </a:pPr>
            <a:endParaRPr lang="zh-CN" altLang="en-US" sz="1400" b="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0" indent="0">
              <a:lnSpc>
                <a:spcPct val="140000"/>
              </a:lnSpc>
              <a:buNone/>
            </a:pPr>
            <a:endParaRPr lang="zh-CN" altLang="en-US" sz="1400" b="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0" indent="0">
              <a:lnSpc>
                <a:spcPct val="140000"/>
              </a:lnSpc>
              <a:buNone/>
            </a:pPr>
            <a:endParaRPr lang="zh-CN" altLang="en-US" sz="1400" b="0"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pPr marL="0" algn="l">
              <a:lnSpc>
                <a:spcPct val="140000"/>
              </a:lnSpc>
              <a:buNone/>
            </a:pPr>
            <a:endParaRPr lang="en-US" altLang="zh-CN" sz="1800" b="0"/>
          </a:p>
          <a:p>
            <a:pPr marL="0" algn="l">
              <a:lnSpc>
                <a:spcPct val="140000"/>
              </a:lnSpc>
              <a:buNone/>
            </a:pPr>
            <a:r>
              <a:rPr lang="en-US" altLang="zh-CN" sz="1800" b="0"/>
              <a:t>2. rz、sz命令</a:t>
            </a:r>
            <a:endParaRPr lang="en-US" altLang="zh-CN" sz="1800" b="0"/>
          </a:p>
          <a:p>
            <a:pPr marL="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 b="0"/>
              <a:t>通过 yum -y install lrzsz可以安装此命令</a:t>
            </a:r>
            <a:endParaRPr lang="en-US" altLang="zh-CN" sz="1400" b="0"/>
          </a:p>
          <a:p>
            <a:pPr marL="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 b="0"/>
              <a:t>rz进行文件上传</a:t>
            </a:r>
            <a:endParaRPr lang="en-US" altLang="zh-CN" sz="1400" b="0"/>
          </a:p>
          <a:p>
            <a:pPr marL="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 b="0"/>
              <a:t>sz 文件，进行文件下载</a:t>
            </a:r>
            <a:endParaRPr lang="en-US" altLang="zh-CN" sz="1400" b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1295" y="2338070"/>
            <a:ext cx="3445510" cy="1825625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675" y="679450"/>
            <a:ext cx="5973445" cy="5344160"/>
          </a:xfrm>
        </p:spPr>
        <p:txBody>
          <a:bodyPr/>
          <a:lstStyle/>
          <a:p>
            <a:pPr algn="l"/>
            <a:r>
              <a:rPr kumimoji="1" lang="zh-CN" altLang="en-US" sz="1600" dirty="0">
                <a:sym typeface="+mn-ea"/>
              </a:rPr>
              <a:t>各类小技巧（快捷键）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软件安装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systemctl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软连接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日期、时区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IP地址、主机名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网络传输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进程管理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主机状态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环境变量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上传、下载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压缩、解压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6170930"/>
            <a:ext cx="410210" cy="41021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694305" y="4084320"/>
            <a:ext cx="309880" cy="25273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41285" y="6878320"/>
            <a:ext cx="309880" cy="25273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618105"/>
          </a:xfrm>
        </p:spPr>
        <p:txBody>
          <a:bodyPr/>
          <a:p>
            <a:r>
              <a:rPr 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掌握使用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tar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命令压缩或解压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tar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或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gzip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文件</a:t>
            </a:r>
            <a:endParaRPr lang="zh-CN" altLang="en-US" sz="200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  <a:p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掌握使用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zip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、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unzip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命令压缩或解压</a:t>
            </a:r>
            <a:r>
              <a:rPr lang="en-US" altLang="zh-CN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zip</a:t>
            </a:r>
            <a:r>
              <a:rPr lang="zh-CN" altLang="en-US" sz="200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文件</a:t>
            </a:r>
            <a:endParaRPr lang="zh-CN" altLang="en-US" sz="200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压缩格式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市面上有非常多的压缩格式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zip</a:t>
            </a:r>
            <a:r>
              <a:rPr lang="zh-CN" altLang="en-US"/>
              <a:t>格式：</a:t>
            </a:r>
            <a:r>
              <a:rPr lang="en-US" altLang="zh-CN"/>
              <a:t>Linux</a:t>
            </a:r>
            <a:r>
              <a:rPr lang="zh-CN" altLang="en-US"/>
              <a:t>、</a:t>
            </a:r>
            <a:r>
              <a:rPr lang="en-US" altLang="zh-CN"/>
              <a:t>Windows</a:t>
            </a:r>
            <a:r>
              <a:rPr lang="zh-CN" altLang="en-US"/>
              <a:t>、</a:t>
            </a:r>
            <a:r>
              <a:rPr lang="en-US" altLang="zh-CN"/>
              <a:t>MacOS</a:t>
            </a:r>
            <a:r>
              <a:rPr lang="zh-CN" altLang="en-US"/>
              <a:t>，常用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7zip</a:t>
            </a:r>
            <a:r>
              <a:rPr lang="zh-CN" altLang="en-US"/>
              <a:t>：</a:t>
            </a:r>
            <a:r>
              <a:rPr lang="en-US" altLang="zh-CN"/>
              <a:t>Windows</a:t>
            </a:r>
            <a:r>
              <a:rPr lang="zh-CN" altLang="en-US"/>
              <a:t>系统常用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rar</a:t>
            </a:r>
            <a:r>
              <a:rPr lang="zh-CN" altLang="en-US"/>
              <a:t>：</a:t>
            </a:r>
            <a:r>
              <a:rPr lang="en-US" altLang="zh-CN"/>
              <a:t>Windows</a:t>
            </a:r>
            <a:r>
              <a:rPr lang="zh-CN" altLang="en-US"/>
              <a:t>系统常用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tar</a:t>
            </a:r>
            <a:r>
              <a:rPr lang="zh-CN" altLang="en-US"/>
              <a:t>：</a:t>
            </a:r>
            <a:r>
              <a:rPr lang="en-US" altLang="zh-CN"/>
              <a:t>Linux</a:t>
            </a:r>
            <a:r>
              <a:rPr lang="zh-CN" altLang="en-US"/>
              <a:t>、</a:t>
            </a:r>
            <a:r>
              <a:rPr lang="en-US" altLang="zh-CN"/>
              <a:t>MacOS</a:t>
            </a:r>
            <a:r>
              <a:rPr lang="zh-CN" altLang="en-US"/>
              <a:t>常用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gzip</a:t>
            </a:r>
            <a:r>
              <a:rPr lang="zh-CN" altLang="en-US"/>
              <a:t>：</a:t>
            </a:r>
            <a:r>
              <a:rPr lang="en-US" altLang="zh-CN"/>
              <a:t>Linux</a:t>
            </a:r>
            <a:r>
              <a:rPr lang="zh-CN" altLang="en-US"/>
              <a:t>、</a:t>
            </a:r>
            <a:r>
              <a:rPr lang="en-US" altLang="zh-CN"/>
              <a:t>MacOS</a:t>
            </a:r>
            <a:r>
              <a:rPr lang="zh-CN" altLang="en-US"/>
              <a:t>常用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在</a:t>
            </a:r>
            <a:r>
              <a:rPr lang="en-US" altLang="zh-CN"/>
              <a:t>Windows</a:t>
            </a:r>
            <a:r>
              <a:rPr lang="zh-CN" altLang="en-US"/>
              <a:t>系统中常用的软件如：</a:t>
            </a:r>
            <a:r>
              <a:rPr lang="en-US" altLang="zh-CN"/>
              <a:t>winrar</a:t>
            </a:r>
            <a:r>
              <a:rPr lang="zh-CN" altLang="en-US"/>
              <a:t>、</a:t>
            </a:r>
            <a:r>
              <a:rPr lang="en-US" altLang="zh-CN"/>
              <a:t>bandizip</a:t>
            </a:r>
            <a:r>
              <a:rPr lang="zh-CN" altLang="en-US"/>
              <a:t>等软件，都支持各类常见的压缩格式，这里不多做讨论。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我们现在要学习，如何在</a:t>
            </a:r>
            <a:r>
              <a:rPr lang="en-US" altLang="zh-CN"/>
              <a:t>Linux</a:t>
            </a:r>
            <a:r>
              <a:rPr lang="zh-CN" altLang="en-US"/>
              <a:t>系统中操作：</a:t>
            </a:r>
            <a:r>
              <a:rPr lang="en-US" altLang="zh-CN"/>
              <a:t>tar</a:t>
            </a:r>
            <a:r>
              <a:rPr lang="zh-CN" altLang="en-US"/>
              <a:t>、</a:t>
            </a:r>
            <a:r>
              <a:rPr lang="en-US" altLang="zh-CN"/>
              <a:t>gzip</a:t>
            </a:r>
            <a:r>
              <a:rPr lang="zh-CN" altLang="en-US"/>
              <a:t>、</a:t>
            </a:r>
            <a:r>
              <a:rPr lang="en-US" altLang="zh-CN"/>
              <a:t>zip</a:t>
            </a:r>
            <a:r>
              <a:rPr lang="zh-CN" altLang="en-US"/>
              <a:t>这三种压缩格式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完成文件的压缩、解压操作。</a:t>
            </a:r>
            <a:endParaRPr lang="zh-CN" altLang="en-US"/>
          </a:p>
        </p:txBody>
      </p:sp>
      <p:pic>
        <p:nvPicPr>
          <p:cNvPr id="4" name="图片 3" descr="01 (9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4415" y="5453380"/>
            <a:ext cx="1159510" cy="115951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tar</a:t>
            </a:r>
            <a: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Linux</a:t>
            </a:r>
            <a:r>
              <a:rPr lang="zh-CN" altLang="en-US"/>
              <a:t>和</a:t>
            </a:r>
            <a:r>
              <a:rPr lang="en-US" altLang="zh-CN"/>
              <a:t>Mac</a:t>
            </a:r>
            <a:r>
              <a:rPr lang="zh-CN" altLang="en-US"/>
              <a:t>系统常用有</a:t>
            </a:r>
            <a:r>
              <a:rPr lang="en-US" altLang="zh-CN"/>
              <a:t>2</a:t>
            </a:r>
            <a:r>
              <a:rPr lang="zh-CN" altLang="en-US"/>
              <a:t>种压缩格式，后缀名分别是：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.tar</a:t>
            </a:r>
            <a:r>
              <a:rPr lang="zh-CN" altLang="en-US"/>
              <a:t>，称之为</a:t>
            </a:r>
            <a:r>
              <a:rPr lang="en-US" altLang="zh-CN"/>
              <a:t>tarball</a:t>
            </a:r>
            <a:r>
              <a:rPr lang="zh-CN" altLang="en-US"/>
              <a:t>，归档文件，即简单的将文件组装到一个</a:t>
            </a:r>
            <a:r>
              <a:rPr lang="en-US" altLang="zh-CN"/>
              <a:t>.tar</a:t>
            </a:r>
            <a:r>
              <a:rPr lang="zh-CN" altLang="en-US"/>
              <a:t>的文件内，并没有太多文件体积的减少，仅仅是简单的封装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.gz</a:t>
            </a:r>
            <a:r>
              <a:rPr lang="zh-CN" altLang="en-US"/>
              <a:t>，也常见为</a:t>
            </a:r>
            <a:r>
              <a:rPr lang="en-US" altLang="zh-CN"/>
              <a:t>.tar.gz</a:t>
            </a:r>
            <a:r>
              <a:rPr lang="zh-CN" altLang="en-US"/>
              <a:t>，</a:t>
            </a:r>
            <a:r>
              <a:rPr lang="en-US" altLang="zh-CN"/>
              <a:t>gzip</a:t>
            </a:r>
            <a:r>
              <a:rPr lang="zh-CN" altLang="en-US"/>
              <a:t>格式压缩文件，即使用</a:t>
            </a:r>
            <a:r>
              <a:rPr lang="en-US" altLang="zh-CN"/>
              <a:t>gzip</a:t>
            </a:r>
            <a:r>
              <a:rPr lang="zh-CN" altLang="en-US"/>
              <a:t>压缩算法将文件压缩到一个文件内，可以极大的减少压缩后的体积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针对这两种格式，使用</a:t>
            </a:r>
            <a:r>
              <a:rPr lang="en-US" altLang="zh-CN"/>
              <a:t>tar</a:t>
            </a:r>
            <a:r>
              <a:rPr lang="zh-CN" altLang="en-US"/>
              <a:t>命令均可以进行压缩和解压缩的操作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语法：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-c</a:t>
            </a:r>
            <a:r>
              <a:rPr lang="zh-CN" altLang="en-US" sz="1200"/>
              <a:t>，创建压缩文件，用于压缩模式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-v</a:t>
            </a:r>
            <a:r>
              <a:rPr lang="zh-CN" altLang="en-US" sz="1200"/>
              <a:t>，显示压缩、解压过程，用于查看进度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-x</a:t>
            </a:r>
            <a:r>
              <a:rPr lang="zh-CN" altLang="en-US" sz="1200"/>
              <a:t>，解压模式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-f</a:t>
            </a:r>
            <a:r>
              <a:rPr lang="zh-CN" altLang="en-US" sz="1200"/>
              <a:t>，要创建的文件，或要解压的文件，</a:t>
            </a:r>
            <a:r>
              <a:rPr lang="en-US" altLang="zh-CN" sz="1200"/>
              <a:t>-f</a:t>
            </a:r>
            <a:r>
              <a:rPr lang="zh-CN" altLang="en-US" sz="1200"/>
              <a:t>选项必须在所有选项中位置处于最后一个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-z</a:t>
            </a:r>
            <a:r>
              <a:rPr lang="zh-CN" altLang="en-US" sz="1200"/>
              <a:t>，</a:t>
            </a:r>
            <a:r>
              <a:rPr lang="en-US" altLang="zh-CN" sz="1200"/>
              <a:t>gzip</a:t>
            </a:r>
            <a:r>
              <a:rPr lang="zh-CN" altLang="en-US" sz="1200"/>
              <a:t>模式，不使用</a:t>
            </a:r>
            <a:r>
              <a:rPr lang="en-US" altLang="zh-CN" sz="1200"/>
              <a:t>-z</a:t>
            </a:r>
            <a:r>
              <a:rPr lang="zh-CN" altLang="en-US" sz="1200"/>
              <a:t>就是普通的</a:t>
            </a:r>
            <a:r>
              <a:rPr lang="en-US" altLang="zh-CN" sz="1200"/>
              <a:t>tarball</a:t>
            </a:r>
            <a:r>
              <a:rPr lang="zh-CN" altLang="en-US" sz="1200"/>
              <a:t>格式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-C</a:t>
            </a:r>
            <a:r>
              <a:rPr lang="zh-CN" altLang="en-US" sz="1200"/>
              <a:t>，选择解压的目的地，用于解压模式</a:t>
            </a:r>
            <a:endParaRPr lang="zh-CN" altLang="en-US" sz="1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490" y="4161790"/>
            <a:ext cx="4051300" cy="304800"/>
          </a:xfrm>
          <a:prstGeom prst="rect">
            <a:avLst/>
          </a:prstGeom>
        </p:spPr>
      </p:pic>
      <p:pic>
        <p:nvPicPr>
          <p:cNvPr id="7" name="图片 6" descr="01 (97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612755" y="5187315"/>
            <a:ext cx="1579245" cy="1579245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tar </a:t>
            </a:r>
            <a:r>
              <a:t>命令</a:t>
            </a:r>
            <a:r>
              <a:t>压缩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tar</a:t>
            </a:r>
            <a:r>
              <a:rPr lang="zh-CN" altLang="en-US"/>
              <a:t>的常用组合</a:t>
            </a:r>
            <a:r>
              <a:rPr lang="zh-CN" altLang="en-US"/>
              <a:t>为：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tar -cvf test.tar 1.txt 2.txt 3.txt</a:t>
            </a:r>
            <a:endParaRPr lang="en-US" altLang="zh-CN"/>
          </a:p>
          <a:p>
            <a:pPr>
              <a:buFont typeface="Arial" panose="020B0604020202020204" pitchFamily="34" charset="0"/>
            </a:pPr>
            <a:r>
              <a:rPr lang="zh-CN" altLang="en-US"/>
              <a:t>将</a:t>
            </a:r>
            <a:r>
              <a:rPr lang="en-US" altLang="zh-CN"/>
              <a:t>1.txt 2.txt 3.txt </a:t>
            </a:r>
            <a:r>
              <a:rPr lang="zh-CN" altLang="en-US"/>
              <a:t>压缩到</a:t>
            </a:r>
            <a:r>
              <a:rPr lang="en-US" altLang="zh-CN"/>
              <a:t>test.tar</a:t>
            </a:r>
            <a:r>
              <a:rPr lang="zh-CN" altLang="en-US"/>
              <a:t>文件</a:t>
            </a:r>
            <a:r>
              <a:rPr lang="zh-CN" altLang="en-US"/>
              <a:t>内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tar -zcvf test.tar.gz 1.txt 2.txt 3.txt</a:t>
            </a:r>
            <a:endParaRPr lang="en-US" altLang="zh-CN"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zh-CN" altLang="en-US">
                <a:sym typeface="+mn-ea"/>
              </a:rPr>
              <a:t>将</a:t>
            </a:r>
            <a:r>
              <a:rPr lang="en-US" altLang="zh-CN">
                <a:sym typeface="+mn-ea"/>
              </a:rPr>
              <a:t>1.txt 2.txt 3.txt </a:t>
            </a:r>
            <a:r>
              <a:rPr lang="zh-CN" altLang="en-US">
                <a:sym typeface="+mn-ea"/>
              </a:rPr>
              <a:t>压缩到</a:t>
            </a:r>
            <a:r>
              <a:rPr lang="en-US" altLang="zh-CN">
                <a:sym typeface="+mn-ea"/>
              </a:rPr>
              <a:t>test.tar.gz</a:t>
            </a:r>
            <a:r>
              <a:rPr lang="zh-CN" altLang="en-US">
                <a:sym typeface="+mn-ea"/>
              </a:rPr>
              <a:t>文件内，使用</a:t>
            </a:r>
            <a:r>
              <a:rPr lang="en-US" altLang="zh-CN">
                <a:sym typeface="+mn-ea"/>
              </a:rPr>
              <a:t>gzip</a:t>
            </a:r>
            <a:r>
              <a:rPr lang="zh-CN" altLang="en-US">
                <a:sym typeface="+mn-ea"/>
              </a:rPr>
              <a:t>模式</a:t>
            </a:r>
            <a:endParaRPr lang="zh-CN" altLang="en-US">
              <a:sym typeface="+mn-ea"/>
            </a:endParaRPr>
          </a:p>
          <a:p>
            <a:pPr>
              <a:buFont typeface="Arial" panose="020B0604020202020204" pitchFamily="34" charset="0"/>
            </a:pPr>
            <a:endParaRPr lang="zh-CN" altLang="en-US"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zh-CN" altLang="en-US">
                <a:sym typeface="+mn-ea"/>
              </a:rPr>
              <a:t>注意：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-z</a:t>
            </a:r>
            <a:r>
              <a:rPr lang="zh-CN" altLang="en-US">
                <a:sym typeface="+mn-ea"/>
              </a:rPr>
              <a:t>选项如果使用的话，一般处于</a:t>
            </a:r>
            <a:r>
              <a:rPr lang="zh-CN" altLang="en-US">
                <a:sym typeface="+mn-ea"/>
              </a:rPr>
              <a:t>选项位</a:t>
            </a:r>
            <a:r>
              <a:rPr lang="zh-CN" altLang="en-US">
                <a:sym typeface="+mn-ea"/>
              </a:rPr>
              <a:t>第一个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-f</a:t>
            </a:r>
            <a:r>
              <a:rPr lang="zh-CN" altLang="en-US">
                <a:sym typeface="+mn-ea"/>
              </a:rPr>
              <a:t>选项，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必须</a:t>
            </a:r>
            <a:r>
              <a:rPr lang="zh-CN" altLang="en-US">
                <a:sym typeface="+mn-ea"/>
              </a:rPr>
              <a:t>在选项位最后</a:t>
            </a:r>
            <a:r>
              <a:rPr lang="zh-CN" altLang="en-US">
                <a:sym typeface="+mn-ea"/>
              </a:rPr>
              <a:t>一个</a:t>
            </a:r>
            <a:endParaRPr lang="zh-CN" altLang="en-US">
              <a:sym typeface="+mn-ea"/>
            </a:endParaRPr>
          </a:p>
        </p:txBody>
      </p:sp>
      <p:pic>
        <p:nvPicPr>
          <p:cNvPr id="5" name="图片 4" descr="01 (98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0763885" y="5003800"/>
            <a:ext cx="1616075" cy="1616075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tar </a:t>
            </a:r>
            <a:r>
              <a:t>解压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常用的</a:t>
            </a:r>
            <a:r>
              <a:rPr lang="en-US" altLang="zh-CN"/>
              <a:t>tar</a:t>
            </a:r>
            <a:r>
              <a:rPr lang="zh-CN" altLang="en-US"/>
              <a:t>解压组合有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tar -xvf test.tar</a:t>
            </a:r>
            <a:endParaRPr lang="en-US" altLang="zh-CN"/>
          </a:p>
          <a:p>
            <a:pPr>
              <a:buFont typeface="Arial" panose="020B0604020202020204" pitchFamily="34" charset="0"/>
            </a:pPr>
            <a:r>
              <a:rPr lang="zh-CN" altLang="en-US"/>
              <a:t>解压</a:t>
            </a:r>
            <a:r>
              <a:rPr lang="en-US" altLang="zh-CN"/>
              <a:t>test.tar</a:t>
            </a:r>
            <a:r>
              <a:rPr lang="zh-CN" altLang="en-US"/>
              <a:t>，将文件解压至当前目录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tar -xvf test.tar -C /home/itheima</a:t>
            </a:r>
            <a:endParaRPr lang="en-US" altLang="zh-CN"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zh-CN" altLang="en-US">
                <a:sym typeface="+mn-ea"/>
              </a:rPr>
              <a:t>解压</a:t>
            </a:r>
            <a:r>
              <a:rPr lang="en-US" altLang="zh-CN">
                <a:sym typeface="+mn-ea"/>
              </a:rPr>
              <a:t>test.tar</a:t>
            </a:r>
            <a:r>
              <a:rPr lang="zh-CN" altLang="en-US">
                <a:sym typeface="+mn-ea"/>
              </a:rPr>
              <a:t>，将文件解压至指定目录（</a:t>
            </a:r>
            <a:r>
              <a:rPr lang="en-US" altLang="zh-CN">
                <a:sym typeface="+mn-ea"/>
              </a:rPr>
              <a:t>/home/itheima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tar -zxvf test.tar.gz -C /home/itheima</a:t>
            </a:r>
            <a:endParaRPr lang="en-US" altLang="zh-CN"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zh-CN" altLang="en-US">
                <a:sym typeface="+mn-ea"/>
              </a:rPr>
              <a:t>以</a:t>
            </a:r>
            <a:r>
              <a:rPr lang="en-US" altLang="zh-CN">
                <a:sym typeface="+mn-ea"/>
              </a:rPr>
              <a:t>Gzip</a:t>
            </a:r>
            <a:r>
              <a:rPr lang="zh-CN" altLang="en-US">
                <a:sym typeface="+mn-ea"/>
              </a:rPr>
              <a:t>模式解压</a:t>
            </a:r>
            <a:r>
              <a:rPr lang="en-US" altLang="zh-CN">
                <a:sym typeface="+mn-ea"/>
              </a:rPr>
              <a:t>test.tar.gz</a:t>
            </a:r>
            <a:r>
              <a:rPr lang="zh-CN" altLang="en-US">
                <a:sym typeface="+mn-ea"/>
              </a:rPr>
              <a:t>，将文件解压至指定目录（</a:t>
            </a:r>
            <a:r>
              <a:rPr lang="en-US" altLang="zh-CN">
                <a:sym typeface="+mn-ea"/>
              </a:rPr>
              <a:t>/home/itheima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pPr>
              <a:buFont typeface="Arial" panose="020B0604020202020204" pitchFamily="34" charset="0"/>
            </a:pPr>
            <a:endParaRPr lang="zh-CN" altLang="en-US"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注意：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0000"/>
                </a:solidFill>
                <a:sym typeface="+mn-ea"/>
              </a:rPr>
              <a:t>-f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选项，必须在选项组合体的最后一位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0000"/>
                </a:solidFill>
                <a:sym typeface="+mn-ea"/>
              </a:rPr>
              <a:t>-z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选项，建议在开头位置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FF0000"/>
                </a:solidFill>
                <a:sym typeface="+mn-ea"/>
              </a:rPr>
              <a:t>-C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选项单独使用，和解压所需的其它参数分开</a:t>
            </a:r>
            <a:endParaRPr lang="en-US" altLang="zh-CN">
              <a:solidFill>
                <a:srgbClr val="FF0000"/>
              </a:solidFill>
              <a:sym typeface="+mn-ea"/>
            </a:endParaRPr>
          </a:p>
          <a:p>
            <a:pPr>
              <a:buFont typeface="Arial" panose="020B0604020202020204" pitchFamily="34" charset="0"/>
            </a:pPr>
            <a:endParaRPr lang="en-US" altLang="zh-CN">
              <a:solidFill>
                <a:srgbClr val="FF0000"/>
              </a:solidFill>
              <a:sym typeface="+mn-ea"/>
            </a:endParaRPr>
          </a:p>
        </p:txBody>
      </p:sp>
      <p:pic>
        <p:nvPicPr>
          <p:cNvPr id="14" name="图片 13" descr="01 (99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170" y="5368290"/>
            <a:ext cx="1489710" cy="148971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zip </a:t>
            </a:r>
            <a:r>
              <a:t>命令压缩文件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可以使用</a:t>
            </a:r>
            <a:r>
              <a:rPr lang="en-US" altLang="zh-CN"/>
              <a:t>zip</a:t>
            </a:r>
            <a:r>
              <a:rPr lang="zh-CN" altLang="en-US"/>
              <a:t>命令，压缩文件为</a:t>
            </a:r>
            <a:r>
              <a:rPr lang="en-US" altLang="zh-CN"/>
              <a:t>zip</a:t>
            </a:r>
            <a:r>
              <a:rPr lang="zh-CN" altLang="en-US"/>
              <a:t>压缩包</a:t>
            </a:r>
            <a:endParaRPr lang="zh-CN" altLang="en-US"/>
          </a:p>
          <a:p>
            <a:r>
              <a:rPr lang="zh-CN" altLang="en-US"/>
              <a:t>语法：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-r</a:t>
            </a:r>
            <a:r>
              <a:rPr lang="zh-CN" altLang="en-US"/>
              <a:t>，被压缩的包含文件夹的时候，需要使用</a:t>
            </a:r>
            <a:r>
              <a:rPr lang="en-US" altLang="zh-CN"/>
              <a:t>-r</a:t>
            </a:r>
            <a:r>
              <a:rPr lang="zh-CN" altLang="en-US"/>
              <a:t>选项，和</a:t>
            </a:r>
            <a:r>
              <a:rPr lang="en-US" altLang="zh-CN"/>
              <a:t>rm</a:t>
            </a:r>
            <a:r>
              <a:rPr lang="zh-CN" altLang="en-US"/>
              <a:t>、</a:t>
            </a:r>
            <a:r>
              <a:rPr lang="en-US" altLang="zh-CN"/>
              <a:t>cp</a:t>
            </a:r>
            <a:r>
              <a:rPr lang="zh-CN" altLang="en-US"/>
              <a:t>等命令的</a:t>
            </a:r>
            <a:r>
              <a:rPr lang="en-US" altLang="zh-CN"/>
              <a:t>-r</a:t>
            </a:r>
            <a:r>
              <a:rPr lang="zh-CN" altLang="en-US"/>
              <a:t>效果一致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示例：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zip test.zip a.txt b.txt c.txt</a:t>
            </a:r>
            <a:endParaRPr lang="en-US" altLang="zh-CN"/>
          </a:p>
          <a:p>
            <a:pPr>
              <a:buFont typeface="Arial" panose="020B0604020202020204" pitchFamily="34" charset="0"/>
            </a:pPr>
            <a:r>
              <a:rPr lang="zh-CN" altLang="en-US"/>
              <a:t>将</a:t>
            </a:r>
            <a:r>
              <a:rPr lang="en-US" altLang="zh-CN"/>
              <a:t>a.txt b.txt c.txt </a:t>
            </a:r>
            <a:r>
              <a:rPr lang="zh-CN" altLang="en-US"/>
              <a:t>压缩到</a:t>
            </a:r>
            <a:r>
              <a:rPr lang="en-US" altLang="zh-CN"/>
              <a:t>test.zip</a:t>
            </a:r>
            <a:r>
              <a:rPr lang="zh-CN" altLang="en-US"/>
              <a:t>文件内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zip -r test.zip test itheima a.txt</a:t>
            </a:r>
            <a:endParaRPr lang="en-US" altLang="zh-CN"/>
          </a:p>
          <a:p>
            <a:pPr>
              <a:buFont typeface="Arial" panose="020B0604020202020204" pitchFamily="34" charset="0"/>
            </a:pPr>
            <a:r>
              <a:rPr lang="zh-CN" altLang="en-US"/>
              <a:t>将</a:t>
            </a:r>
            <a:r>
              <a:rPr lang="en-US" altLang="zh-CN"/>
              <a:t>test</a:t>
            </a:r>
            <a:r>
              <a:rPr lang="zh-CN" altLang="en-US"/>
              <a:t>、</a:t>
            </a:r>
            <a:r>
              <a:rPr lang="en-US" altLang="zh-CN"/>
              <a:t>itheima</a:t>
            </a:r>
            <a:r>
              <a:rPr lang="zh-CN" altLang="en-US"/>
              <a:t>两个文件夹和</a:t>
            </a:r>
            <a:r>
              <a:rPr lang="en-US" altLang="zh-CN"/>
              <a:t>a.txt</a:t>
            </a:r>
            <a:r>
              <a:rPr lang="zh-CN" altLang="en-US"/>
              <a:t>文件，压缩到</a:t>
            </a:r>
            <a:r>
              <a:rPr lang="en-US" altLang="zh-CN"/>
              <a:t>test.zip</a:t>
            </a:r>
            <a:r>
              <a:rPr lang="zh-CN" altLang="en-US"/>
              <a:t>文件内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7795" y="2199640"/>
            <a:ext cx="2381250" cy="276225"/>
          </a:xfrm>
          <a:prstGeom prst="rect">
            <a:avLst/>
          </a:prstGeom>
        </p:spPr>
      </p:pic>
      <p:pic>
        <p:nvPicPr>
          <p:cNvPr id="5" name="图片 4" descr="01 (108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2975" y="5431790"/>
            <a:ext cx="1180465" cy="1180465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unzip </a:t>
            </a:r>
            <a:r>
              <a:t>命令解压文件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/>
              <a:t>使用</a:t>
            </a:r>
            <a:r>
              <a:rPr lang="en-US" altLang="zh-CN"/>
              <a:t>unzip</a:t>
            </a:r>
            <a:r>
              <a:rPr lang="zh-CN" altLang="en-US"/>
              <a:t>命令，可以方便的解压</a:t>
            </a:r>
            <a:r>
              <a:rPr lang="en-US" altLang="zh-CN"/>
              <a:t>zip</a:t>
            </a:r>
            <a:r>
              <a:rPr lang="zh-CN" altLang="en-US"/>
              <a:t>压缩包</a:t>
            </a:r>
            <a:endParaRPr lang="zh-CN" altLang="en-US"/>
          </a:p>
          <a:p>
            <a:r>
              <a:rPr lang="zh-CN" altLang="en-US"/>
              <a:t>语法：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-d</a:t>
            </a:r>
            <a:r>
              <a:rPr lang="zh-CN" altLang="en-US"/>
              <a:t>，指定要解压去的位置，同</a:t>
            </a:r>
            <a:r>
              <a:rPr lang="en-US" altLang="zh-CN"/>
              <a:t>tar</a:t>
            </a:r>
            <a:r>
              <a:rPr lang="zh-CN" altLang="en-US"/>
              <a:t>的</a:t>
            </a:r>
            <a:r>
              <a:rPr lang="en-US" altLang="zh-CN"/>
              <a:t>-C</a:t>
            </a:r>
            <a:r>
              <a:rPr lang="zh-CN" altLang="en-US"/>
              <a:t>选项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参数，被解压的</a:t>
            </a:r>
            <a:r>
              <a:rPr lang="en-US" altLang="zh-CN"/>
              <a:t>zip</a:t>
            </a:r>
            <a:r>
              <a:rPr lang="zh-CN" altLang="en-US"/>
              <a:t>压缩包文件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示例：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unzip test.zip</a:t>
            </a:r>
            <a:r>
              <a:rPr lang="zh-CN" altLang="en-US"/>
              <a:t>，将</a:t>
            </a:r>
            <a:r>
              <a:rPr lang="en-US" altLang="zh-CN"/>
              <a:t>test.zip</a:t>
            </a:r>
            <a:r>
              <a:rPr lang="zh-CN" altLang="en-US"/>
              <a:t>解压到当前目录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unzip test.zip -d /home/itheima</a:t>
            </a:r>
            <a:r>
              <a:rPr lang="zh-CN" altLang="en-US"/>
              <a:t>，将</a:t>
            </a:r>
            <a:r>
              <a:rPr lang="en-US" altLang="zh-CN"/>
              <a:t>test.zip</a:t>
            </a:r>
            <a:r>
              <a:rPr lang="zh-CN" altLang="en-US"/>
              <a:t>解压到指定文件夹内（</a:t>
            </a:r>
            <a:r>
              <a:rPr lang="en-US" altLang="zh-CN"/>
              <a:t>/home/itheima</a:t>
            </a:r>
            <a:r>
              <a:rPr lang="zh-CN" altLang="en-US"/>
              <a:t>）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9230" y="2212340"/>
            <a:ext cx="1333500" cy="266700"/>
          </a:xfrm>
          <a:prstGeom prst="rect">
            <a:avLst/>
          </a:prstGeom>
        </p:spPr>
      </p:pic>
      <p:pic>
        <p:nvPicPr>
          <p:cNvPr id="7" name="图片 6" descr="01 (10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4705" y="5180965"/>
            <a:ext cx="1433195" cy="1433195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689090" cy="4511040"/>
          </a:xfrm>
        </p:spPr>
        <p:txBody>
          <a:bodyPr/>
          <a:p>
            <a:pPr marL="0" indent="0">
              <a:lnSpc>
                <a:spcPct val="140000"/>
              </a:lnSpc>
              <a:buNone/>
            </a:pPr>
            <a:r>
              <a:rPr lang="en-US" altLang="zh-CN" b="0"/>
              <a:t>1. Linux</a:t>
            </a:r>
            <a:r>
              <a:rPr lang="zh-CN" altLang="en-US" b="0"/>
              <a:t>系统常用的压缩格式有：</a:t>
            </a:r>
            <a:endParaRPr lang="zh-CN" altLang="en-US" b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 b="0"/>
              <a:t>tar</a:t>
            </a:r>
            <a:r>
              <a:rPr lang="zh-CN" altLang="en-US" sz="1400" b="0"/>
              <a:t>格式，归档文件，简单的将文件整合到一个文件内，无压缩效果</a:t>
            </a:r>
            <a:endParaRPr lang="zh-CN" altLang="en-US" sz="1400" b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 b="0"/>
              <a:t>gzip</a:t>
            </a:r>
            <a:r>
              <a:rPr lang="zh-CN" altLang="en-US" sz="1400" b="0"/>
              <a:t>格式，</a:t>
            </a:r>
            <a:r>
              <a:rPr lang="en-US" altLang="zh-CN" sz="1400" b="0"/>
              <a:t>gzip</a:t>
            </a:r>
            <a:r>
              <a:rPr lang="zh-CN" altLang="en-US" sz="1400" b="0"/>
              <a:t>压缩文件，不仅能整合到一个文件，同时有体积压缩效果</a:t>
            </a:r>
            <a:endParaRPr lang="zh-CN" altLang="en-US" sz="1400" b="0"/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0"/>
              <a:t>2. tar</a:t>
            </a:r>
            <a:r>
              <a:rPr lang="zh-CN" altLang="en-US" b="0"/>
              <a:t>命令</a:t>
            </a:r>
            <a:endParaRPr lang="zh-CN" altLang="en-US" b="0"/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1400" b="0"/>
              <a:t>tar [-z -x -v -c -f -C] </a:t>
            </a:r>
            <a:r>
              <a:rPr lang="zh-CN" altLang="en-US" sz="1400" b="0"/>
              <a:t>参数</a:t>
            </a:r>
            <a:r>
              <a:rPr lang="en-US" altLang="zh-CN" sz="1400" b="0"/>
              <a:t>...</a:t>
            </a:r>
            <a:endParaRPr lang="en-US" altLang="zh-CN" sz="1400" b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 b="0"/>
              <a:t>-c</a:t>
            </a:r>
            <a:r>
              <a:rPr lang="zh-CN" altLang="en-US" sz="1400" b="0"/>
              <a:t>，创建压缩文件、</a:t>
            </a:r>
            <a:r>
              <a:rPr lang="en-US" altLang="zh-CN" sz="1400" b="0"/>
              <a:t>-v</a:t>
            </a:r>
            <a:r>
              <a:rPr lang="zh-CN" altLang="en-US" sz="1400" b="0"/>
              <a:t>，查看压缩</a:t>
            </a:r>
            <a:r>
              <a:rPr lang="en-US" altLang="zh-CN" sz="1400" b="0"/>
              <a:t>\</a:t>
            </a:r>
            <a:r>
              <a:rPr lang="zh-CN" altLang="en-US" sz="1400" b="0"/>
              <a:t>解压过程、</a:t>
            </a:r>
            <a:r>
              <a:rPr lang="en-US" altLang="zh-CN" sz="1400" b="0"/>
              <a:t>-x</a:t>
            </a:r>
            <a:r>
              <a:rPr lang="zh-CN" altLang="en-US" sz="1400" b="0"/>
              <a:t>，解压模式</a:t>
            </a:r>
            <a:endParaRPr lang="zh-CN" altLang="en-US" sz="1400" b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 b="0"/>
              <a:t>-f</a:t>
            </a:r>
            <a:r>
              <a:rPr lang="zh-CN" altLang="en-US" sz="1400" b="0"/>
              <a:t>，指定压缩</a:t>
            </a:r>
            <a:r>
              <a:rPr lang="en-US" altLang="zh-CN" sz="1400" b="0"/>
              <a:t>\</a:t>
            </a:r>
            <a:r>
              <a:rPr lang="zh-CN" altLang="en-US" sz="1400" b="0"/>
              <a:t>解压的文件，</a:t>
            </a:r>
            <a:r>
              <a:rPr lang="en-US" altLang="zh-CN" sz="1400" b="0"/>
              <a:t>-z</a:t>
            </a:r>
            <a:r>
              <a:rPr lang="zh-CN" altLang="en-US" sz="1400" b="0"/>
              <a:t>，</a:t>
            </a:r>
            <a:r>
              <a:rPr lang="en-US" altLang="zh-CN" sz="1400" b="0"/>
              <a:t>gzip</a:t>
            </a:r>
            <a:r>
              <a:rPr lang="zh-CN" altLang="en-US" sz="1400" b="0"/>
              <a:t>模式，</a:t>
            </a:r>
            <a:r>
              <a:rPr lang="en-US" altLang="zh-CN" sz="1400" b="0"/>
              <a:t>-C</a:t>
            </a:r>
            <a:r>
              <a:rPr lang="zh-CN" altLang="en-US" sz="1400" b="0"/>
              <a:t>，指定解压的路径</a:t>
            </a:r>
            <a:endParaRPr lang="zh-CN" altLang="en-US" sz="1400" b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 b="0"/>
              <a:t>-z</a:t>
            </a:r>
            <a:r>
              <a:rPr lang="zh-CN" altLang="en-US" sz="1400" b="0"/>
              <a:t>在选项组建议在开头，</a:t>
            </a:r>
            <a:r>
              <a:rPr lang="en-US" altLang="zh-CN" sz="1400" b="0"/>
              <a:t>-f</a:t>
            </a:r>
            <a:r>
              <a:rPr lang="zh-CN" altLang="en-US" sz="1400" b="0"/>
              <a:t>在选项组内必须在尾部，</a:t>
            </a:r>
            <a:r>
              <a:rPr lang="en-US" altLang="zh-CN" sz="1400" b="0"/>
              <a:t>-C</a:t>
            </a:r>
            <a:r>
              <a:rPr lang="zh-CN" altLang="en-US" sz="1400" b="0"/>
              <a:t>单独使用</a:t>
            </a:r>
            <a:endParaRPr lang="zh-CN" altLang="en-US" sz="1400" b="0"/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0"/>
              <a:t>3. zip</a:t>
            </a:r>
            <a:r>
              <a:rPr lang="zh-CN" altLang="en-US" b="0"/>
              <a:t>命令</a:t>
            </a:r>
            <a:endParaRPr lang="zh-CN" altLang="en-US" b="0"/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1400" b="0"/>
              <a:t>zip [-r] </a:t>
            </a:r>
            <a:r>
              <a:rPr lang="zh-CN" altLang="en-US" sz="1400" b="0"/>
              <a:t>参数</a:t>
            </a:r>
            <a:r>
              <a:rPr lang="en-US" altLang="zh-CN" sz="1400" b="0"/>
              <a:t>...</a:t>
            </a:r>
            <a:endParaRPr lang="en-US" altLang="zh-CN" sz="1400" b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 b="0"/>
              <a:t>-r</a:t>
            </a:r>
            <a:r>
              <a:rPr lang="zh-CN" altLang="en-US" sz="1400" b="0"/>
              <a:t>，压缩文件夹使用</a:t>
            </a:r>
            <a:endParaRPr lang="zh-CN" altLang="en-US" sz="1400" b="0"/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b="0"/>
              <a:t>4. unzip</a:t>
            </a:r>
            <a:r>
              <a:rPr lang="zh-CN" altLang="en-US" b="0"/>
              <a:t>命令</a:t>
            </a:r>
            <a:endParaRPr lang="zh-CN" altLang="en-US" b="0"/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sz="1400" b="0"/>
              <a:t>unzip [-d] </a:t>
            </a:r>
            <a:r>
              <a:rPr lang="zh-CN" altLang="en-US" sz="1400" b="0"/>
              <a:t>参数</a:t>
            </a:r>
            <a:endParaRPr lang="zh-CN" altLang="en-US" sz="1400" b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400" b="0"/>
              <a:t>-d</a:t>
            </a:r>
            <a:r>
              <a:rPr lang="zh-CN" altLang="en-US" sz="1400" b="0"/>
              <a:t>，指定解压去的目录</a:t>
            </a:r>
            <a:endParaRPr lang="zh-CN" altLang="en-US" sz="1400" b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044,&quot;width&quot;:4188}"/>
</p:tagLst>
</file>

<file path=ppt/tags/tag2.xml><?xml version="1.0" encoding="utf-8"?>
<p:tagLst xmlns:p="http://schemas.openxmlformats.org/presentationml/2006/main">
  <p:tag name="KSO_WM_UNIT_PLACING_PICTURE_USER_VIEWPORT" val="{&quot;height&quot;:2076,&quot;width&quot;:3624}"/>
</p:tagLst>
</file>

<file path=ppt/tags/tag3.xml><?xml version="1.0" encoding="utf-8"?>
<p:tagLst xmlns:p="http://schemas.openxmlformats.org/presentationml/2006/main">
  <p:tag name="KSO_WM_UNIT_PLACING_PICTURE_USER_VIEWPORT" val="{&quot;height&quot;:3384,&quot;width&quot;:6948}"/>
</p:tagLst>
</file>

<file path=ppt/tags/tag4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5.xml><?xml version="1.0" encoding="utf-8"?>
<p:tagLst xmlns:p="http://schemas.openxmlformats.org/presentationml/2006/main">
  <p:tag name="KSO_WM_UNIT_PLACING_PICTURE_USER_VIEWPORT" val="{&quot;height&quot;:7170,&quot;width&quot;:12300}"/>
</p:tagLst>
</file>

<file path=ppt/tags/tag6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7.xml><?xml version="1.0" encoding="utf-8"?>
<p:tagLst xmlns:p="http://schemas.openxmlformats.org/presentationml/2006/main">
  <p:tag name="COMMONDATA" val="eyJoZGlkIjoiMDAzZmIwZjU2YjM3ZmIyZjYxNWQ1NTViMjdhYzBlM2EifQ=="/>
  <p:tag name="KSO_WPP_MARK_KEY" val="a19b803a-04f7-49ad-a517-4f4615f57881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1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2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2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2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2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2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2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2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2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2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3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3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3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3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3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3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6.xml><?xml version="1.0" encoding="utf-8"?>
<a:theme xmlns:a="http://schemas.openxmlformats.org/drawingml/2006/main" name="3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7.xml><?xml version="1.0" encoding="utf-8"?>
<a:theme xmlns:a="http://schemas.openxmlformats.org/drawingml/2006/main" name="3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8.xml><?xml version="1.0" encoding="utf-8"?>
<a:theme xmlns:a="http://schemas.openxmlformats.org/drawingml/2006/main" name="3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9.xml><?xml version="1.0" encoding="utf-8"?>
<a:theme xmlns:a="http://schemas.openxmlformats.org/drawingml/2006/main" name="3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0.xml><?xml version="1.0" encoding="utf-8"?>
<a:theme xmlns:a="http://schemas.openxmlformats.org/drawingml/2006/main" name="4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1.xml><?xml version="1.0" encoding="utf-8"?>
<a:theme xmlns:a="http://schemas.openxmlformats.org/drawingml/2006/main" name="4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2.xml><?xml version="1.0" encoding="utf-8"?>
<a:theme xmlns:a="http://schemas.openxmlformats.org/drawingml/2006/main" name="4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3.xml><?xml version="1.0" encoding="utf-8"?>
<a:theme xmlns:a="http://schemas.openxmlformats.org/drawingml/2006/main" name="4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4.xml><?xml version="1.0" encoding="utf-8"?>
<a:theme xmlns:a="http://schemas.openxmlformats.org/drawingml/2006/main" name="4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5.xml><?xml version="1.0" encoding="utf-8"?>
<a:theme xmlns:a="http://schemas.openxmlformats.org/drawingml/2006/main" name="4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6.xml><?xml version="1.0" encoding="utf-8"?>
<a:theme xmlns:a="http://schemas.openxmlformats.org/drawingml/2006/main" name="4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7.xml><?xml version="1.0" encoding="utf-8"?>
<a:theme xmlns:a="http://schemas.openxmlformats.org/drawingml/2006/main" name="4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8.xml><?xml version="1.0" encoding="utf-8"?>
<a:theme xmlns:a="http://schemas.openxmlformats.org/drawingml/2006/main" name="4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9.xml><?xml version="1.0" encoding="utf-8"?>
<a:theme xmlns:a="http://schemas.openxmlformats.org/drawingml/2006/main" name="4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0.xml><?xml version="1.0" encoding="utf-8"?>
<a:theme xmlns:a="http://schemas.openxmlformats.org/drawingml/2006/main" name="5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1.xml><?xml version="1.0" encoding="utf-8"?>
<a:theme xmlns:a="http://schemas.openxmlformats.org/drawingml/2006/main" name="5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2.xml><?xml version="1.0" encoding="utf-8"?>
<a:theme xmlns:a="http://schemas.openxmlformats.org/drawingml/2006/main" name="5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3.xml><?xml version="1.0" encoding="utf-8"?>
<a:theme xmlns:a="http://schemas.openxmlformats.org/drawingml/2006/main" name="5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4.xml><?xml version="1.0" encoding="utf-8"?>
<a:theme xmlns:a="http://schemas.openxmlformats.org/drawingml/2006/main" name="5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5.xml><?xml version="1.0" encoding="utf-8"?>
<a:theme xmlns:a="http://schemas.openxmlformats.org/drawingml/2006/main" name="5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6.xml><?xml version="1.0" encoding="utf-8"?>
<a:theme xmlns:a="http://schemas.openxmlformats.org/drawingml/2006/main" name="5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7.xml><?xml version="1.0" encoding="utf-8"?>
<a:theme xmlns:a="http://schemas.openxmlformats.org/drawingml/2006/main" name="5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8.xml><?xml version="1.0" encoding="utf-8"?>
<a:theme xmlns:a="http://schemas.openxmlformats.org/drawingml/2006/main" name="5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9.xml><?xml version="1.0" encoding="utf-8"?>
<a:theme xmlns:a="http://schemas.openxmlformats.org/drawingml/2006/main" name="5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0.xml><?xml version="1.0" encoding="utf-8"?>
<a:theme xmlns:a="http://schemas.openxmlformats.org/drawingml/2006/main" name="6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1.xml><?xml version="1.0" encoding="utf-8"?>
<a:theme xmlns:a="http://schemas.openxmlformats.org/drawingml/2006/main" name="6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2.xml><?xml version="1.0" encoding="utf-8"?>
<a:theme xmlns:a="http://schemas.openxmlformats.org/drawingml/2006/main" name="6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3.xml><?xml version="1.0" encoding="utf-8"?>
<a:theme xmlns:a="http://schemas.openxmlformats.org/drawingml/2006/main" name="6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4.xml><?xml version="1.0" encoding="utf-8"?>
<a:theme xmlns:a="http://schemas.openxmlformats.org/drawingml/2006/main" name="6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5.xml><?xml version="1.0" encoding="utf-8"?>
<a:theme xmlns:a="http://schemas.openxmlformats.org/drawingml/2006/main" name="6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15931</Words>
  <Application>WPS 演示</Application>
  <PresentationFormat>宽屏</PresentationFormat>
  <Paragraphs>1245</Paragraphs>
  <Slides>112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75</vt:i4>
      </vt:variant>
      <vt:variant>
        <vt:lpstr>幻灯片标题</vt:lpstr>
      </vt:variant>
      <vt:variant>
        <vt:i4>112</vt:i4>
      </vt:variant>
    </vt:vector>
  </HeadingPairs>
  <TitlesOfParts>
    <vt:vector size="205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Alibaba PuHuiTi M</vt:lpstr>
      <vt:lpstr>Segoe UI Light</vt:lpstr>
      <vt:lpstr>微软雅黑 Light</vt:lpstr>
      <vt:lpstr>华文楷体</vt:lpstr>
      <vt:lpstr>纤黑体</vt:lpstr>
      <vt:lpstr>Arial Unicode MS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2_学习目标</vt:lpstr>
      <vt:lpstr>3_学习目标</vt:lpstr>
      <vt:lpstr>4_学习目标</vt:lpstr>
      <vt:lpstr>5_学习目标</vt:lpstr>
      <vt:lpstr>6_学习目标</vt:lpstr>
      <vt:lpstr>7_学习目标</vt:lpstr>
      <vt:lpstr>1_正文设计方案</vt:lpstr>
      <vt:lpstr>8_学习目标</vt:lpstr>
      <vt:lpstr>9_学习目标</vt:lpstr>
      <vt:lpstr>10_学习目标</vt:lpstr>
      <vt:lpstr>2_正文设计方案</vt:lpstr>
      <vt:lpstr>11_学习目标</vt:lpstr>
      <vt:lpstr>12_学习目标</vt:lpstr>
      <vt:lpstr>13_学习目标</vt:lpstr>
      <vt:lpstr>14_学习目标</vt:lpstr>
      <vt:lpstr>15_学习目标</vt:lpstr>
      <vt:lpstr>3_正文设计方案</vt:lpstr>
      <vt:lpstr>16_学习目标</vt:lpstr>
      <vt:lpstr>17_学习目标</vt:lpstr>
      <vt:lpstr>18_学习目标</vt:lpstr>
      <vt:lpstr>19_学习目标</vt:lpstr>
      <vt:lpstr>20_学习目标</vt:lpstr>
      <vt:lpstr>21_学习目标</vt:lpstr>
      <vt:lpstr>22_学习目标</vt:lpstr>
      <vt:lpstr>23_学习目标</vt:lpstr>
      <vt:lpstr>24_学习目标</vt:lpstr>
      <vt:lpstr>25_学习目标</vt:lpstr>
      <vt:lpstr>26_学习目标</vt:lpstr>
      <vt:lpstr>27_学习目标</vt:lpstr>
      <vt:lpstr>28_学习目标</vt:lpstr>
      <vt:lpstr>29_学习目标</vt:lpstr>
      <vt:lpstr>30_学习目标</vt:lpstr>
      <vt:lpstr>31_学习目标</vt:lpstr>
      <vt:lpstr>32_学习目标</vt:lpstr>
      <vt:lpstr>33_学习目标</vt:lpstr>
      <vt:lpstr>34_学习目标</vt:lpstr>
      <vt:lpstr>35_学习目标</vt:lpstr>
      <vt:lpstr>36_学习目标</vt:lpstr>
      <vt:lpstr>37_学习目标</vt:lpstr>
      <vt:lpstr>38_学习目标</vt:lpstr>
      <vt:lpstr>39_学习目标</vt:lpstr>
      <vt:lpstr>40_学习目标</vt:lpstr>
      <vt:lpstr>41_学习目标</vt:lpstr>
      <vt:lpstr>42_学习目标</vt:lpstr>
      <vt:lpstr>43_学习目标</vt:lpstr>
      <vt:lpstr>44_学习目标</vt:lpstr>
      <vt:lpstr>45_学习目标</vt:lpstr>
      <vt:lpstr>46_学习目标</vt:lpstr>
      <vt:lpstr>47_学习目标</vt:lpstr>
      <vt:lpstr>48_学习目标</vt:lpstr>
      <vt:lpstr>49_学习目标</vt:lpstr>
      <vt:lpstr>50_学习目标</vt:lpstr>
      <vt:lpstr>51_学习目标</vt:lpstr>
      <vt:lpstr>52_学习目标</vt:lpstr>
      <vt:lpstr>53_学习目标</vt:lpstr>
      <vt:lpstr>54_学习目标</vt:lpstr>
      <vt:lpstr>55_学习目标</vt:lpstr>
      <vt:lpstr>56_学习目标</vt:lpstr>
      <vt:lpstr>57_学习目标</vt:lpstr>
      <vt:lpstr>58_学习目标</vt:lpstr>
      <vt:lpstr>59_学习目标</vt:lpstr>
      <vt:lpstr>60_学习目标</vt:lpstr>
      <vt:lpstr>61_学习目标</vt:lpstr>
      <vt:lpstr>62_学习目标</vt:lpstr>
      <vt:lpstr>63_学习目标</vt:lpstr>
      <vt:lpstr>64_学习目标</vt:lpstr>
      <vt:lpstr>65_学习目标</vt:lpstr>
      <vt:lpstr>Linux实用操作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OS</cp:lastModifiedBy>
  <cp:revision>2383</cp:revision>
  <dcterms:created xsi:type="dcterms:W3CDTF">2022-10-17T11:09:00Z</dcterms:created>
  <dcterms:modified xsi:type="dcterms:W3CDTF">2022-10-23T02:39:02Z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8F3BE0D789E24AA8A6562930946781AC</vt:lpwstr>
  </property>
  <property fmtid="{D5CDD505-2E9C-101B-9397-08002B2CF9AE}" pid="3" name="KSOProductBuildVer">
    <vt:lpwstr>2052-11.1.0.12598</vt:lpwstr>
  </property>
  <property fmtid="{D5CDD505-2E9C-101B-9397-08002B2CF9AE}" pid="4" name="commondata">
    <vt:lpwstr>eyJoZGlkIjoiMDAzZmIwZjU2YjM3ZmIyZjYxNWQ1NTViMjdhYzBlM2EifQ==</vt:lpwstr>
  </property>
</Properties>
</file>